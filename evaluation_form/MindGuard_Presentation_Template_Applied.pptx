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5"/>
  </p:notesMasterIdLst>
  <p:sldIdLst>
    <p:sldId id="505" r:id="rId3"/>
    <p:sldId id="509" r:id="rId4"/>
    <p:sldId id="573" r:id="rId6"/>
    <p:sldId id="561" r:id="rId7"/>
    <p:sldId id="563" r:id="rId8"/>
    <p:sldId id="562" r:id="rId9"/>
    <p:sldId id="585" r:id="rId10"/>
    <p:sldId id="584" r:id="rId11"/>
    <p:sldId id="564" r:id="rId12"/>
    <p:sldId id="566" r:id="rId13"/>
    <p:sldId id="559" r:id="rId14"/>
    <p:sldId id="560" r:id="rId15"/>
    <p:sldId id="580" r:id="rId16"/>
    <p:sldId id="581" r:id="rId17"/>
    <p:sldId id="567" r:id="rId18"/>
    <p:sldId id="568" r:id="rId19"/>
    <p:sldId id="569" r:id="rId20"/>
    <p:sldId id="570" r:id="rId21"/>
    <p:sldId id="571" r:id="rId22"/>
    <p:sldId id="572" r:id="rId23"/>
    <p:sldId id="574" r:id="rId24"/>
    <p:sldId id="576" r:id="rId25"/>
    <p:sldId id="577" r:id="rId26"/>
    <p:sldId id="575" r:id="rId27"/>
    <p:sldId id="578" r:id="rId28"/>
    <p:sldId id="582" r:id="rId29"/>
    <p:sldId id="281" r:id="rId30"/>
    <p:sldId id="586" r:id="rId34"/>
    <p:sldId id="587" r:id="rId35"/>
    <p:sldId id="588" r:id="rId36"/>
    <p:sldId id="589" r:id="rId37"/>
    <p:sldId id="590" r:id="rId38"/>
    <p:sldId id="591" r:id="rId39"/>
    <p:sldId id="592" r:id="rId40"/>
    <p:sldId id="593" r:id="rId41"/>
    <p:sldId id="594" r:id="rId42"/>
    <p:sldId id="595" r:id="rId43"/>
    <p:sldId id="596" r:id="rId44"/>
    <p:sldId id="597" r:id="rId45"/>
    <p:sldId id="598" r:id="rId46"/>
    <p:sldId id="599" r:id="rId47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61B0B"/>
    <a:srgbClr val="800080"/>
    <a:srgbClr val="460046"/>
    <a:srgbClr val="140A0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0824" autoAdjust="0"/>
  </p:normalViewPr>
  <p:slideViewPr>
    <p:cSldViewPr showGuides="1">
      <p:cViewPr varScale="1">
        <p:scale>
          <a:sx n="81" d="100"/>
          <a:sy n="81" d="100"/>
        </p:scale>
        <p:origin x="152" y="72"/>
      </p:cViewPr>
      <p:guideLst>
        <p:guide orient="horz" pos="1620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88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7" rIns="93172" bIns="46587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7" rIns="93172" bIns="46587" rtlCol="0"/>
          <a:lstStyle>
            <a:lvl1pPr algn="r">
              <a:defRPr sz="1200"/>
            </a:lvl1pPr>
          </a:lstStyle>
          <a:p>
            <a:fld id="{7F34A9D9-07E7-40B1-82C0-35D5A1851A6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7" rIns="93172" bIns="46587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7" rIns="93172" bIns="46587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7" rIns="93172" bIns="46587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7" rIns="93172" bIns="46587" rtlCol="0" anchor="b"/>
          <a:lstStyle>
            <a:lvl1pPr algn="r">
              <a:defRPr sz="1200"/>
            </a:lvl1pPr>
          </a:lstStyle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E19A0-EDAB-41BF-AF21-EA681AC67A65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 r="927" b="24157"/>
          <a:stretch>
            <a:fillRect/>
          </a:stretch>
        </p:blipFill>
        <p:spPr bwMode="auto">
          <a:xfrm>
            <a:off x="-8324" y="-20537"/>
            <a:ext cx="9152327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2571755"/>
            <a:ext cx="7772400" cy="1102519"/>
          </a:xfrm>
          <a:solidFill>
            <a:srgbClr val="FFFFFF">
              <a:alpha val="52157"/>
            </a:srgbClr>
          </a:solidFill>
        </p:spPr>
        <p:txBody>
          <a:bodyPr>
            <a:normAutofit/>
          </a:bodyPr>
          <a:lstStyle>
            <a:lvl1pPr>
              <a:defRPr sz="4000" b="1">
                <a:solidFill>
                  <a:srgbClr val="460046"/>
                </a:solidFill>
                <a:latin typeface="Merriweather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27971"/>
            <a:ext cx="6400800" cy="738386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460046"/>
                </a:solidFill>
                <a:latin typeface="Merriweather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Oval 5"/>
          <p:cNvSpPr/>
          <p:nvPr userDrawn="1"/>
        </p:nvSpPr>
        <p:spPr>
          <a:xfrm>
            <a:off x="3779913" y="843558"/>
            <a:ext cx="1295339" cy="129533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dirty="0"/>
          </a:p>
        </p:txBody>
      </p:sp>
      <p:pic>
        <p:nvPicPr>
          <p:cNvPr id="7" name="Picture 2" descr="CU 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462" y="1060538"/>
            <a:ext cx="816244" cy="86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pattFill prst="pct5">
          <a:fgClr>
            <a:srgbClr val="46004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6" t="4858" r="15799" b="9187"/>
          <a:stretch>
            <a:fillRect/>
          </a:stretch>
        </p:blipFill>
        <p:spPr bwMode="auto">
          <a:xfrm>
            <a:off x="-1" y="486238"/>
            <a:ext cx="9144002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35851"/>
            <a:ext cx="7772400" cy="1102519"/>
          </a:xfrm>
          <a:solidFill>
            <a:srgbClr val="FFFFFF">
              <a:alpha val="52157"/>
            </a:srgbClr>
          </a:solidFill>
        </p:spPr>
        <p:txBody>
          <a:bodyPr>
            <a:normAutofit/>
          </a:bodyPr>
          <a:lstStyle>
            <a:lvl1pPr>
              <a:defRPr sz="4000" b="1">
                <a:solidFill>
                  <a:srgbClr val="460046"/>
                </a:solidFill>
                <a:latin typeface="Merriweather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3707906" y="605140"/>
            <a:ext cx="1295339" cy="1295339"/>
            <a:chOff x="4187484" y="305631"/>
            <a:chExt cx="3280116" cy="3280116"/>
          </a:xfrm>
        </p:grpSpPr>
        <p:sp>
          <p:nvSpPr>
            <p:cNvPr id="5" name="Oval 4"/>
            <p:cNvSpPr/>
            <p:nvPr userDrawn="1"/>
          </p:nvSpPr>
          <p:spPr>
            <a:xfrm>
              <a:off x="4187484" y="305631"/>
              <a:ext cx="3280116" cy="3280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 dirty="0"/>
            </a:p>
          </p:txBody>
        </p:sp>
        <p:pic>
          <p:nvPicPr>
            <p:cNvPr id="6" name="Picture 2" descr="CU Logo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4080" y="855077"/>
              <a:ext cx="2066925" cy="2181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t="69231" r="342" b="17546"/>
          <a:stretch>
            <a:fillRect/>
          </a:stretch>
        </p:blipFill>
        <p:spPr bwMode="auto">
          <a:xfrm>
            <a:off x="-5468" y="4681182"/>
            <a:ext cx="9152327" cy="48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1" y="205979"/>
            <a:ext cx="8136905" cy="85725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460046"/>
                </a:solidFill>
                <a:latin typeface="Merriweather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00151"/>
            <a:ext cx="8640960" cy="3394472"/>
          </a:xfrm>
        </p:spPr>
        <p:txBody>
          <a:bodyPr anchor="ctr">
            <a:normAutofit/>
          </a:bodyPr>
          <a:lstStyle>
            <a:lvl1pPr marL="342900" indent="-34290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742950" indent="-28575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>
                <a:solidFill>
                  <a:srgbClr val="46004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>
                <a:solidFill>
                  <a:srgbClr val="161B0B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lnSpc>
                <a:spcPct val="114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" t="25565" r="1018" b="67823"/>
          <a:stretch>
            <a:fillRect/>
          </a:stretch>
        </p:blipFill>
        <p:spPr bwMode="auto">
          <a:xfrm>
            <a:off x="-8325" y="-121718"/>
            <a:ext cx="9152327" cy="2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-8325" y="1059582"/>
            <a:ext cx="4004263" cy="0"/>
          </a:xfrm>
          <a:prstGeom prst="line">
            <a:avLst/>
          </a:prstGeom>
          <a:ln>
            <a:solidFill>
              <a:srgbClr val="46004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727" y="202782"/>
            <a:ext cx="576064" cy="856800"/>
          </a:xfrm>
          <a:solidFill>
            <a:srgbClr val="140A0F"/>
          </a:solidFill>
        </p:spPr>
        <p:txBody>
          <a:bodyPr anchor="t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t="69231" r="342" b="17546"/>
          <a:stretch>
            <a:fillRect/>
          </a:stretch>
        </p:blipFill>
        <p:spPr bwMode="auto">
          <a:xfrm>
            <a:off x="-5468" y="4681182"/>
            <a:ext cx="9152327" cy="48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136905" cy="85725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460046"/>
                </a:solidFill>
                <a:latin typeface="Merriweather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00151"/>
            <a:ext cx="8640960" cy="3394472"/>
          </a:xfrm>
        </p:spPr>
        <p:txBody>
          <a:bodyPr anchor="ctr">
            <a:normAutofit/>
          </a:bodyPr>
          <a:lstStyle>
            <a:lvl1pPr marL="342900" indent="-34290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742950" indent="-28575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>
                <a:solidFill>
                  <a:srgbClr val="460046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lnSpc>
                <a:spcPct val="114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>
                <a:solidFill>
                  <a:srgbClr val="161B0B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lnSpc>
                <a:spcPct val="114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727" y="4660149"/>
            <a:ext cx="576064" cy="482857"/>
          </a:xfrm>
          <a:solidFill>
            <a:srgbClr val="140A0F"/>
          </a:solidFill>
        </p:spPr>
        <p:txBody>
          <a:bodyPr anchor="t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B310DB28-467B-42AB-AF30-926E64120C57}" type="slidenum">
              <a:rPr lang="en-GB" smtClean="0"/>
            </a:fld>
            <a:endParaRPr lang="en-GB" dirty="0"/>
          </a:p>
        </p:txBody>
      </p:sp>
      <p:pic>
        <p:nvPicPr>
          <p:cNvPr id="9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" t="25565" r="1018" b="67823"/>
          <a:stretch>
            <a:fillRect/>
          </a:stretch>
        </p:blipFill>
        <p:spPr bwMode="auto">
          <a:xfrm>
            <a:off x="-8325" y="-121718"/>
            <a:ext cx="9152327" cy="2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2569872" y="1059582"/>
            <a:ext cx="4004263" cy="0"/>
          </a:xfrm>
          <a:prstGeom prst="line">
            <a:avLst/>
          </a:prstGeom>
          <a:ln>
            <a:solidFill>
              <a:srgbClr val="46004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" t="25565" r="1018" b="67823"/>
          <a:stretch>
            <a:fillRect/>
          </a:stretch>
        </p:blipFill>
        <p:spPr bwMode="auto">
          <a:xfrm>
            <a:off x="-8325" y="-121718"/>
            <a:ext cx="9152327" cy="2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0432" y="4587978"/>
            <a:ext cx="576064" cy="539275"/>
          </a:xfrm>
          <a:solidFill>
            <a:srgbClr val="460046"/>
          </a:solidFill>
        </p:spPr>
        <p:txBody>
          <a:bodyPr anchor="b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1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1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t="69231" r="342" b="17546"/>
          <a:stretch>
            <a:fillRect/>
          </a:stretch>
        </p:blipFill>
        <p:spPr bwMode="auto">
          <a:xfrm>
            <a:off x="-5468" y="4681182"/>
            <a:ext cx="9152327" cy="48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5"/>
          <p:cNvSpPr txBox="1"/>
          <p:nvPr userDrawn="1"/>
        </p:nvSpPr>
        <p:spPr>
          <a:xfrm>
            <a:off x="8532727" y="4286202"/>
            <a:ext cx="576064" cy="856800"/>
          </a:xfrm>
          <a:prstGeom prst="rect">
            <a:avLst/>
          </a:prstGeom>
          <a:solidFill>
            <a:srgbClr val="140A0F"/>
          </a:solidFill>
        </p:spPr>
        <p:txBody>
          <a:bodyPr vert="horz" lIns="91440" tIns="45721" rIns="91440" bIns="45721" rtlCol="0" anchor="t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310DB28-467B-42AB-AF30-926E64120C57}" type="slidenum">
              <a:rPr lang="en-GB" sz="1800" smtClean="0"/>
            </a:fld>
            <a:endParaRPr lang="en-GB" sz="1800" dirty="0"/>
          </a:p>
        </p:txBody>
      </p:sp>
      <p:pic>
        <p:nvPicPr>
          <p:cNvPr id="12" name="Picture 4" descr="Related image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" t="25565" r="1018" b="67823"/>
          <a:stretch>
            <a:fillRect/>
          </a:stretch>
        </p:blipFill>
        <p:spPr bwMode="auto">
          <a:xfrm>
            <a:off x="-8325" y="-121718"/>
            <a:ext cx="9152327" cy="24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515" y="1151335"/>
            <a:ext cx="4317876" cy="479822"/>
          </a:xfrm>
          <a:solidFill>
            <a:schemeClr val="bg1">
              <a:lumMod val="95000"/>
            </a:schemeClr>
          </a:solidFill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rgbClr val="C00000"/>
                </a:solidFill>
                <a:latin typeface="Merriweather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515" y="1631156"/>
            <a:ext cx="4317876" cy="2963466"/>
          </a:xfr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6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317876" cy="479822"/>
          </a:xfrm>
          <a:solidFill>
            <a:schemeClr val="bg1">
              <a:lumMod val="95000"/>
            </a:schemeClr>
          </a:solidFill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rgbClr val="C00000"/>
                </a:solidFill>
                <a:latin typeface="Merriweather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317876" cy="2963466"/>
          </a:xfr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60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6692" y="205979"/>
            <a:ext cx="8136905" cy="85725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460046"/>
                </a:solidFill>
                <a:latin typeface="Merriweather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4572000" y="1151336"/>
            <a:ext cx="0" cy="34432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14008" y="2787650"/>
            <a:ext cx="8581390" cy="1102360"/>
          </a:xfrm>
        </p:spPr>
        <p:txBody>
          <a:bodyPr/>
          <a:p>
            <a:r>
              <a:rPr lang="en-US" altLang="en-US" sz="32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CYB 225: CYB225 Digital Forsensics and Investigation Methods</a:t>
            </a:r>
            <a:endParaRPr lang="en-US" altLang="en-US" sz="3200">
              <a:latin typeface="Bahnschrift SemiBold" panose="020B0502040204020203" charset="0"/>
              <a:cs typeface="Bahnschrift SemiBold" panose="020B0502040204020203" charset="0"/>
              <a:sym typeface="+mn-ea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336550" y="4083685"/>
            <a:ext cx="8536305" cy="615315"/>
          </a:xfrm>
        </p:spPr>
        <p:txBody>
          <a:bodyPr>
            <a:noAutofit/>
          </a:bodyPr>
          <a:p>
            <a:r>
              <a:rPr lang="en-US" altLang="en-US" sz="2800"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Lecture 1: Foundations of Digital Forensics</a:t>
            </a:r>
            <a:endParaRPr lang="en-US" altLang="en-US" sz="28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767580"/>
            <a:ext cx="2133600" cy="273685"/>
          </a:xfrm>
        </p:spPr>
        <p:txBody>
          <a:bodyPr/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Learning Objectives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4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By the end of this lesson, students should be able to: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Define digital forensics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Explain the roles of a digital forensic investigators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Explain and identify digital evidence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Explain the concept of volatilty of digital evidence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Outline the Scope of Digital Forensics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Discuss the Importance of Digital Forensics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What is Digital Forensics?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Think of a digital forensics investigator as a crime scene detective, but instead of fingerprints and footprints, they look for emails, deleted files, browsing history, and hidden metadata.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Digital Forensics is the science of identifying, preserving, analysing, and presenting digital evidence in a manner that is legally acceptable in courts of law. Four key elements:</a:t>
            </a:r>
            <a:endParaRPr lang="en-US" altLang="en-US" sz="2400" dirty="0">
              <a:sym typeface="+mn-ea"/>
            </a:endParaRPr>
          </a:p>
          <a:p>
            <a:pPr marL="457200" lvl="1" indent="457200" algn="l">
              <a:lnSpc>
                <a:spcPct val="140000"/>
              </a:lnSpc>
              <a:buFont typeface="Arial" panose="020B0604020202020204" pitchFamily="34" charset="0"/>
            </a:pPr>
            <a:r>
              <a:rPr lang="en-US" altLang="en-US" sz="2400" b="1" dirty="0">
                <a:sym typeface="+mn-ea"/>
              </a:rPr>
              <a:t>IDENTIFY → PRESERVE → ANALYSE → PRESENT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sym typeface="+mn-ea"/>
              </a:rPr>
              <a:t>Every step matters. Skip one and the case can fall apart in court.</a:t>
            </a: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Who is a Digital Forensic Investigator?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Evidence Collection:</a:t>
            </a:r>
            <a:r>
              <a:rPr lang="en-US" altLang="en-US" sz="2400" dirty="0">
                <a:sym typeface="+mn-ea"/>
              </a:rPr>
              <a:t> Secure and photograph devices before touching. Isolate from networks immediately.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Forensic Imaging:</a:t>
            </a:r>
            <a:r>
              <a:rPr lang="en-US" altLang="en-US" sz="2400" dirty="0">
                <a:sym typeface="+mn-ea"/>
              </a:rPr>
              <a:t> Create exact bit-for-bit copies. NEVER work on the original evidence.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Analysis and Recovery:</a:t>
            </a:r>
            <a:r>
              <a:rPr lang="en-US" altLang="en-US" sz="2400" dirty="0">
                <a:sym typeface="+mn-ea"/>
              </a:rPr>
              <a:t> Use specialist software to find, recover, and interpret digital evidence.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Report and Testify:</a:t>
            </a:r>
            <a:r>
              <a:rPr lang="en-US" altLang="en-US" sz="2400" dirty="0">
                <a:sym typeface="+mn-ea"/>
              </a:rPr>
              <a:t> Document every step. Write clear reports. Explain findings in court as expert witness.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What is Digital Evidence?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Digital Evidence is any information stored or transmitted in digital form that can be used in court.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The Golden Rule: "</a:t>
            </a:r>
            <a:r>
              <a:rPr lang="en-US" altLang="en-US" sz="2400" b="1" i="1" dirty="0">
                <a:sym typeface="+mn-ea"/>
              </a:rPr>
              <a:t>Never work on the original evidence</a:t>
            </a:r>
            <a:r>
              <a:rPr lang="en-US" altLang="en-US" sz="2400" dirty="0">
                <a:sym typeface="+mn-ea"/>
              </a:rPr>
              <a:t>."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The 5 Types of Digital Evidence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Active Data:</a:t>
            </a:r>
            <a:r>
              <a:rPr lang="en-US" altLang="en-US" sz="2400" dirty="0">
                <a:sym typeface="+mn-ea"/>
              </a:rPr>
              <a:t> Visible, accessible files such as documents, photos, emails you can see and open immediately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Archival Data:</a:t>
            </a:r>
            <a:r>
              <a:rPr lang="en-US" altLang="en-US" sz="2400" dirty="0">
                <a:sym typeface="+mn-ea"/>
              </a:rPr>
              <a:t> Backup files, server archives, stored away but still accessible with the right tools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Hidden Data:</a:t>
            </a:r>
            <a:r>
              <a:rPr lang="en-US" altLang="en-US" sz="2400" dirty="0">
                <a:sym typeface="+mn-ea"/>
              </a:rPr>
              <a:t> Encrypted files, steganography, deliberately concealed; needs specialist techniques to find.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Metadata:</a:t>
            </a:r>
            <a:r>
              <a:rPr lang="en-US" altLang="en-US" sz="2400" dirty="0">
                <a:sym typeface="+mn-ea"/>
              </a:rPr>
              <a:t> Data about data, timestamps, GPS coordinates, author names embedded invisibly in every file.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The 5 Types of Digital Evidence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40000"/>
              </a:lnSpc>
              <a:buFont typeface="+mj-lt"/>
              <a:buAutoNum type="arabicPeriod" startAt="5"/>
            </a:pPr>
            <a:r>
              <a:rPr lang="en-US" altLang="en-US" sz="2400" b="1" dirty="0">
                <a:sym typeface="+mn-ea"/>
              </a:rPr>
              <a:t>Volatile Data:</a:t>
            </a:r>
            <a:r>
              <a:rPr lang="en-US" altLang="en-US" sz="2400" dirty="0">
                <a:sym typeface="+mn-ea"/>
              </a:rPr>
              <a:t> RAM contents, running processes, open connections. Disappears when power is cut. Capture FIRST!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Examples of Digital Evidence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Digital evidence includes any data stored or transmitted digitally: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1. Emails and messages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2. Documents and files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3. System logs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4. Images and videos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  <p:sp>
        <p:nvSpPr>
          <p:cNvPr id="4" name="Title 2"/>
          <p:cNvSpPr>
            <a:spLocks noGrp="1"/>
          </p:cNvSpPr>
          <p:nvPr/>
        </p:nvSpPr>
        <p:spPr>
          <a:xfrm>
            <a:off x="4912360" y="2427605"/>
            <a:ext cx="4100830" cy="199834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5. Browser history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6. Mobile phone data</a:t>
            </a:r>
            <a:endParaRPr lang="en-US" altLang="en-US" sz="24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Volatility and Digital Evidence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800" b="1" dirty="0">
                <a:sym typeface="+mn-ea"/>
              </a:rPr>
              <a:t>Concept of Volatility</a:t>
            </a:r>
            <a:endParaRPr lang="en-US" altLang="en-US" sz="2800" b="1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Volatile data: Data that is lost quickly, often when the system is powered down or altered.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Non-volatile data: Data that persists after power loss, such as files on a hard drive or backups.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Volatility is crucial because forensic investigators must capture the most fleeting evidence first to avoid losing it.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Volatility and Digital Evidence - 2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800" b="1" dirty="0">
                <a:sym typeface="+mn-ea"/>
              </a:rPr>
              <a:t>Why Volatility Matters</a:t>
            </a:r>
            <a:endParaRPr lang="en-US" altLang="en-US" sz="10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Determines order of evidence collection.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Guides use of tools and techniques (e.g., live memory acquisition vs. disk imaging).</a:t>
            </a:r>
            <a:endParaRPr lang="en-US" altLang="en-US" sz="2400" dirty="0"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Helps in courtroom explanations, showing why certain evidence was prioritized.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Scope of Digital Forensics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Digital forensics is used in many areas, including: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Cybercrime investigations (e.g., hacking, fraud)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Law enforcement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Corporate investigations (e.g., insider threats)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National security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Incident response</a:t>
            </a: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Importance of Digital Forensics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Digital forensics is important because it: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Helps solve cybercrimes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Provides legal evidence in court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Assists organizations in preventing future attacks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Helps recover lost or deleted data.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Supports incident response and security improvement</a:t>
            </a: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Key Terms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Digital Forensics:</a:t>
            </a:r>
            <a:r>
              <a:rPr lang="en-US" altLang="en-US" sz="2400" dirty="0">
                <a:sym typeface="+mn-ea"/>
              </a:rPr>
              <a:t> The science of finding, preserving, analysing, presenting digital evidence legally.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Metadata:</a:t>
            </a:r>
            <a:r>
              <a:rPr lang="en-US" altLang="en-US" sz="2400" dirty="0">
                <a:sym typeface="+mn-ea"/>
              </a:rPr>
              <a:t> This is data about data. It is a hidden embedded data that tells you details about a file, message or activity. 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b="1" dirty="0">
                <a:sym typeface="+mn-ea"/>
              </a:rPr>
              <a:t>Volatile Data:</a:t>
            </a:r>
            <a:r>
              <a:rPr lang="en-US" altLang="en-US" sz="2400" dirty="0">
                <a:sym typeface="+mn-ea"/>
              </a:rPr>
              <a:t> A temporary data that exists only while a device is powered on, it disappears when the system is turned off or the battery dies. </a:t>
            </a:r>
            <a:r>
              <a:rPr lang="en-US" altLang="en-US" sz="2400" b="1" i="1" dirty="0">
                <a:sym typeface="+mn-ea"/>
              </a:rPr>
              <a:t>CAPTURE FIRST</a:t>
            </a:r>
            <a:r>
              <a:rPr lang="en-US" altLang="en-US" sz="2400" dirty="0">
                <a:sym typeface="+mn-ea"/>
              </a:rPr>
              <a:t>. Examples: </a:t>
            </a:r>
            <a:r>
              <a:rPr lang="en-US" altLang="en-US" sz="2400" dirty="0">
                <a:sym typeface="+mn-ea"/>
              </a:rPr>
              <a:t>Data stored in RAM (memory), currently running applications, clipboard contents (copied text), active network connections, etc.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Key Terms - 2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20000"/>
              </a:lnSpc>
              <a:buFont typeface="+mj-lt"/>
              <a:buAutoNum type="arabicPeriod" startAt="4"/>
            </a:pPr>
            <a:r>
              <a:rPr lang="en-US" altLang="en-US" sz="2400" b="1" dirty="0">
                <a:sym typeface="+mn-ea"/>
              </a:rPr>
              <a:t>Steganography:</a:t>
            </a:r>
            <a:r>
              <a:rPr lang="en-US" altLang="en-US" sz="2400" dirty="0">
                <a:sym typeface="+mn-ea"/>
              </a:rPr>
              <a:t> This is the practice of hiding secret information inside another normal-looking file or message so that no one suspects anything is hidden.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 startAt="4"/>
            </a:pPr>
            <a:r>
              <a:rPr lang="en-US" altLang="en-US" sz="2400" b="1" dirty="0">
                <a:sym typeface="+mn-ea"/>
              </a:rPr>
              <a:t>Active Data:</a:t>
            </a:r>
            <a:r>
              <a:rPr lang="en-US" altLang="en-US" sz="2400" dirty="0">
                <a:sym typeface="+mn-ea"/>
              </a:rPr>
              <a:t> Data that is currently accessible and visible to the user during normal use of a device, no special tools or recovery techniques are needed to see it.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 startAt="4"/>
            </a:pPr>
            <a:r>
              <a:rPr lang="en-US" altLang="en-US" sz="2400" b="1" dirty="0">
                <a:sym typeface="+mn-ea"/>
              </a:rPr>
              <a:t>Write-Blocker:</a:t>
            </a:r>
            <a:r>
              <a:rPr lang="en-US" altLang="en-US" sz="2400" dirty="0">
                <a:sym typeface="+mn-ea"/>
              </a:rPr>
              <a:t> A tool (software/device) used to prevent any data from being changed on a storage device while it is being examined. It allows read-only access to evidence.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Question 1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If someone sends a threatening message via WhatsApp, what pieces of information can be used as digital evidence?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Solution 1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The message itself 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The timestamp 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The sender’s account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Question 2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What is the difference between digital evidence and physical evidence?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Solution 2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Digital evidence: Data stored electronically (e.g., files, emails, logs)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Physical evidence: Tangible items (e.g., fingerprints, weapons)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Question 3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What is the difference between computer forensics and digital forensics?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Solution 3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Computer forensics: Focuses only on computers and storage devices</a:t>
            </a:r>
            <a:endParaRPr lang="en-US" altLang="en-US" sz="2400" dirty="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Digital forensics: Covers all digital devices (computers, phones, networks, cloud)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Question 4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30000"/>
              </a:lnSpc>
              <a:buFont typeface="Arial" panose="020B0604020202020204" pitchFamily="34" charset="0"/>
            </a:pPr>
            <a:r>
              <a:rPr lang="en-US" altLang="en-US" sz="2400" dirty="0">
                <a:sym typeface="+mn-ea"/>
              </a:rPr>
              <a:t>Scenario: A student is accused of cheating via smartphone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List 6+ pieces of digital evidence an investigator might find on the phone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For each piece, identify its type: Active / Archival / Hidden / Metadata / Volatile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Which evidence disappears if the phone's battery dies? What does this mean?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Bonus: Where else BESIDES the phone might evidence exist?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Answer 4 (Part 1)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ym typeface="+mn-ea"/>
              </a:rPr>
              <a:t>Chat messages (e.g., WhatsApp, Telegram, SMS)</a:t>
            </a:r>
            <a:endParaRPr lang="en-US" altLang="en-US" sz="2000" b="1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Active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Visible conversations that may show answers being shared during the exam.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ym typeface="+mn-ea"/>
              </a:rPr>
              <a:t>Browser history (search queries during exam time)</a:t>
            </a:r>
            <a:endParaRPr lang="en-US" altLang="en-US" sz="2000" b="1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Archival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Stored logs of visited websites or searches like “exam answers”.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ym typeface="+mn-ea"/>
              </a:rPr>
              <a:t>Recently used apps / app switcher data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Volatile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Shows which apps were open during the exam session.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ym typeface="+mn-ea"/>
              </a:rPr>
              <a:t>Deleted messages or files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Hidden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Recoverable artifacts even after the student tries to erase evidence.</a:t>
            </a: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Answer 4 (Part 2)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+mj-lt"/>
              <a:buAutoNum type="arabicPeriod" startAt="5"/>
            </a:pPr>
            <a:r>
              <a:rPr lang="en-US" altLang="en-US" sz="2000" b="1" dirty="0">
                <a:sym typeface="+mn-ea"/>
              </a:rPr>
              <a:t>File metadata (documents, images, screenshots)</a:t>
            </a:r>
            <a:endParaRPr lang="en-US" altLang="en-US" sz="2000" b="1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Metadata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Includes timestamps, creation dates, device info, and possibly geolocation.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sz="2000" b="1" dirty="0">
                <a:sym typeface="+mn-ea"/>
              </a:rPr>
              <a:t>Screenshots of exam questions or answers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Active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Images stored in the gallery that directly show misconduct.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sz="2000" b="1" dirty="0">
                <a:sym typeface="+mn-ea"/>
              </a:rPr>
              <a:t>Keyboard cache / predictive text history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Hidden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May reveal previously typed words or phrases related to answers.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AutoNum type="arabicPeriod" startAt="5"/>
            </a:pPr>
            <a:r>
              <a:rPr lang="en-US" altLang="en-US" sz="2000" b="1" dirty="0">
                <a:sym typeface="+mn-ea"/>
              </a:rPr>
              <a:t>App usage logs / screen time records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Type: Archival</a:t>
            </a:r>
            <a:endParaRPr lang="en-US" altLang="en-US" sz="2000" dirty="0">
              <a:sym typeface="+mn-ea"/>
            </a:endParaRP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Shows which apps were used and for how long during the exam.</a:t>
            </a: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Answer 4 (Part 3)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20000"/>
              </a:lnSpc>
              <a:buFont typeface="Arial" panose="020B0604020202020204" pitchFamily="34" charset="0"/>
            </a:pPr>
            <a:r>
              <a:rPr lang="en-US" altLang="en-US" sz="2000" b="1" dirty="0">
                <a:sym typeface="+mn-ea"/>
              </a:rPr>
              <a:t>Evidence Lost if the Battery Dies</a:t>
            </a:r>
            <a:endParaRPr lang="en-US" altLang="en-US" sz="2000" b="1" dirty="0">
              <a:sym typeface="+mn-ea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Recently used apps / app switcher state</a:t>
            </a:r>
            <a:endParaRPr lang="en-US" altLang="en-US" sz="2000" dirty="0">
              <a:sym typeface="+mn-ea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RAM contents (temporary data, unsaved activity)</a:t>
            </a:r>
            <a:endParaRPr lang="en-US" altLang="en-US" sz="2000" dirty="0">
              <a:sym typeface="+mn-ea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Live sessions (e.g., unsaved chats, open browser tabs in memory)</a:t>
            </a:r>
            <a:endParaRPr lang="en-US" altLang="en-US" sz="2000" dirty="0">
              <a:sym typeface="+mn-ea"/>
            </a:endParaRP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</a:pPr>
            <a:r>
              <a:rPr lang="en-US" altLang="en-US" sz="2000" b="1" dirty="0">
                <a:sym typeface="+mn-ea"/>
              </a:rPr>
              <a:t>Type: </a:t>
            </a:r>
            <a:r>
              <a:rPr lang="en-US" altLang="en-US" sz="2000" dirty="0">
                <a:sym typeface="+mn-ea"/>
              </a:rPr>
              <a:t>Volatile evidence</a:t>
            </a:r>
            <a:endParaRPr lang="en-US" altLang="en-US" sz="2000" dirty="0">
              <a:sym typeface="+mn-ea"/>
            </a:endParaRP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</a:pPr>
            <a:endParaRPr lang="en-US" altLang="en-US" sz="2000" dirty="0">
              <a:sym typeface="+mn-ea"/>
            </a:endParaRP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</a:pPr>
            <a:r>
              <a:rPr lang="en-US" altLang="en-US" sz="2000" b="1" dirty="0">
                <a:sym typeface="+mn-ea"/>
              </a:rPr>
              <a:t>What this means:</a:t>
            </a:r>
            <a:endParaRPr lang="en-US" altLang="en-US" sz="2000" dirty="0">
              <a:sym typeface="+mn-ea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Volatile evidence exists only while the device is powered on.</a:t>
            </a:r>
            <a:endParaRPr lang="en-US" altLang="en-US" sz="2000" dirty="0">
              <a:sym typeface="+mn-ea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If the battery dies (or the phone is turned off), this data is permanently lost.</a:t>
            </a:r>
            <a:endParaRPr lang="en-US" altLang="en-US" sz="2000" dirty="0">
              <a:sym typeface="+mn-ea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Investigators must act quickly to preserve it (e.g., keeping the phone powered, using live forensics tools).</a:t>
            </a: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Class Activity - Answer 4 (Part 4)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l">
              <a:lnSpc>
                <a:spcPct val="120000"/>
              </a:lnSpc>
              <a:buFont typeface="Arial" panose="020B0604020202020204" pitchFamily="34" charset="0"/>
            </a:pPr>
            <a:r>
              <a:rPr lang="en-US" altLang="en-US" sz="2000" b="1" dirty="0">
                <a:sym typeface="+mn-ea"/>
              </a:rPr>
              <a:t>Bonus: Other Places Evidence Might Exist</a:t>
            </a:r>
            <a:endParaRPr lang="en-US" altLang="en-US" sz="2000" b="1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Cloud backups (e.g., Google Drive, iCloud)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Messaging service servers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School Wi-Fi/network logs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Other students’ devices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Exam hall CCTV cameras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Email accounts</a:t>
            </a:r>
            <a:endParaRPr lang="en-US" altLang="en-US" sz="2000" dirty="0"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sym typeface="+mn-ea"/>
              </a:rPr>
              <a:t>Learning platforms or exam portals</a:t>
            </a:r>
            <a:endParaRPr lang="en-US" altLang="en-US" sz="2000" dirty="0">
              <a:sym typeface="+mn-ea"/>
            </a:endParaRPr>
          </a:p>
          <a:p>
            <a:pPr indent="0" algn="l">
              <a:lnSpc>
                <a:spcPct val="120000"/>
              </a:lnSpc>
              <a:buFont typeface="Arial" panose="020B0604020202020204" pitchFamily="34" charset="0"/>
            </a:pPr>
            <a:endParaRPr lang="en-US" altLang="en-US" sz="20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" y="123190"/>
            <a:ext cx="8628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latin typeface="Bahnschrift SemiBold" panose="020B0502040204020203" charset="0"/>
                <a:ea typeface="Roboto" panose="02000000000000000000" pitchFamily="2" charset="0"/>
                <a:cs typeface="Bahnschrift SemiBold" panose="020B0502040204020203" charset="0"/>
              </a:rPr>
              <a:t>Self-Check</a:t>
            </a:r>
            <a:endParaRPr lang="en-US" altLang="en-US" sz="3200" b="1" dirty="0" err="1">
              <a:latin typeface="Bahnschrift SemiBold" panose="020B0502040204020203" charset="0"/>
              <a:ea typeface="Roboto" panose="02000000000000000000" pitchFamily="2" charset="0"/>
              <a:cs typeface="Bahnschrift SemiBold" panose="020B0502040204020203" charset="0"/>
            </a:endParaRPr>
          </a:p>
        </p:txBody>
      </p:sp>
      <p:sp>
        <p:nvSpPr>
          <p:cNvPr id="5" name="Title 2"/>
          <p:cNvSpPr>
            <a:spLocks noGrp="1"/>
          </p:cNvSpPr>
          <p:nvPr/>
        </p:nvSpPr>
        <p:spPr>
          <a:xfrm>
            <a:off x="251460" y="771525"/>
            <a:ext cx="8623935" cy="4186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Explain digital forensics in ONE sentence to a friend who has never heard of it.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A computer is still ON at the crime scene. What should the investigator do FIRST, and why?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Which type of evidence would tell you WHERE and WHEN a photo was taken?</a:t>
            </a:r>
            <a:endParaRPr lang="en-US" altLang="en-US" sz="2400" dirty="0">
              <a:sym typeface="+mn-ea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sym typeface="+mn-ea"/>
              </a:rPr>
              <a:t>Why is it important that a forensic investigator stays objective and unbiased?</a:t>
            </a:r>
            <a:endParaRPr lang="en-US" altLang="en-US" sz="2400" dirty="0">
              <a:sym typeface="+mn-ea"/>
            </a:endParaRPr>
          </a:p>
        </p:txBody>
      </p:sp>
      <p:sp>
        <p:nvSpPr>
          <p:cNvPr id="3" name="Slide Number Placeholder 3"/>
          <p:cNvSpPr>
            <a:spLocks noGrp="1"/>
          </p:cNvSpPr>
          <p:nvPr/>
        </p:nvSpPr>
        <p:spPr>
          <a:xfrm>
            <a:off x="8646160" y="4748530"/>
            <a:ext cx="464820" cy="394970"/>
          </a:xfrm>
          <a:prstGeom prst="rect">
            <a:avLst/>
          </a:prstGeom>
          <a:solidFill>
            <a:srgbClr val="460046"/>
          </a:solidFill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310DB28-467B-42AB-AF30-926E64120C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74515"/>
            <a:ext cx="8640960" cy="33944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+mj-lt"/>
                <a:cs typeface="+mj-lt"/>
              </a:rPr>
              <a:t>Thank you for listening</a:t>
            </a:r>
            <a:endParaRPr lang="en-US" sz="6600" dirty="0">
              <a:latin typeface="+mj-lt"/>
              <a:cs typeface="+mj-lt"/>
            </a:endParaRPr>
          </a:p>
          <a:p>
            <a:pPr marL="0" indent="0" algn="ctr">
              <a:buNone/>
            </a:pPr>
            <a:r>
              <a:rPr lang="en-US" sz="6600" dirty="0">
                <a:latin typeface="+mj-lt"/>
                <a:cs typeface="+mj-lt"/>
                <a:sym typeface="Wingdings" panose="05000000000000000000" pitchFamily="2" charset="2"/>
              </a:rPr>
              <a:t></a:t>
            </a:r>
            <a:endParaRPr lang="en-US" sz="6600" dirty="0">
              <a:latin typeface="+mj-lt"/>
              <a:cs typeface="+mj-lt"/>
              <a:sym typeface="Wingdings" panose="05000000000000000000" pitchFamily="2" charset="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DB28-467B-42AB-AF30-926E64120C57}" type="slidenum">
              <a:rPr lang="en-GB" smtClean="0"/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MindGuard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Development of a Browser Extension for Detecting Depressive Language</a:t>
            </a:r>
          </a:p>
          <a:p>
            <a:r>
              <a:t>in Adolescents in Online Communication Using a RAG-Driven LLM</a:t>
            </a:r>
          </a:p>
          <a:p/>
          <a:p>
            <a:r>
              <a:t>Adelekan Igbagboyemi Mary</a:t>
            </a:r>
          </a:p>
          <a:p>
            <a:r>
              <a:t>Computer Science · Final Year · 2025/2026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Background to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Mental Health Crisis: Depression affects 280 million people worldwide. Adolescents are disproportionately impacted.</a:t>
            </a:r>
          </a:p>
          <a:p>
            <a:r>
              <a:t>Adolescents &amp; Online Communication: Adolescents spend 7+ hours/day online, frequently expressing emotional distress through written text.</a:t>
            </a:r>
          </a:p>
          <a:p>
            <a:r>
              <a:t>The Intervention Gap: Existing tools rely on active user engagement, but at-risk adolescents disengage when most distressed. Early detection requires passive monitoring.</a:t>
            </a:r>
          </a:p>
          <a:p>
            <a:r>
              <a:t>The digital footprint left by adolescents represents an untapped early-warning signal for identifying depressive risk before it escalates.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Key Works Reviewed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Q. Guo et al. (2024): Suicidal ideation detection in social media. Gap: Not age-targeted; no guardian alerts. MindGuard: Age-targeted + Alerts.</a:t>
            </a:r>
          </a:p>
          <a:p>
            <a:r>
              <a:t>Ilapaka &amp; Ghosh (2025): AI chatbot for depression support. Gap: Requires active user initiation. MindGuard: Passive monitoring.</a:t>
            </a:r>
          </a:p>
          <a:p>
            <a:r>
              <a:t>Zhang et al. (2023): LLM emotional support. Gap: No guardian escalation; overall F1=0.68. MindGuard: Guardian dashboard + 94.1% High-Risk F1.</a:t>
            </a:r>
          </a:p>
          <a:p>
            <a:r>
              <a:t>Fitzpatrick et al. (2022): CBT chatbot. Gap: Requires active engagement. MindGuard: Zero user effort required.</a:t>
            </a:r>
          </a:p>
          <a:p>
            <a:r>
              <a:t>Hollis et al. (2021): Digital mental health review. Gap: Lack of passive real-time browser tools. MindGuard: Browser extension solution.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Active-Engagement Dependency: Existing tools work only if the user chooses to engage. Adolescents experiencing episodes are least likely to do so.</a:t>
            </a:r>
          </a:p>
          <a:p>
            <a:r>
              <a:t>Passive Expression Goes Undetected: No browser-based tool exists to passively capture and analyse real-time signals without user effort.</a:t>
            </a:r>
          </a:p>
          <a:p>
            <a:r>
              <a:t>No Guardian Escalation Framework: State-of-the-art detection models lack an integrated guardian notification system.</a:t>
            </a:r>
          </a:p>
          <a:p>
            <a:r>
              <a:t>Not Designed for Adolescents: Current tools ignore the informal, colloquial, and coded language unique to teenage online communication.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design, develop, and evaluate a browser extension that passively monitors online text for depressive language patterns in adolescents, using a RAG-driven Large Language Model, and automatically notifies designated guardians when high-risk indicators are detected.</a:t>
            </a:r>
          </a:p>
          <a:p>
            <a:r>
              <a:t>Key Features:</a:t>
            </a:r>
          </a:p>
          <a:p>
            <a:r>
              <a:t>  • Passive Monitoring</a:t>
            </a:r>
          </a:p>
          <a:p>
            <a:r>
              <a:t>  • RAG + LLM Integration</a:t>
            </a:r>
          </a:p>
          <a:p>
            <a:r>
              <a:t>  • Risk Classification</a:t>
            </a:r>
          </a:p>
          <a:p>
            <a:r>
              <a:t>  • Guardian Alerts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Collect &amp; Pre-process Dataset: Dreaddit dataset (2,838 samples) of adolescent-style text.</a:t>
            </a:r>
          </a:p>
          <a:p>
            <a:r>
              <a:t>2. Design &amp; Develop Risk Model: Hybrid NLP + RAG pipeline for accuracy and reliability.</a:t>
            </a:r>
          </a:p>
          <a:p>
            <a:r>
              <a:t>3. Implement System Architecture: Browser extension with secure guardian notification framework and consent management.</a:t>
            </a:r>
          </a:p>
          <a:p>
            <a:r>
              <a:t>4. Evaluate Usability: System Usability Scale (SUS) evaluation with target demographic.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Dreaddit Reddit dataset. Text cleaning, stopword removal, FAISS embedding index.</a:t>
            </a:r>
          </a:p>
          <a:p>
            <a:r>
              <a:t>Risk Model: 3-class Risk Engine (Low / Moderate / High). FAISS vector search retrieves similar cases -&gt; Gemini 1.5 Flash reasons over context (14-day temporal window).</a:t>
            </a:r>
          </a:p>
          <a:p>
            <a:r>
              <a:t>System: Browser extension (JS), FastAPI backend, Guardian dashboard (HTML/JS). Passive text interception -&gt; encrypted API call -&gt; conditional alert.</a:t>
            </a:r>
          </a:p>
          <a:p>
            <a:r>
              <a:t>Evaluation: Quantitative (Accuracy, Precision, Recall, F1) on 42-sample test set. Qualitative (SUS questionnaire with 24 participants).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Metrics:</a:t>
            </a:r>
          </a:p>
          <a:p>
            <a:r>
              <a:t>  • Accuracy: 88.1%</a:t>
            </a:r>
          </a:p>
          <a:p>
            <a:r>
              <a:t>  • Precision: 87.4%</a:t>
            </a:r>
          </a:p>
          <a:p>
            <a:r>
              <a:t>  • Recall: 88.1%</a:t>
            </a:r>
          </a:p>
          <a:p>
            <a:r>
              <a:t>  • F1-Score: 87.5%</a:t>
            </a:r>
          </a:p>
          <a:p>
            <a:r>
              <a:t>Class Breakdown:</a:t>
            </a:r>
          </a:p>
          <a:p>
            <a:r>
              <a:t>  • Low Risk: F1 = 78.5%. 26.7% false-positive rate.</a:t>
            </a:r>
          </a:p>
          <a:p>
            <a:r>
              <a:t>  • Moderate Risk: F1 = 86.1%. Strong identification of borderline cases.</a:t>
            </a:r>
          </a:p>
          <a:p>
            <a:r>
              <a:t>  • High Risk: F1 = 94.1%, Recall = 94.1%. Meets &gt;=90% clinical safety target.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System &amp;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Delivered:</a:t>
            </a:r>
          </a:p>
          <a:p>
            <a:r>
              <a:t>  • Browser Extension (Passively captures text, encrypted)</a:t>
            </a:r>
          </a:p>
          <a:p>
            <a:r>
              <a:t>  • RAG Risk Engine (FAISS + Gemini LLM)</a:t>
            </a:r>
          </a:p>
          <a:p>
            <a:r>
              <a:t>  • Guardian Dashboard (Real-time alerts, consent management)</a:t>
            </a:r>
          </a:p>
          <a:p>
            <a:r>
              <a:t>  • Privacy-First Design (Explicit opt-in, no password capture)</a:t>
            </a:r>
          </a:p>
          <a:p>
            <a:r>
              <a:t>Usability Evaluation (SUS):</a:t>
            </a:r>
          </a:p>
          <a:p>
            <a:r>
              <a:t>  • Average SUS Score: 69.1 (Above Average) across 24 Participants.</a:t>
            </a:r>
          </a:p>
          <a:p>
            <a:r>
              <a:t>  • Key User Feedback: Users want an Explainable AI (XAI) Insights Panel to understand WHY a risk was assigned.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Significance: Contribution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For the User:</a:t>
            </a:r>
          </a:p>
          <a:p>
            <a:r>
              <a:t>  • Zero-Effort Protection: Adolescents receive protection without active engagement.</a:t>
            </a:r>
          </a:p>
          <a:p>
            <a:r>
              <a:t>  • Empowered Guardians: Timely, actionable alerts for earlier conversations.</a:t>
            </a:r>
          </a:p>
          <a:p>
            <a:r>
              <a:t>  • Privacy-First Design: Explicit consent builds trust.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For the Field:</a:t>
            </a:r>
          </a:p>
          <a:p>
            <a:r>
              <a:t>  • Novel RAG Application: First FAISS-backed RAG retrieval for passive telemetry.</a:t>
            </a:r>
          </a:p>
          <a:p>
            <a:r>
              <a:t>  • Clinical Safety Framework: Explicit &gt;=90% High-Risk Recall target.</a:t>
            </a:r>
          </a:p>
          <a:p>
            <a:r>
              <a:t>  • Explainability Roadmap: XAI Insights Panel bridges alerting tool to educational instrument.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fully functional browser extension detecting depressive language with 88.1% accuracy.</a:t>
            </a:r>
          </a:p>
          <a:p>
            <a:r>
              <a:t>Implemented novel RAG-driven LLM pipeline (FAISS + Gemini), achieving clinically critical High-Risk Recall of 94.1%.</a:t>
            </a:r>
          </a:p>
          <a:p>
            <a:r>
              <a:t>Built a complete guardian escalation framework with real-time dashboard and consent management.</a:t>
            </a:r>
          </a:p>
          <a:p>
            <a:r>
              <a:t>Validated usability (SUS score: 69.1), confirming accessibility.</a:t>
            </a:r>
          </a:p>
          <a:p>
            <a:r>
              <a:t>MindGuard successfully addresses the gap in passive adolescent mental health monitoring, bridging AI detection and real-world intervention.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Q. Guo et al. (2024). Detection of suicidal ideation in social media text.</a:t>
            </a:r>
          </a:p>
          <a:p>
            <a:r>
              <a:t>Ilapaka, A., &amp; Ghosh, S. (2025). RAG-enhanced conversational agents for mental health support.</a:t>
            </a:r>
          </a:p>
          <a:p>
            <a:r>
              <a:t>Zhang, Y. et al. (2023). SouLLMate: An LLM-based emotional support system.</a:t>
            </a:r>
          </a:p>
          <a:p>
            <a:r>
              <a:t>Fitzpatrick, K. K. et al. (2022). Delivering cognitive behaviour therapy via Woebot.</a:t>
            </a:r>
          </a:p>
          <a:p>
            <a:r>
              <a:t>Hollis, C. et al. (2021). Digital health interventions for children and young people.</a:t>
            </a:r>
          </a:p>
          <a:p>
            <a:r>
              <a:t>Torous, J. et al. (2021). The growing field of digital psychiatry.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Almighty God: For wisdom, strength, and grace.</a:t>
            </a:r>
          </a:p>
          <a:p>
            <a:r>
              <a:t>My Supervisor: For patient guidance and technical mentorship.</a:t>
            </a:r>
          </a:p>
          <a:p>
            <a:r>
              <a:t>Head of Department: For providing the academic structure.</a:t>
            </a:r>
          </a:p>
          <a:p>
            <a:r>
              <a:t>Faculty of Sciences: For the academic foundation.</a:t>
            </a:r>
          </a:p>
          <a:p>
            <a:r>
              <a:t>Colleagues &amp; Friends: For collaboration and moral support.</a:t>
            </a:r>
          </a:p>
          <a:p>
            <a:r>
              <a:t>Family: For unwavering support and belief.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7733</Words>
  <Application>WPS Presentation</Application>
  <PresentationFormat>On-screen Show (16:9)</PresentationFormat>
  <Paragraphs>259</Paragraphs>
  <Slides>27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Arial</vt:lpstr>
      <vt:lpstr>SimSun</vt:lpstr>
      <vt:lpstr>Wingdings</vt:lpstr>
      <vt:lpstr>Merriweather</vt:lpstr>
      <vt:lpstr>Segoe Print</vt:lpstr>
      <vt:lpstr>Roboto</vt:lpstr>
      <vt:lpstr>Times New Roman</vt:lpstr>
      <vt:lpstr>Symbol</vt:lpstr>
      <vt:lpstr>Bahnschrift SemiBold</vt:lpstr>
      <vt:lpstr>Calibri</vt:lpstr>
      <vt:lpstr>Microsoft YaHei</vt:lpstr>
      <vt:lpstr>Arial Unicode MS</vt:lpstr>
      <vt:lpstr>Arial</vt:lpstr>
      <vt:lpstr>Arial</vt:lpstr>
      <vt:lpstr>Office Theme</vt:lpstr>
      <vt:lpstr>CYB 225: CYB225 Digital Forsensics and Investigation Methods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AZUBUIKE EZENWOKE</dc:creator>
  <cp:lastModifiedBy>Otavie Okuoyo</cp:lastModifiedBy>
  <cp:revision>2553</cp:revision>
  <cp:lastPrinted>2026-03-26T10:07:00Z</cp:lastPrinted>
  <dcterms:created xsi:type="dcterms:W3CDTF">2026-03-26T10:07:00Z</dcterms:created>
  <dcterms:modified xsi:type="dcterms:W3CDTF">2026-03-30T16:54:27Z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25B78F6B7E6844AE9816BB1D44F3732A_13</vt:lpwstr>
  </property>
  <property fmtid="{D5CDD505-2E9C-101B-9397-08002B2CF9AE}" pid="3" name="KSOProductBuildVer">
    <vt:lpwstr>1033-12.2.0.23196</vt:lpwstr>
  </property>
</Properties>
</file>