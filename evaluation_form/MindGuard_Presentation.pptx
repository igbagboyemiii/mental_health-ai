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-914400"/>
            <a:ext cx="3657600" cy="3657600"/>
          </a:xfrm>
          <a:prstGeom prst="rect">
            <a:avLst/>
          </a:prstGeom>
          <a:solidFill>
            <a:srgbClr val="151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931920" cy="274320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115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FINAL YEAR BSc PROJECT DEFENCE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4813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🧠🛡️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MindGuard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Development of a Browser Extension for Detecting Depressive Language
in Adolescents in Online Communication Using a RAG-Driven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4005072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Adelekan Igbagboyemi 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35424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Computer Science  ·  Final Year  · 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Background to the </a:t>
            </a:r>
            <a:r>
              <a:rPr sz="2200" b="1">
                <a:solidFill>
                  <a:srgbClr val="6C63FF"/>
                </a:solidFill>
                <a:latin typeface="Calibri"/>
              </a:rPr>
              <a:t>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Global Mental Health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Depression affects 280 million people worldwide. Adolescents are disproportionately impacted — 1 in 7 aged 10–19 experience a mental disorder, yet less than 20% receive adequate 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618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Adolescents &amp; Online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Adolescents spend 7+ hours/day online. They frequently express emotional distress through written online text — often their primary and most candid outlet for self-expression.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3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3" y="1618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Intervention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3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Existing tools rely on active user engagement — journaling apps, chatbots — but at-risk adolescents disengage when most distressed. Early detection requires passive, non-intrusive monitoring.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11247120" cy="77724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0800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66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2E8F0"/>
                </a:solidFill>
                <a:latin typeface="Calibri"/>
              </a:rPr>
              <a:t>"The digital footprint left by adolescents during online communication represents an untapped early-warning signal for identifying depressive risk before it escalates to crisis."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👤 Writes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🔍 Passive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8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8496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8496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🤖 AI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24144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🔔 Guardian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9792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💚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Key Works </a:t>
            </a:r>
            <a:r>
              <a:rPr sz="2200" b="1">
                <a:solidFill>
                  <a:srgbClr val="6C63FF"/>
                </a:solidFill>
                <a:latin typeface="Calibri"/>
              </a:rPr>
              <a:t>Reviewed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70432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Author(s) &amp;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Problem Considered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Method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9574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Gap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115568"/>
            <a:ext cx="228600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3184" y="11704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Addressed by MindGuard?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153619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Q. Guo et al. (2024)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Suicidal ideation detection in social media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BERT-based classification on Reddit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Not age-targeted; no guardian 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48132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153619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Age-targeted +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50008"/>
            <a:ext cx="18288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240487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Ilapaka &amp; Ghosh (2025)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000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AI chatbot for depression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FAISS + RAG + active dialogue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0488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Requires active user initiation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350008"/>
            <a:ext cx="22860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240487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Passive 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1868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27355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Zhang et al. — SouLLMate (2023)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LLM emotional support for mental health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744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Fine-tuned LLM; overall F1 = 0.68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No guardian escalation; low F1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21868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82328" y="327355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Guardian dashboard + 94.1% High-Risk F1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87368"/>
            <a:ext cx="18288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" y="414223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Fitzpatrick et al. — Woebot (2022)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000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Automated CBT chatbot for depression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Rule-based NLP; brief daily conversations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0488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Requires active engagement; no passive mode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4087368"/>
            <a:ext cx="22860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414223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Zero user effort required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5604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" y="501091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Hollis et al. (2021)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000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Digital mental health for young people: review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2744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Systematic review; evidence synthesis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0488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Gap in passive real-time browser tools for teens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495604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82328" y="501091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Browser extension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STATEMENT OF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The </a:t>
            </a:r>
            <a:r>
              <a:rPr sz="2200" b="1">
                <a:solidFill>
                  <a:srgbClr val="6C63FF"/>
                </a:solidFill>
                <a:latin typeface="Calibri"/>
              </a:rPr>
              <a:t>Problem </a:t>
            </a:r>
            <a:r>
              <a:rPr sz="2200" b="1">
                <a:solidFill>
                  <a:srgbClr val="FFFFFF"/>
                </a:solidFill>
                <a:latin typeface="Calibri"/>
              </a:rPr>
              <a:t>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801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Active-Engagement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7276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Existing digital mental health tools work only if the user chooses to engage. Adolescents experiencing depressive episodes are the least likely to do so — the very moment help is needed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(Q. Guo et al., 2024; Hollis et al., 2021)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14016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0545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Passive Expression Goes Undetected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98064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Adolescents express distress passively through everyday online writing. No browser-based tool exists to passively capture and analyse this real-time signal without user effort.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82696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(O'Reilly et al., 2023; Torous et al., 2021)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39312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86784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867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307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Guardian Escalation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2336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State-of-the-art detection models lack an integrated guardian notification system. Detection alone does not bridge the gap between identifying risk and real-world intervention.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0799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(Zhang et al., 2023)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64608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64608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212080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5604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 Designed for Adolescents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4865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Current tools ignore the informal, colloquial, and coded language unique to teenage online communication, reducing detection reliability for the most vulnerable demographic.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733288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(Thabrew et al., 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We Set Out to </a:t>
            </a:r>
            <a:r>
              <a:rPr sz="2200" b="1">
                <a:solidFill>
                  <a:srgbClr val="6C63FF"/>
                </a:solidFill>
                <a:latin typeface="Calibri"/>
              </a:rPr>
              <a:t>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solidFill>
            <a:srgbClr val="1A1A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E2E8F0"/>
                </a:solidFill>
                <a:latin typeface="Calibri"/>
              </a:rPr>
              <a:t>To design, develop, and evaluate a browser extension that passively monitors online text for depressive language patterns in adolescents, using a RAG-driven Large Language Model, and automatically notifies designated guardians when high-risk indicators are detected.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247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247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🔍  Passive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279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279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🤖  RAG +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311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🛡️  Risk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343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343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🔔  Guardian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Steps Taken to </a:t>
            </a:r>
            <a:r>
              <a:rPr sz="2200" b="1">
                <a:solidFill>
                  <a:srgbClr val="6C63FF"/>
                </a:solidFill>
                <a:latin typeface="Calibri"/>
              </a:rPr>
              <a:t>Achieve the 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28016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Collect &amp; Pre-process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5448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Collect and pre-process a suitable dataset of depressive and non-depressive text samples representative of adolescent online communication (Dreaddit dataset — 2,838 samples).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14016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2374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Design &amp; Develop 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798064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Design and develop a trained risk classification model and evaluate the accuracy and reliability of the model's risk predictions using a hybrid NLP + RAG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77640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77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76732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Implement 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041648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Implement the model within a browser extension architecture, incorporating a secure guardian notification framework and consent management system.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01184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01184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221224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2212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01091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Evaluate Usability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28523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Evaluate the usability of the system interface using the System Usability Scale (SUS) with 24 participants from the target demographic.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How Each Objective Was </a:t>
            </a:r>
            <a:r>
              <a:rPr sz="2200" b="1">
                <a:solidFill>
                  <a:srgbClr val="34D399"/>
                </a:solidFill>
                <a:latin typeface="Calibri"/>
              </a:rPr>
              <a:t>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303520" cy="274320"/>
          </a:xfrm>
          <a:prstGeom prst="rect">
            <a:avLst/>
          </a:prstGeom>
          <a:solidFill>
            <a:srgbClr val="1A14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3FF"/>
                </a:solidFill>
                <a:latin typeface="Calibri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15568"/>
            <a:ext cx="5760720" cy="274320"/>
          </a:xfrm>
          <a:prstGeom prst="rect">
            <a:avLst/>
          </a:prstGeom>
          <a:solidFill>
            <a:srgbClr val="0D251A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133856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  <a:latin typeface="Calibri"/>
              </a:rPr>
              <a:t>METHOD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 —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92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Dreaddit Reddit dataset · 2,838 samples · Colloquial adolescent-style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865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81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72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Text cleaning, stopword removal, lemmatisation. FAISS embedding index built using sentence-transformer embeddings (all-MiniLM-L6-v2).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24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II — Risk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35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3-class Risk Engine: Low / Moderate / High. Hybrid NLP scoring + RAG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008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624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715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RAG Pipeline: FAISS vector search retrieves semantically similar cases → Gemini 1.5 Flash reasons over context → produces risk level + explanation. 14-day temporal window (DSM-5 aligned).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67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III —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78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Browser extension (JS), FastAPI backend, Guardian dashboard (HTML/JS).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151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767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858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Design Science Research (DSR). Passive text interception → encrypted API call → risk classification → conditional guardian email alert with consent verification.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10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IV —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21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SUS questionnaire + model benchmarking on 42-sample held-out test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294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910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5001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Quantitative: Accuracy, Precision, Recall, F1, Confusion Matrix. Qualitative: 10-item SUS with 24 participants on live extension + guardian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Objective I &amp; II — </a:t>
            </a:r>
            <a:r>
              <a:rPr sz="2200" b="1">
                <a:solidFill>
                  <a:srgbClr val="34D399"/>
                </a:solidFill>
                <a:latin typeface="Calibri"/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390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F1-Score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121408"/>
            <a:ext cx="466344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2176272"/>
            <a:ext cx="4553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Clinical Significance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Low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73.3%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84.6%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78.5%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2468880"/>
            <a:ext cx="466344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5744" y="2505456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26.7% false-positive rate — identified target for future improvement to reduce guardian fatigue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Moderate Risk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5798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90.0%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0390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82.6%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982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86.1%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2816352"/>
            <a:ext cx="466344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95744" y="2852928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Strong identification of borderline cases — supports preventative intervention before escalation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Calibri"/>
              </a:rPr>
              <a:t>High Risk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5798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0390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982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3163824"/>
            <a:ext cx="466344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95744" y="3200400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MEETS ≥90% clinical safety target. High Recall is paramount: missing a high-risk user has severe consequences.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074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📊 Test samples: 42 hand-curated high-variance instances   ·   🔬 Dataset: Dreaddit (2,838 total samples)   ·   ⏱ 14-day temporal window (DSM-5 aligned)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Objective III &amp; IV — </a:t>
            </a:r>
            <a:r>
              <a:rPr sz="2200" b="1">
                <a:solidFill>
                  <a:srgbClr val="34D399"/>
                </a:solidFill>
                <a:latin typeface="Calibri"/>
              </a:rPr>
              <a:t>System &amp; Usability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  <a:latin typeface="Calibri"/>
              </a:rPr>
              <a:t>OBJECTIVE III — SYSTEM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270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Browser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81965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Passively captures typed text. Encrypts &amp; transmits to API. Supports Chrome.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8072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RAG Risk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9981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FAISS retrieval + Gemini LLM classifies text into Low / Moderate / High risk using a 3-stage mathematical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873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Guardian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37997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risk alerts. Consent management. Timeline of risk events per adolescent.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67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3675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Privacy-First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66013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Explicit opt-in consent. Encrypted transmission (TLS). No password or sensitive field capture.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1155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OBJECTIVE IV — SUS USABILITY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417320"/>
            <a:ext cx="5669280" cy="3154680"/>
          </a:xfrm>
          <a:prstGeom prst="rect">
            <a:avLst/>
          </a:prstGeom>
          <a:solidFill>
            <a:srgbClr val="1A1A3A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554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Average SUS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Calibri"/>
              </a:rPr>
              <a:t>69.1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828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 Participants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121408"/>
            <a:ext cx="2377440" cy="292608"/>
          </a:xfrm>
          <a:prstGeom prst="rect">
            <a:avLst/>
          </a:prstGeom>
          <a:solidFill>
            <a:srgbClr val="0D25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148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✔ ABOVE AVERAGE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06040"/>
            <a:ext cx="5303520" cy="201168"/>
          </a:xfrm>
          <a:prstGeom prst="rect">
            <a:avLst/>
          </a:prstGeom>
          <a:solidFill>
            <a:srgbClr val="202040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606040"/>
            <a:ext cx="3664732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1433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68 Avg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127248"/>
            <a:ext cx="5303520" cy="1261872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200400"/>
            <a:ext cx="5029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💬 User Feedback:
"Users want to see WHY a risk was assigned — not just the severity level."
→ Identified as top recommendation for future work:
   Explainable AI (XAI) Insights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Contribution &amp; </a:t>
            </a:r>
            <a:r>
              <a:rPr sz="2200" b="1">
                <a:solidFill>
                  <a:srgbClr val="6C63FF"/>
                </a:solidFill>
                <a:latin typeface="Calibri"/>
              </a:rP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  <a:latin typeface="Calibri"/>
              </a:rPr>
              <a:t>FOR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FOR THE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Zero-Effort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836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Adolescents receive protection without any active engagement or self-reporting — removing the biggest barrier to mental health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815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912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👨‍👩‍👧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91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Empowered Guardians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838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Parents and carers receive timely, actionable alerts enabling earlier conversations and professional referrals before crises escalate.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817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91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Privacy-First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840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Explicit consent architecture ensures users retain full control over their data, building trust that existing monitoring tools lack.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813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91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Novel RAG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8836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First application of FAISS-backed RAG retrieval to passive browser telemetry for adolescent mental health — a new Digital Phenotyping paradigm.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815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1912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191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Clinical Safety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4838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Explicit ≥90% High-Risk Recall target aligned with clinical triage standards — bridging AI detection and clinical safety benchmarks.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817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791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Explainability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0840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User-driven recommendation for an XAI Insights Panel transforms the dashboard from an alerting tool to an educational clinical instrument.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Was </a:t>
            </a:r>
            <a:r>
              <a:rPr sz="2200" b="1">
                <a:solidFill>
                  <a:srgbClr val="34D399"/>
                </a:solidFill>
                <a:latin typeface="Calibri"/>
              </a:rPr>
              <a:t>Accomplished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98448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Developed a fully functional browser extension that passively detects depressive language with 88.1% overall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57984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Implemented a novel RAG-driven LLM pipeline (FAISS + Gemini), achieving a clinically critical High-Risk Recall of 94.1% — surpassing the ≥90% safety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9504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7238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Built a complete guardian escalation framework with a real-time dashboard, consent management, and automated alert notifications.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Validated usability with 24 participants achieving a SUS score of 69.1 (Above Average) — confirming accessibility for non-technical users.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08576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9145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36592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Identified key future work: an Explainable AI (XAI) Insights Panel to surface linguistic triggers — driven directly by user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21808"/>
            <a:ext cx="11247120" cy="457200"/>
          </a:xfrm>
          <a:prstGeom prst="rect">
            <a:avLst/>
          </a:prstGeom>
          <a:solidFill>
            <a:srgbClr val="0D25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🎯 MindGuard successfully addresses the critical gap in passive adolescent mental health monitoring — bridging AI detection and real-world guardian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Works </a:t>
            </a:r>
            <a:r>
              <a:rPr sz="2200" b="1">
                <a:solidFill>
                  <a:srgbClr val="6C63FF"/>
                </a:solidFill>
                <a:latin typeface="Calibri"/>
              </a:rPr>
              <a:t>Cited</a:t>
            </a:r>
            <a:r>
              <a:rPr sz="2200" b="1">
                <a:solidFill>
                  <a:srgbClr val="FFFFFF"/>
                </a:solidFill>
                <a:latin typeface="Calibri"/>
              </a:rPr>
              <a:t> in This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9786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Q. Guo et al. (2024). Detection of suicidal ideation in social media text using BERT-based classification. Journal of Biomedical Informatics.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9656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Ilapaka, A., &amp; Ghosh, S. (2025). RAG-enhanced conversational agents for mental health support using FAISS vector retrieval. Applied Intelligence.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5117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Zhang, Y. et al. (2023). SouLLMate: An LLM-based emotional support system for mental health applications. arXiv.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72968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Fitzpatrick, K. K. et al. (2022). Delivering cognitive behaviour therapy to young adults via a conversational agent, Woebot. JMIR Mental Health.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9624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044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Hollis, C. et al. (2021). Annual research review: Digital health interventions for children and young people with mental health problems. J. Child Psychology &amp; Psychiatry, 62(4).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8114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Torous, J. et al. (2021). The growing field of digital psychiatry: apps, social media, chatbots, and virtual reality. World Psychiatry, 20(3), 318–335.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02936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O'Reilly, M. et al. (2023). Examining the risk and protective associations of social media use and adolescent mental health. npj Mental Health Research.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79592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3445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Thabrew, H. et al. (2022). Digital health interventions for adolescent mental health. Child and Adolescent Mental Health, 27(2), 98–109.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ACKNOWLEDGEMENT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With Sincere </a:t>
            </a:r>
            <a:r>
              <a:rPr sz="2200" b="1">
                <a:solidFill>
                  <a:srgbClr val="6C63FF"/>
                </a:solidFill>
                <a:latin typeface="Calibri"/>
              </a:rPr>
              <a:t>Gratitude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Almighty God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wisdom, strength, and the grace to complete this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My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patient guidance, technical mentorship, and invaluable feedback throughout this research journey.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Head of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providing the academic structure and resources that enabled this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Faculty of Sciences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the academic foundation and institutional support across four years of study.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Colleagues &amp; Friends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the collaboration, encouragement, and moral support throughout the academic year.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unwavering support, belief, and sacrifice that made this academic journey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57200"/>
            <a:ext cx="4572000" cy="4572000"/>
          </a:xfrm>
          <a:prstGeom prst="rect">
            <a:avLst/>
          </a:prstGeom>
          <a:solidFill>
            <a:srgbClr val="10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97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🧠🛡️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for your time and attention.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3493008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This research was conducted in partial fulfilment of the requirements
for the award of BSc Computer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255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255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Adelekan Igbagboyemi 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007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07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BSc Computer Science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759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759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🛡️ MindGuard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