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88" y="4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200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200400"/>
            <a:ext cx="12188952" cy="36576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114800" y="1097280"/>
            <a:ext cx="3931920" cy="274320"/>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0" y="1115568"/>
            <a:ext cx="3931920" cy="274320"/>
          </a:xfrm>
          <a:prstGeom prst="rect">
            <a:avLst/>
          </a:prstGeom>
          <a:noFill/>
        </p:spPr>
        <p:txBody>
          <a:bodyPr wrap="square">
            <a:spAutoFit/>
          </a:bodyPr>
          <a:lstStyle/>
          <a:p>
            <a:pPr algn="ctr"/>
            <a:r>
              <a:rPr sz="800" b="1" i="0">
                <a:solidFill>
                  <a:srgbClr val="4F46E5"/>
                </a:solidFill>
                <a:latin typeface="Calibri"/>
              </a:rPr>
              <a:t>FINAL YEAR BSc PROJECT DEFENCE · 2026</a:t>
            </a:r>
          </a:p>
        </p:txBody>
      </p:sp>
      <p:sp>
        <p:nvSpPr>
          <p:cNvPr id="6" name="TextBox 5"/>
          <p:cNvSpPr txBox="1"/>
          <p:nvPr/>
        </p:nvSpPr>
        <p:spPr>
          <a:xfrm>
            <a:off x="5303520" y="1481328"/>
            <a:ext cx="1828800" cy="640080"/>
          </a:xfrm>
          <a:prstGeom prst="rect">
            <a:avLst/>
          </a:prstGeom>
          <a:noFill/>
        </p:spPr>
        <p:txBody>
          <a:bodyPr wrap="square">
            <a:spAutoFit/>
          </a:bodyPr>
          <a:lstStyle/>
          <a:p>
            <a:pPr algn="ctr"/>
            <a:r>
              <a:rPr sz="3000" b="0" i="0">
                <a:solidFill>
                  <a:srgbClr val="0F172A"/>
                </a:solidFill>
                <a:latin typeface="Calibri"/>
              </a:rPr>
              <a:t>🧠🛡️</a:t>
            </a:r>
          </a:p>
        </p:txBody>
      </p:sp>
      <p:sp>
        <p:nvSpPr>
          <p:cNvPr id="7" name="TextBox 6"/>
          <p:cNvSpPr txBox="1"/>
          <p:nvPr/>
        </p:nvSpPr>
        <p:spPr>
          <a:xfrm>
            <a:off x="1371600" y="2240280"/>
            <a:ext cx="9418320" cy="914400"/>
          </a:xfrm>
          <a:prstGeom prst="rect">
            <a:avLst/>
          </a:prstGeom>
          <a:noFill/>
        </p:spPr>
        <p:txBody>
          <a:bodyPr wrap="square">
            <a:spAutoFit/>
          </a:bodyPr>
          <a:lstStyle/>
          <a:p>
            <a:pPr algn="ctr"/>
            <a:r>
              <a:rPr sz="4800" b="1" i="0">
                <a:solidFill>
                  <a:srgbClr val="0F172A"/>
                </a:solidFill>
                <a:latin typeface="Calibri"/>
              </a:rPr>
              <a:t>MindGuard</a:t>
            </a:r>
          </a:p>
        </p:txBody>
      </p:sp>
      <p:sp>
        <p:nvSpPr>
          <p:cNvPr id="8" name="TextBox 7"/>
          <p:cNvSpPr txBox="1"/>
          <p:nvPr/>
        </p:nvSpPr>
        <p:spPr>
          <a:xfrm>
            <a:off x="1371600" y="3200400"/>
            <a:ext cx="9418320" cy="731520"/>
          </a:xfrm>
          <a:prstGeom prst="rect">
            <a:avLst/>
          </a:prstGeom>
          <a:noFill/>
        </p:spPr>
        <p:txBody>
          <a:bodyPr wrap="square">
            <a:spAutoFit/>
          </a:bodyPr>
          <a:lstStyle/>
          <a:p>
            <a:pPr algn="ctr"/>
            <a:r>
              <a:rPr sz="1300" b="0" i="0">
                <a:solidFill>
                  <a:srgbClr val="334155"/>
                </a:solidFill>
                <a:latin typeface="Calibri"/>
              </a:rPr>
              <a:t>Development of a Browser Extension for Detecting Depressive Language
in Adolescents in Online Communication Using a RAG-Driven LLM</a:t>
            </a:r>
          </a:p>
        </p:txBody>
      </p:sp>
      <p:sp>
        <p:nvSpPr>
          <p:cNvPr id="9" name="Rectangle 8"/>
          <p:cNvSpPr/>
          <p:nvPr/>
        </p:nvSpPr>
        <p:spPr>
          <a:xfrm>
            <a:off x="5394960" y="4005072"/>
            <a:ext cx="1371600" cy="381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0" y="4160520"/>
            <a:ext cx="9418320" cy="347472"/>
          </a:xfrm>
          <a:prstGeom prst="rect">
            <a:avLst/>
          </a:prstGeom>
          <a:noFill/>
        </p:spPr>
        <p:txBody>
          <a:bodyPr wrap="square">
            <a:spAutoFit/>
          </a:bodyPr>
          <a:lstStyle/>
          <a:p>
            <a:pPr algn="ctr"/>
            <a:r>
              <a:rPr sz="1600" b="1" i="0">
                <a:solidFill>
                  <a:srgbClr val="0F172A"/>
                </a:solidFill>
                <a:latin typeface="Calibri"/>
              </a:rPr>
              <a:t>Adelekan Igbagboyemi Mary</a:t>
            </a:r>
          </a:p>
        </p:txBody>
      </p:sp>
      <p:sp>
        <p:nvSpPr>
          <p:cNvPr id="11" name="TextBox 10"/>
          <p:cNvSpPr txBox="1"/>
          <p:nvPr/>
        </p:nvSpPr>
        <p:spPr>
          <a:xfrm>
            <a:off x="1371600" y="4535424"/>
            <a:ext cx="9418320" cy="274320"/>
          </a:xfrm>
          <a:prstGeom prst="rect">
            <a:avLst/>
          </a:prstGeom>
          <a:noFill/>
        </p:spPr>
        <p:txBody>
          <a:bodyPr wrap="square">
            <a:spAutoFit/>
          </a:bodyPr>
          <a:lstStyle/>
          <a:p>
            <a:pPr algn="ctr"/>
            <a:r>
              <a:rPr sz="1100" b="0" i="0">
                <a:solidFill>
                  <a:srgbClr val="64748B"/>
                </a:solidFill>
                <a:latin typeface="Calibri"/>
              </a:rPr>
              <a:t>Computer Science  ·  Final Year  ·  2025/2026</a:t>
            </a:r>
          </a:p>
        </p:txBody>
      </p:sp>
      <p:sp>
        <p:nvSpPr>
          <p:cNvPr id="12" name="TextBox 11"/>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137160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FFFFFF"/>
                </a:solidFill>
                <a:latin typeface="Calibri"/>
              </a:rPr>
              <a:t>SCENARIO</a:t>
            </a:r>
          </a:p>
        </p:txBody>
      </p:sp>
      <p:sp>
        <p:nvSpPr>
          <p:cNvPr id="3" name="TextBox 2"/>
          <p:cNvSpPr txBox="1"/>
          <p:nvPr/>
        </p:nvSpPr>
        <p:spPr>
          <a:xfrm>
            <a:off x="2011680" y="347472"/>
            <a:ext cx="8961120" cy="502920"/>
          </a:xfrm>
          <a:prstGeom prst="rect">
            <a:avLst/>
          </a:prstGeom>
          <a:noFill/>
        </p:spPr>
        <p:txBody>
          <a:bodyPr wrap="none">
            <a:spAutoFit/>
          </a:bodyPr>
          <a:lstStyle/>
          <a:p>
            <a:r>
              <a:rPr sz="2200" b="1">
                <a:solidFill>
                  <a:srgbClr val="0F172A"/>
                </a:solidFill>
                <a:latin typeface="Calibri"/>
              </a:rPr>
              <a:t>Meet </a:t>
            </a:r>
            <a:r>
              <a:rPr sz="2200" b="1">
                <a:solidFill>
                  <a:srgbClr val="4F46E5"/>
                </a:solidFill>
                <a:latin typeface="Calibri"/>
              </a:rPr>
              <a:t>Sarah</a:t>
            </a: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02</a:t>
            </a:r>
          </a:p>
        </p:txBody>
      </p:sp>
      <p:sp>
        <p:nvSpPr>
          <p:cNvPr id="6" name="TextBox 5"/>
          <p:cNvSpPr txBox="1"/>
          <p:nvPr/>
        </p:nvSpPr>
        <p:spPr>
          <a:xfrm>
            <a:off x="457200" y="1097280"/>
            <a:ext cx="11247120" cy="365760"/>
          </a:xfrm>
          <a:prstGeom prst="rect">
            <a:avLst/>
          </a:prstGeom>
          <a:noFill/>
        </p:spPr>
        <p:txBody>
          <a:bodyPr wrap="square">
            <a:spAutoFit/>
          </a:bodyPr>
          <a:lstStyle/>
          <a:p>
            <a:pPr algn="l"/>
            <a:r>
              <a:rPr sz="1600" b="1" i="0">
                <a:solidFill>
                  <a:srgbClr val="0F172A"/>
                </a:solidFill>
                <a:latin typeface="Calibri"/>
              </a:rPr>
              <a:t>Sarah is a 15-year-old high school student.</a:t>
            </a:r>
          </a:p>
        </p:txBody>
      </p:sp>
      <p:sp>
        <p:nvSpPr>
          <p:cNvPr id="7" name="TextBox 6"/>
          <p:cNvSpPr txBox="1"/>
          <p:nvPr/>
        </p:nvSpPr>
        <p:spPr>
          <a:xfrm>
            <a:off x="457200" y="1554480"/>
            <a:ext cx="11247120" cy="640080"/>
          </a:xfrm>
          <a:prstGeom prst="rect">
            <a:avLst/>
          </a:prstGeom>
          <a:noFill/>
        </p:spPr>
        <p:txBody>
          <a:bodyPr wrap="square">
            <a:spAutoFit/>
          </a:bodyPr>
          <a:lstStyle/>
          <a:p>
            <a:pPr algn="l"/>
            <a:r>
              <a:rPr sz="1200" b="0" i="0">
                <a:solidFill>
                  <a:srgbClr val="334155"/>
                </a:solidFill>
                <a:latin typeface="Calibri"/>
              </a:rPr>
              <a:t>She has been feeling increasingly isolated over the past few weeks. Instead of talking to her parents or teachers, she logs into her social media accounts late at night and writes:</a:t>
            </a:r>
          </a:p>
        </p:txBody>
      </p:sp>
      <p:sp>
        <p:nvSpPr>
          <p:cNvPr id="8" name="Rectangle 7"/>
          <p:cNvSpPr/>
          <p:nvPr/>
        </p:nvSpPr>
        <p:spPr>
          <a:xfrm>
            <a:off x="1828800" y="2377440"/>
            <a:ext cx="8503920" cy="2286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0" y="2560320"/>
            <a:ext cx="365760" cy="3657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68880" y="2560320"/>
            <a:ext cx="1828800" cy="182880"/>
          </a:xfrm>
          <a:prstGeom prst="rect">
            <a:avLst/>
          </a:prstGeom>
          <a:noFill/>
        </p:spPr>
        <p:txBody>
          <a:bodyPr wrap="square">
            <a:spAutoFit/>
          </a:bodyPr>
          <a:lstStyle/>
          <a:p>
            <a:pPr algn="l"/>
            <a:r>
              <a:rPr sz="1200" b="1" i="0">
                <a:solidFill>
                  <a:srgbClr val="0F172A"/>
                </a:solidFill>
                <a:latin typeface="Calibri"/>
              </a:rPr>
              <a:t>Sarah</a:t>
            </a:r>
          </a:p>
        </p:txBody>
      </p:sp>
      <p:sp>
        <p:nvSpPr>
          <p:cNvPr id="11" name="TextBox 10"/>
          <p:cNvSpPr txBox="1"/>
          <p:nvPr/>
        </p:nvSpPr>
        <p:spPr>
          <a:xfrm>
            <a:off x="2468880" y="2743200"/>
            <a:ext cx="1828800" cy="182880"/>
          </a:xfrm>
          <a:prstGeom prst="rect">
            <a:avLst/>
          </a:prstGeom>
          <a:noFill/>
        </p:spPr>
        <p:txBody>
          <a:bodyPr wrap="square">
            <a:spAutoFit/>
          </a:bodyPr>
          <a:lstStyle/>
          <a:p>
            <a:pPr algn="l"/>
            <a:r>
              <a:rPr sz="1000" b="0" i="0">
                <a:solidFill>
                  <a:srgbClr val="64748B"/>
                </a:solidFill>
                <a:latin typeface="Calibri"/>
              </a:rPr>
              <a:t>@sarah_smiles · 2 hours ago</a:t>
            </a:r>
          </a:p>
        </p:txBody>
      </p:sp>
      <p:sp>
        <p:nvSpPr>
          <p:cNvPr id="12" name="TextBox 11"/>
          <p:cNvSpPr txBox="1"/>
          <p:nvPr/>
        </p:nvSpPr>
        <p:spPr>
          <a:xfrm>
            <a:off x="2011680" y="3108960"/>
            <a:ext cx="8138160" cy="1097280"/>
          </a:xfrm>
          <a:prstGeom prst="rect">
            <a:avLst/>
          </a:prstGeom>
          <a:noFill/>
        </p:spPr>
        <p:txBody>
          <a:bodyPr wrap="square">
            <a:spAutoFit/>
          </a:bodyPr>
          <a:lstStyle/>
          <a:p>
            <a:pPr algn="l"/>
            <a:r>
              <a:rPr sz="1400" b="0" i="1">
                <a:solidFill>
                  <a:srgbClr val="0F172A"/>
                </a:solidFill>
                <a:latin typeface="Calibri"/>
              </a:rPr>
              <a:t>"It feels like everyone else has it together but I'm just drowning. Every day is so exhausting and I don't see the point in trying anymore. Nobody would even notice if I just stopped."</a:t>
            </a:r>
          </a:p>
        </p:txBody>
      </p:sp>
      <p:sp>
        <p:nvSpPr>
          <p:cNvPr id="13" name="Rectangle 12"/>
          <p:cNvSpPr/>
          <p:nvPr/>
        </p:nvSpPr>
        <p:spPr>
          <a:xfrm>
            <a:off x="457200" y="4937760"/>
            <a:ext cx="11247120" cy="1280160"/>
          </a:xfrm>
          <a:prstGeom prst="rect">
            <a:avLst/>
          </a:prstGeom>
          <a:solidFill>
            <a:srgbClr val="FEF2F2"/>
          </a:solidFill>
          <a:ln w="63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5029200"/>
            <a:ext cx="10881360" cy="274320"/>
          </a:xfrm>
          <a:prstGeom prst="rect">
            <a:avLst/>
          </a:prstGeom>
          <a:noFill/>
        </p:spPr>
        <p:txBody>
          <a:bodyPr wrap="square">
            <a:spAutoFit/>
          </a:bodyPr>
          <a:lstStyle/>
          <a:p>
            <a:pPr algn="l"/>
            <a:r>
              <a:rPr sz="1200" b="1" i="0">
                <a:solidFill>
                  <a:srgbClr val="DC2626"/>
                </a:solidFill>
                <a:latin typeface="Calibri"/>
              </a:rPr>
              <a:t>The Problem:</a:t>
            </a:r>
          </a:p>
        </p:txBody>
      </p:sp>
      <p:sp>
        <p:nvSpPr>
          <p:cNvPr id="15" name="TextBox 14"/>
          <p:cNvSpPr txBox="1"/>
          <p:nvPr/>
        </p:nvSpPr>
        <p:spPr>
          <a:xfrm>
            <a:off x="640080" y="5303520"/>
            <a:ext cx="10881360" cy="822960"/>
          </a:xfrm>
          <a:prstGeom prst="rect">
            <a:avLst/>
          </a:prstGeom>
          <a:noFill/>
        </p:spPr>
        <p:txBody>
          <a:bodyPr wrap="square">
            <a:spAutoFit/>
          </a:bodyPr>
          <a:lstStyle/>
          <a:p>
            <a:pPr algn="l"/>
            <a:r>
              <a:rPr sz="1200" b="0" i="0">
                <a:solidFill>
                  <a:srgbClr val="0F172A"/>
                </a:solidFill>
                <a:latin typeface="Calibri"/>
              </a:rPr>
              <a:t>Her parents are completely unaware. Traditional mental health apps on her phone require her to actively open them and journal her feelings — which she has no motivation to do.
Without passive detection, Sarah's cry for help goes entirely unnoticed.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137160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FFFFFF"/>
                </a:solidFill>
                <a:latin typeface="Calibri"/>
              </a:rPr>
              <a:t>INTRODUCTION</a:t>
            </a:r>
          </a:p>
        </p:txBody>
      </p:sp>
      <p:sp>
        <p:nvSpPr>
          <p:cNvPr id="3" name="TextBox 2"/>
          <p:cNvSpPr txBox="1"/>
          <p:nvPr/>
        </p:nvSpPr>
        <p:spPr>
          <a:xfrm>
            <a:off x="2011680" y="347472"/>
            <a:ext cx="8961120" cy="502920"/>
          </a:xfrm>
          <a:prstGeom prst="rect">
            <a:avLst/>
          </a:prstGeom>
          <a:noFill/>
        </p:spPr>
        <p:txBody>
          <a:bodyPr wrap="none">
            <a:spAutoFit/>
          </a:bodyPr>
          <a:lstStyle/>
          <a:p>
            <a:r>
              <a:rPr sz="2200" b="1">
                <a:solidFill>
                  <a:srgbClr val="0F172A"/>
                </a:solidFill>
                <a:latin typeface="Calibri"/>
              </a:rPr>
              <a:t>Background to the </a:t>
            </a:r>
            <a:r>
              <a:rPr sz="2200" b="1">
                <a:solidFill>
                  <a:srgbClr val="4F46E5"/>
                </a:solidFill>
                <a:latin typeface="Calibri"/>
              </a:rPr>
              <a:t>Field</a:t>
            </a: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03</a:t>
            </a:r>
          </a:p>
        </p:txBody>
      </p:sp>
      <p:sp>
        <p:nvSpPr>
          <p:cNvPr id="6" name="Rectangle 5"/>
          <p:cNvSpPr/>
          <p:nvPr/>
        </p:nvSpPr>
        <p:spPr>
          <a:xfrm>
            <a:off x="457200" y="1143000"/>
            <a:ext cx="3611880" cy="2194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252728"/>
            <a:ext cx="457200" cy="4114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252728"/>
            <a:ext cx="457200" cy="411480"/>
          </a:xfrm>
          <a:prstGeom prst="rect">
            <a:avLst/>
          </a:prstGeom>
          <a:noFill/>
        </p:spPr>
        <p:txBody>
          <a:bodyPr wrap="square">
            <a:spAutoFit/>
          </a:bodyPr>
          <a:lstStyle/>
          <a:p>
            <a:pPr algn="ctr"/>
            <a:r>
              <a:rPr sz="2200" b="0" i="0" dirty="0">
                <a:solidFill>
                  <a:srgbClr val="FFFFFF"/>
                </a:solidFill>
                <a:latin typeface="Calibri"/>
              </a:rPr>
              <a:t>🌍</a:t>
            </a:r>
          </a:p>
        </p:txBody>
      </p:sp>
      <p:sp>
        <p:nvSpPr>
          <p:cNvPr id="9" name="TextBox 8"/>
          <p:cNvSpPr txBox="1"/>
          <p:nvPr/>
        </p:nvSpPr>
        <p:spPr>
          <a:xfrm>
            <a:off x="594360" y="1709928"/>
            <a:ext cx="3337560" cy="256032"/>
          </a:xfrm>
          <a:prstGeom prst="rect">
            <a:avLst/>
          </a:prstGeom>
          <a:noFill/>
        </p:spPr>
        <p:txBody>
          <a:bodyPr wrap="square">
            <a:spAutoFit/>
          </a:bodyPr>
          <a:lstStyle/>
          <a:p>
            <a:pPr algn="l"/>
            <a:r>
              <a:rPr sz="1200" b="1" i="0">
                <a:solidFill>
                  <a:srgbClr val="0F172A"/>
                </a:solidFill>
                <a:latin typeface="Calibri"/>
              </a:rPr>
              <a:t>Global Mental Health Crisis</a:t>
            </a:r>
          </a:p>
        </p:txBody>
      </p:sp>
      <p:sp>
        <p:nvSpPr>
          <p:cNvPr id="10" name="TextBox 9"/>
          <p:cNvSpPr txBox="1"/>
          <p:nvPr/>
        </p:nvSpPr>
        <p:spPr>
          <a:xfrm>
            <a:off x="594360" y="1984248"/>
            <a:ext cx="3337560" cy="1234440"/>
          </a:xfrm>
          <a:prstGeom prst="rect">
            <a:avLst/>
          </a:prstGeom>
          <a:noFill/>
        </p:spPr>
        <p:txBody>
          <a:bodyPr wrap="square">
            <a:spAutoFit/>
          </a:bodyPr>
          <a:lstStyle/>
          <a:p>
            <a:pPr algn="l"/>
            <a:r>
              <a:rPr sz="1050">
                <a:solidFill>
                  <a:srgbClr val="64748B"/>
                </a:solidFill>
                <a:latin typeface="Calibri"/>
              </a:rPr>
              <a:t>Depression affects 280 million people worldwide. Adolescents are disproportionately impacted — 1 in 7 aged 10–19 experience a mental disorder, yet less than 20% receive adequate care.</a:t>
            </a:r>
          </a:p>
        </p:txBody>
      </p:sp>
      <p:sp>
        <p:nvSpPr>
          <p:cNvPr id="11" name="Rectangle 10"/>
          <p:cNvSpPr/>
          <p:nvPr/>
        </p:nvSpPr>
        <p:spPr>
          <a:xfrm>
            <a:off x="4279392" y="1143000"/>
            <a:ext cx="3611880" cy="2194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16552" y="1252728"/>
            <a:ext cx="457200" cy="4114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16552" y="1252728"/>
            <a:ext cx="457200" cy="411480"/>
          </a:xfrm>
          <a:prstGeom prst="rect">
            <a:avLst/>
          </a:prstGeom>
          <a:noFill/>
        </p:spPr>
        <p:txBody>
          <a:bodyPr wrap="square">
            <a:spAutoFit/>
          </a:bodyPr>
          <a:lstStyle/>
          <a:p>
            <a:pPr algn="ctr"/>
            <a:r>
              <a:rPr sz="2200" b="0" i="0">
                <a:solidFill>
                  <a:srgbClr val="FFFFFF"/>
                </a:solidFill>
                <a:latin typeface="Calibri"/>
              </a:rPr>
              <a:t>📱</a:t>
            </a:r>
          </a:p>
        </p:txBody>
      </p:sp>
      <p:sp>
        <p:nvSpPr>
          <p:cNvPr id="14" name="TextBox 13"/>
          <p:cNvSpPr txBox="1"/>
          <p:nvPr/>
        </p:nvSpPr>
        <p:spPr>
          <a:xfrm>
            <a:off x="4416552" y="1709928"/>
            <a:ext cx="3337560" cy="256032"/>
          </a:xfrm>
          <a:prstGeom prst="rect">
            <a:avLst/>
          </a:prstGeom>
          <a:noFill/>
        </p:spPr>
        <p:txBody>
          <a:bodyPr wrap="square">
            <a:spAutoFit/>
          </a:bodyPr>
          <a:lstStyle/>
          <a:p>
            <a:pPr algn="l"/>
            <a:r>
              <a:rPr sz="1200" b="1" i="0">
                <a:solidFill>
                  <a:srgbClr val="0F172A"/>
                </a:solidFill>
                <a:latin typeface="Calibri"/>
              </a:rPr>
              <a:t>Adolescents &amp; Online Communication</a:t>
            </a:r>
          </a:p>
        </p:txBody>
      </p:sp>
      <p:sp>
        <p:nvSpPr>
          <p:cNvPr id="15" name="TextBox 14"/>
          <p:cNvSpPr txBox="1"/>
          <p:nvPr/>
        </p:nvSpPr>
        <p:spPr>
          <a:xfrm>
            <a:off x="4416552" y="1984248"/>
            <a:ext cx="3337560" cy="1234440"/>
          </a:xfrm>
          <a:prstGeom prst="rect">
            <a:avLst/>
          </a:prstGeom>
          <a:noFill/>
        </p:spPr>
        <p:txBody>
          <a:bodyPr wrap="square">
            <a:spAutoFit/>
          </a:bodyPr>
          <a:lstStyle/>
          <a:p>
            <a:pPr algn="l"/>
            <a:r>
              <a:rPr sz="1050">
                <a:solidFill>
                  <a:srgbClr val="64748B"/>
                </a:solidFill>
                <a:latin typeface="Calibri"/>
              </a:rPr>
              <a:t>Adolescents spend 7+ hours/day online. They frequently express emotional distress through written online text — often their primary and most candid outlet for self-expression.</a:t>
            </a:r>
          </a:p>
        </p:txBody>
      </p:sp>
      <p:sp>
        <p:nvSpPr>
          <p:cNvPr id="16" name="Rectangle 15"/>
          <p:cNvSpPr/>
          <p:nvPr/>
        </p:nvSpPr>
        <p:spPr>
          <a:xfrm>
            <a:off x="8101583" y="1143000"/>
            <a:ext cx="3611880" cy="21945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38743" y="1252728"/>
            <a:ext cx="457200" cy="4114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38743" y="1252728"/>
            <a:ext cx="457200" cy="411480"/>
          </a:xfrm>
          <a:prstGeom prst="rect">
            <a:avLst/>
          </a:prstGeom>
          <a:noFill/>
        </p:spPr>
        <p:txBody>
          <a:bodyPr wrap="square">
            <a:spAutoFit/>
          </a:bodyPr>
          <a:lstStyle/>
          <a:p>
            <a:pPr algn="ctr"/>
            <a:r>
              <a:rPr sz="2200" b="0" i="0">
                <a:solidFill>
                  <a:srgbClr val="FFFFFF"/>
                </a:solidFill>
                <a:latin typeface="Calibri"/>
              </a:rPr>
              <a:t>⚠️</a:t>
            </a:r>
          </a:p>
        </p:txBody>
      </p:sp>
      <p:sp>
        <p:nvSpPr>
          <p:cNvPr id="19" name="TextBox 18"/>
          <p:cNvSpPr txBox="1"/>
          <p:nvPr/>
        </p:nvSpPr>
        <p:spPr>
          <a:xfrm>
            <a:off x="8238743" y="1709928"/>
            <a:ext cx="3337560" cy="256032"/>
          </a:xfrm>
          <a:prstGeom prst="rect">
            <a:avLst/>
          </a:prstGeom>
          <a:noFill/>
        </p:spPr>
        <p:txBody>
          <a:bodyPr wrap="square">
            <a:spAutoFit/>
          </a:bodyPr>
          <a:lstStyle/>
          <a:p>
            <a:pPr algn="l"/>
            <a:r>
              <a:rPr sz="1200" b="1" i="0">
                <a:solidFill>
                  <a:srgbClr val="0F172A"/>
                </a:solidFill>
                <a:latin typeface="Calibri"/>
              </a:rPr>
              <a:t>The Intervention Gap</a:t>
            </a:r>
          </a:p>
        </p:txBody>
      </p:sp>
      <p:sp>
        <p:nvSpPr>
          <p:cNvPr id="20" name="TextBox 19"/>
          <p:cNvSpPr txBox="1"/>
          <p:nvPr/>
        </p:nvSpPr>
        <p:spPr>
          <a:xfrm>
            <a:off x="8238743" y="1984248"/>
            <a:ext cx="3337560" cy="1234440"/>
          </a:xfrm>
          <a:prstGeom prst="rect">
            <a:avLst/>
          </a:prstGeom>
          <a:noFill/>
        </p:spPr>
        <p:txBody>
          <a:bodyPr wrap="square">
            <a:spAutoFit/>
          </a:bodyPr>
          <a:lstStyle/>
          <a:p>
            <a:pPr algn="l"/>
            <a:r>
              <a:rPr sz="1050">
                <a:solidFill>
                  <a:srgbClr val="64748B"/>
                </a:solidFill>
                <a:latin typeface="Calibri"/>
              </a:rPr>
              <a:t>Existing tools rely on active user engagement — journaling apps, chatbots — but at-risk adolescents disengage when most distressed. Early detection requires passive, non-intrusive monitoring.</a:t>
            </a:r>
          </a:p>
        </p:txBody>
      </p:sp>
      <p:sp>
        <p:nvSpPr>
          <p:cNvPr id="21" name="Rectangle 20"/>
          <p:cNvSpPr/>
          <p:nvPr/>
        </p:nvSpPr>
        <p:spPr>
          <a:xfrm>
            <a:off x="457200" y="4407408"/>
            <a:ext cx="1444752" cy="411480"/>
          </a:xfrm>
          <a:prstGeom prst="rect">
            <a:avLst/>
          </a:prstGeom>
          <a:solidFill>
            <a:srgbClr val="FFFF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4462272"/>
            <a:ext cx="1444752" cy="320040"/>
          </a:xfrm>
          <a:prstGeom prst="rect">
            <a:avLst/>
          </a:prstGeom>
          <a:noFill/>
        </p:spPr>
        <p:txBody>
          <a:bodyPr wrap="square">
            <a:spAutoFit/>
          </a:bodyPr>
          <a:lstStyle/>
          <a:p>
            <a:pPr algn="ctr"/>
            <a:r>
              <a:rPr sz="900" b="0" i="0">
                <a:solidFill>
                  <a:srgbClr val="334155"/>
                </a:solidFill>
                <a:latin typeface="Calibri"/>
              </a:rPr>
              <a:t>👤 Writes Online</a:t>
            </a:r>
          </a:p>
        </p:txBody>
      </p:sp>
      <p:sp>
        <p:nvSpPr>
          <p:cNvPr id="23" name="TextBox 22"/>
          <p:cNvSpPr txBox="1"/>
          <p:nvPr/>
        </p:nvSpPr>
        <p:spPr>
          <a:xfrm>
            <a:off x="1920240" y="4462272"/>
            <a:ext cx="274320" cy="320040"/>
          </a:xfrm>
          <a:prstGeom prst="rect">
            <a:avLst/>
          </a:prstGeom>
          <a:noFill/>
        </p:spPr>
        <p:txBody>
          <a:bodyPr wrap="square">
            <a:spAutoFit/>
          </a:bodyPr>
          <a:lstStyle/>
          <a:p>
            <a:pPr algn="ctr"/>
            <a:r>
              <a:rPr sz="1400" b="1" i="0">
                <a:solidFill>
                  <a:srgbClr val="4F46E5"/>
                </a:solidFill>
                <a:latin typeface="Calibri"/>
              </a:rPr>
              <a:t>→</a:t>
            </a:r>
          </a:p>
        </p:txBody>
      </p:sp>
      <p:sp>
        <p:nvSpPr>
          <p:cNvPr id="24" name="Rectangle 23"/>
          <p:cNvSpPr/>
          <p:nvPr/>
        </p:nvSpPr>
        <p:spPr>
          <a:xfrm>
            <a:off x="2212848" y="4407408"/>
            <a:ext cx="1444752" cy="411480"/>
          </a:xfrm>
          <a:prstGeom prst="rect">
            <a:avLst/>
          </a:prstGeom>
          <a:solidFill>
            <a:srgbClr val="FFFF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12848" y="4462272"/>
            <a:ext cx="1444752" cy="320040"/>
          </a:xfrm>
          <a:prstGeom prst="rect">
            <a:avLst/>
          </a:prstGeom>
          <a:noFill/>
        </p:spPr>
        <p:txBody>
          <a:bodyPr wrap="square">
            <a:spAutoFit/>
          </a:bodyPr>
          <a:lstStyle/>
          <a:p>
            <a:pPr algn="ctr"/>
            <a:r>
              <a:rPr sz="900" b="0" i="0">
                <a:solidFill>
                  <a:srgbClr val="334155"/>
                </a:solidFill>
                <a:latin typeface="Calibri"/>
              </a:rPr>
              <a:t>🔍 Passive Capture</a:t>
            </a:r>
          </a:p>
        </p:txBody>
      </p:sp>
      <p:sp>
        <p:nvSpPr>
          <p:cNvPr id="26" name="TextBox 25"/>
          <p:cNvSpPr txBox="1"/>
          <p:nvPr/>
        </p:nvSpPr>
        <p:spPr>
          <a:xfrm>
            <a:off x="3675888" y="4462272"/>
            <a:ext cx="274320" cy="320040"/>
          </a:xfrm>
          <a:prstGeom prst="rect">
            <a:avLst/>
          </a:prstGeom>
          <a:noFill/>
        </p:spPr>
        <p:txBody>
          <a:bodyPr wrap="square">
            <a:spAutoFit/>
          </a:bodyPr>
          <a:lstStyle/>
          <a:p>
            <a:pPr algn="ctr"/>
            <a:r>
              <a:rPr sz="1400" b="1" i="0">
                <a:solidFill>
                  <a:srgbClr val="4F46E5"/>
                </a:solidFill>
                <a:latin typeface="Calibri"/>
              </a:rPr>
              <a:t>→</a:t>
            </a:r>
          </a:p>
        </p:txBody>
      </p:sp>
      <p:sp>
        <p:nvSpPr>
          <p:cNvPr id="27" name="Rectangle 26"/>
          <p:cNvSpPr/>
          <p:nvPr/>
        </p:nvSpPr>
        <p:spPr>
          <a:xfrm>
            <a:off x="3968496" y="4407408"/>
            <a:ext cx="1444752" cy="411480"/>
          </a:xfrm>
          <a:prstGeom prst="rect">
            <a:avLst/>
          </a:prstGeom>
          <a:solidFill>
            <a:srgbClr val="FFFF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968496" y="4462272"/>
            <a:ext cx="1444752" cy="320040"/>
          </a:xfrm>
          <a:prstGeom prst="rect">
            <a:avLst/>
          </a:prstGeom>
          <a:noFill/>
        </p:spPr>
        <p:txBody>
          <a:bodyPr wrap="square">
            <a:spAutoFit/>
          </a:bodyPr>
          <a:lstStyle/>
          <a:p>
            <a:pPr algn="ctr"/>
            <a:r>
              <a:rPr sz="900" b="0" i="0">
                <a:solidFill>
                  <a:srgbClr val="334155"/>
                </a:solidFill>
                <a:latin typeface="Calibri"/>
              </a:rPr>
              <a:t>🤖 AI Analysis</a:t>
            </a:r>
          </a:p>
        </p:txBody>
      </p:sp>
      <p:sp>
        <p:nvSpPr>
          <p:cNvPr id="29" name="TextBox 28"/>
          <p:cNvSpPr txBox="1"/>
          <p:nvPr/>
        </p:nvSpPr>
        <p:spPr>
          <a:xfrm>
            <a:off x="5431536" y="4462272"/>
            <a:ext cx="274320" cy="320040"/>
          </a:xfrm>
          <a:prstGeom prst="rect">
            <a:avLst/>
          </a:prstGeom>
          <a:noFill/>
        </p:spPr>
        <p:txBody>
          <a:bodyPr wrap="square">
            <a:spAutoFit/>
          </a:bodyPr>
          <a:lstStyle/>
          <a:p>
            <a:pPr algn="ctr"/>
            <a:r>
              <a:rPr sz="1400" b="1" i="0">
                <a:solidFill>
                  <a:srgbClr val="4F46E5"/>
                </a:solidFill>
                <a:latin typeface="Calibri"/>
              </a:rPr>
              <a:t>→</a:t>
            </a:r>
          </a:p>
        </p:txBody>
      </p:sp>
      <p:sp>
        <p:nvSpPr>
          <p:cNvPr id="30" name="Rectangle 29"/>
          <p:cNvSpPr/>
          <p:nvPr/>
        </p:nvSpPr>
        <p:spPr>
          <a:xfrm>
            <a:off x="5724144" y="4407408"/>
            <a:ext cx="1444752" cy="411480"/>
          </a:xfrm>
          <a:prstGeom prst="rect">
            <a:avLst/>
          </a:prstGeom>
          <a:solidFill>
            <a:srgbClr val="FFFF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724144" y="4462272"/>
            <a:ext cx="1444752" cy="320040"/>
          </a:xfrm>
          <a:prstGeom prst="rect">
            <a:avLst/>
          </a:prstGeom>
          <a:noFill/>
        </p:spPr>
        <p:txBody>
          <a:bodyPr wrap="square">
            <a:spAutoFit/>
          </a:bodyPr>
          <a:lstStyle/>
          <a:p>
            <a:pPr algn="ctr"/>
            <a:r>
              <a:rPr sz="900" b="0" i="0">
                <a:solidFill>
                  <a:srgbClr val="334155"/>
                </a:solidFill>
                <a:latin typeface="Calibri"/>
              </a:rPr>
              <a:t>🔔 Guardian Alert</a:t>
            </a:r>
          </a:p>
        </p:txBody>
      </p:sp>
      <p:sp>
        <p:nvSpPr>
          <p:cNvPr id="32" name="TextBox 31"/>
          <p:cNvSpPr txBox="1"/>
          <p:nvPr/>
        </p:nvSpPr>
        <p:spPr>
          <a:xfrm>
            <a:off x="7187184" y="4462272"/>
            <a:ext cx="274320" cy="320040"/>
          </a:xfrm>
          <a:prstGeom prst="rect">
            <a:avLst/>
          </a:prstGeom>
          <a:noFill/>
        </p:spPr>
        <p:txBody>
          <a:bodyPr wrap="square">
            <a:spAutoFit/>
          </a:bodyPr>
          <a:lstStyle/>
          <a:p>
            <a:pPr algn="ctr"/>
            <a:r>
              <a:rPr sz="1400" b="1" i="0">
                <a:solidFill>
                  <a:srgbClr val="4F46E5"/>
                </a:solidFill>
                <a:latin typeface="Calibri"/>
              </a:rPr>
              <a:t>→</a:t>
            </a:r>
          </a:p>
        </p:txBody>
      </p:sp>
      <p:sp>
        <p:nvSpPr>
          <p:cNvPr id="33" name="Rectangle 32"/>
          <p:cNvSpPr/>
          <p:nvPr/>
        </p:nvSpPr>
        <p:spPr>
          <a:xfrm>
            <a:off x="7479792" y="4407408"/>
            <a:ext cx="1444752" cy="411480"/>
          </a:xfrm>
          <a:prstGeom prst="rect">
            <a:avLst/>
          </a:prstGeom>
          <a:solidFill>
            <a:srgbClr val="FFFF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479792" y="4462272"/>
            <a:ext cx="1444752" cy="320040"/>
          </a:xfrm>
          <a:prstGeom prst="rect">
            <a:avLst/>
          </a:prstGeom>
          <a:noFill/>
        </p:spPr>
        <p:txBody>
          <a:bodyPr wrap="square">
            <a:spAutoFit/>
          </a:bodyPr>
          <a:lstStyle/>
          <a:p>
            <a:pPr algn="ctr"/>
            <a:r>
              <a:rPr sz="900" b="0" i="0">
                <a:solidFill>
                  <a:srgbClr val="334155"/>
                </a:solidFill>
                <a:latin typeface="Calibri"/>
              </a:rPr>
              <a:t>💚 Intervention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137160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FFFFFF"/>
                </a:solidFill>
                <a:latin typeface="Calibri"/>
              </a:rPr>
              <a:t>LITERATURE REVIEW</a:t>
            </a:r>
          </a:p>
        </p:txBody>
      </p:sp>
      <p:sp>
        <p:nvSpPr>
          <p:cNvPr id="3" name="TextBox 2"/>
          <p:cNvSpPr txBox="1"/>
          <p:nvPr/>
        </p:nvSpPr>
        <p:spPr>
          <a:xfrm>
            <a:off x="2011680" y="347472"/>
            <a:ext cx="8961120" cy="502920"/>
          </a:xfrm>
          <a:prstGeom prst="rect">
            <a:avLst/>
          </a:prstGeom>
          <a:noFill/>
        </p:spPr>
        <p:txBody>
          <a:bodyPr wrap="none">
            <a:spAutoFit/>
          </a:bodyPr>
          <a:lstStyle/>
          <a:p>
            <a:r>
              <a:rPr sz="2200" b="1">
                <a:solidFill>
                  <a:srgbClr val="0F172A"/>
                </a:solidFill>
                <a:latin typeface="Calibri"/>
              </a:rPr>
              <a:t>Key Works </a:t>
            </a:r>
            <a:r>
              <a:rPr sz="2200" b="1">
                <a:solidFill>
                  <a:srgbClr val="4F46E5"/>
                </a:solidFill>
                <a:latin typeface="Calibri"/>
              </a:rPr>
              <a:t>Reviewed</a:t>
            </a: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04</a:t>
            </a:r>
          </a:p>
        </p:txBody>
      </p:sp>
      <p:sp>
        <p:nvSpPr>
          <p:cNvPr id="6" name="Rectangle 5"/>
          <p:cNvSpPr/>
          <p:nvPr/>
        </p:nvSpPr>
        <p:spPr>
          <a:xfrm>
            <a:off x="457200" y="1115568"/>
            <a:ext cx="1828800" cy="365760"/>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12064" y="1170432"/>
            <a:ext cx="1719072" cy="274320"/>
          </a:xfrm>
          <a:prstGeom prst="rect">
            <a:avLst/>
          </a:prstGeom>
          <a:noFill/>
        </p:spPr>
        <p:txBody>
          <a:bodyPr wrap="square">
            <a:spAutoFit/>
          </a:bodyPr>
          <a:lstStyle/>
          <a:p>
            <a:pPr algn="l"/>
            <a:r>
              <a:rPr sz="850" b="1" i="0">
                <a:solidFill>
                  <a:srgbClr val="4F46E5"/>
                </a:solidFill>
                <a:latin typeface="Calibri"/>
              </a:rPr>
              <a:t>Author(s) &amp; Year</a:t>
            </a:r>
          </a:p>
        </p:txBody>
      </p:sp>
      <p:sp>
        <p:nvSpPr>
          <p:cNvPr id="8" name="Rectangle 7"/>
          <p:cNvSpPr/>
          <p:nvPr/>
        </p:nvSpPr>
        <p:spPr>
          <a:xfrm>
            <a:off x="2286000" y="1115568"/>
            <a:ext cx="2377440" cy="365760"/>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340864" y="1170432"/>
            <a:ext cx="2267712" cy="274320"/>
          </a:xfrm>
          <a:prstGeom prst="rect">
            <a:avLst/>
          </a:prstGeom>
          <a:noFill/>
        </p:spPr>
        <p:txBody>
          <a:bodyPr wrap="square">
            <a:spAutoFit/>
          </a:bodyPr>
          <a:lstStyle/>
          <a:p>
            <a:pPr algn="l"/>
            <a:r>
              <a:rPr sz="850" b="1" i="0">
                <a:solidFill>
                  <a:srgbClr val="4F46E5"/>
                </a:solidFill>
                <a:latin typeface="Calibri"/>
              </a:rPr>
              <a:t>Problem Considered</a:t>
            </a:r>
          </a:p>
        </p:txBody>
      </p:sp>
      <p:sp>
        <p:nvSpPr>
          <p:cNvPr id="10" name="Rectangle 9"/>
          <p:cNvSpPr/>
          <p:nvPr/>
        </p:nvSpPr>
        <p:spPr>
          <a:xfrm>
            <a:off x="4663440" y="1115568"/>
            <a:ext cx="2377440" cy="365760"/>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18304" y="1170432"/>
            <a:ext cx="2267712" cy="274320"/>
          </a:xfrm>
          <a:prstGeom prst="rect">
            <a:avLst/>
          </a:prstGeom>
          <a:noFill/>
        </p:spPr>
        <p:txBody>
          <a:bodyPr wrap="square">
            <a:spAutoFit/>
          </a:bodyPr>
          <a:lstStyle/>
          <a:p>
            <a:pPr algn="l"/>
            <a:r>
              <a:rPr sz="850" b="1" i="0">
                <a:solidFill>
                  <a:srgbClr val="4F46E5"/>
                </a:solidFill>
                <a:latin typeface="Calibri"/>
              </a:rPr>
              <a:t>Method Used</a:t>
            </a:r>
          </a:p>
        </p:txBody>
      </p:sp>
      <p:sp>
        <p:nvSpPr>
          <p:cNvPr id="12" name="Rectangle 11"/>
          <p:cNvSpPr/>
          <p:nvPr/>
        </p:nvSpPr>
        <p:spPr>
          <a:xfrm>
            <a:off x="7040880" y="1115568"/>
            <a:ext cx="2377440" cy="365760"/>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95744" y="1170432"/>
            <a:ext cx="2267712" cy="274320"/>
          </a:xfrm>
          <a:prstGeom prst="rect">
            <a:avLst/>
          </a:prstGeom>
          <a:noFill/>
        </p:spPr>
        <p:txBody>
          <a:bodyPr wrap="square">
            <a:spAutoFit/>
          </a:bodyPr>
          <a:lstStyle/>
          <a:p>
            <a:pPr algn="l"/>
            <a:r>
              <a:rPr sz="850" b="1" i="0">
                <a:solidFill>
                  <a:srgbClr val="4F46E5"/>
                </a:solidFill>
                <a:latin typeface="Calibri"/>
              </a:rPr>
              <a:t>Gap Identified</a:t>
            </a:r>
          </a:p>
        </p:txBody>
      </p:sp>
      <p:sp>
        <p:nvSpPr>
          <p:cNvPr id="14" name="Rectangle 13"/>
          <p:cNvSpPr/>
          <p:nvPr/>
        </p:nvSpPr>
        <p:spPr>
          <a:xfrm>
            <a:off x="9418320" y="1115568"/>
            <a:ext cx="2286000" cy="365760"/>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473184" y="1170432"/>
            <a:ext cx="2176272" cy="274320"/>
          </a:xfrm>
          <a:prstGeom prst="rect">
            <a:avLst/>
          </a:prstGeom>
          <a:noFill/>
        </p:spPr>
        <p:txBody>
          <a:bodyPr wrap="square">
            <a:spAutoFit/>
          </a:bodyPr>
          <a:lstStyle/>
          <a:p>
            <a:pPr algn="l"/>
            <a:r>
              <a:rPr sz="850" b="1" i="0">
                <a:solidFill>
                  <a:srgbClr val="4F46E5"/>
                </a:solidFill>
                <a:latin typeface="Calibri"/>
              </a:rPr>
              <a:t>Addressed by MindGuard?</a:t>
            </a:r>
          </a:p>
        </p:txBody>
      </p:sp>
      <p:sp>
        <p:nvSpPr>
          <p:cNvPr id="16" name="Rectangle 15"/>
          <p:cNvSpPr/>
          <p:nvPr/>
        </p:nvSpPr>
        <p:spPr>
          <a:xfrm>
            <a:off x="457200" y="1481328"/>
            <a:ext cx="182880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1208" y="1536192"/>
            <a:ext cx="1700784" cy="777240"/>
          </a:xfrm>
          <a:prstGeom prst="rect">
            <a:avLst/>
          </a:prstGeom>
          <a:noFill/>
        </p:spPr>
        <p:txBody>
          <a:bodyPr wrap="square">
            <a:spAutoFit/>
          </a:bodyPr>
          <a:lstStyle/>
          <a:p>
            <a:pPr algn="l"/>
            <a:r>
              <a:rPr sz="900" b="0" i="0">
                <a:solidFill>
                  <a:srgbClr val="0F172A"/>
                </a:solidFill>
                <a:latin typeface="Calibri"/>
              </a:rPr>
              <a:t>Q. Guo et al. (2024)</a:t>
            </a:r>
          </a:p>
        </p:txBody>
      </p:sp>
      <p:sp>
        <p:nvSpPr>
          <p:cNvPr id="18" name="Rectangle 17"/>
          <p:cNvSpPr/>
          <p:nvPr/>
        </p:nvSpPr>
        <p:spPr>
          <a:xfrm>
            <a:off x="2286000" y="148132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350008" y="1536192"/>
            <a:ext cx="2249424" cy="777240"/>
          </a:xfrm>
          <a:prstGeom prst="rect">
            <a:avLst/>
          </a:prstGeom>
          <a:noFill/>
        </p:spPr>
        <p:txBody>
          <a:bodyPr wrap="square">
            <a:spAutoFit/>
          </a:bodyPr>
          <a:lstStyle/>
          <a:p>
            <a:pPr algn="l"/>
            <a:r>
              <a:rPr sz="900" b="0" i="0">
                <a:solidFill>
                  <a:srgbClr val="0F172A"/>
                </a:solidFill>
                <a:latin typeface="Calibri"/>
              </a:rPr>
              <a:t>Suicidal ideation detection in social media</a:t>
            </a:r>
          </a:p>
        </p:txBody>
      </p:sp>
      <p:sp>
        <p:nvSpPr>
          <p:cNvPr id="20" name="Rectangle 19"/>
          <p:cNvSpPr/>
          <p:nvPr/>
        </p:nvSpPr>
        <p:spPr>
          <a:xfrm>
            <a:off x="4663440" y="148132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27448" y="1536192"/>
            <a:ext cx="2249424" cy="777240"/>
          </a:xfrm>
          <a:prstGeom prst="rect">
            <a:avLst/>
          </a:prstGeom>
          <a:noFill/>
        </p:spPr>
        <p:txBody>
          <a:bodyPr wrap="square">
            <a:spAutoFit/>
          </a:bodyPr>
          <a:lstStyle/>
          <a:p>
            <a:pPr algn="l"/>
            <a:r>
              <a:rPr sz="900" b="0" i="0">
                <a:solidFill>
                  <a:srgbClr val="0F172A"/>
                </a:solidFill>
                <a:latin typeface="Calibri"/>
              </a:rPr>
              <a:t>BERT-based classification on Reddit</a:t>
            </a:r>
          </a:p>
        </p:txBody>
      </p:sp>
      <p:sp>
        <p:nvSpPr>
          <p:cNvPr id="22" name="Rectangle 21"/>
          <p:cNvSpPr/>
          <p:nvPr/>
        </p:nvSpPr>
        <p:spPr>
          <a:xfrm>
            <a:off x="7040880" y="148132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04888" y="1536192"/>
            <a:ext cx="2249424" cy="777240"/>
          </a:xfrm>
          <a:prstGeom prst="rect">
            <a:avLst/>
          </a:prstGeom>
          <a:noFill/>
        </p:spPr>
        <p:txBody>
          <a:bodyPr wrap="square">
            <a:spAutoFit/>
          </a:bodyPr>
          <a:lstStyle/>
          <a:p>
            <a:pPr algn="l"/>
            <a:r>
              <a:rPr sz="900" b="0" i="0">
                <a:solidFill>
                  <a:srgbClr val="0F172A"/>
                </a:solidFill>
                <a:latin typeface="Calibri"/>
              </a:rPr>
              <a:t>Not age-targeted; no guardian alerts</a:t>
            </a:r>
          </a:p>
        </p:txBody>
      </p:sp>
      <p:sp>
        <p:nvSpPr>
          <p:cNvPr id="24" name="Rectangle 23"/>
          <p:cNvSpPr/>
          <p:nvPr/>
        </p:nvSpPr>
        <p:spPr>
          <a:xfrm>
            <a:off x="9418320" y="1481328"/>
            <a:ext cx="228600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82328" y="1536192"/>
            <a:ext cx="2157984" cy="777240"/>
          </a:xfrm>
          <a:prstGeom prst="rect">
            <a:avLst/>
          </a:prstGeom>
          <a:noFill/>
        </p:spPr>
        <p:txBody>
          <a:bodyPr wrap="square">
            <a:spAutoFit/>
          </a:bodyPr>
          <a:lstStyle/>
          <a:p>
            <a:pPr algn="l"/>
            <a:r>
              <a:rPr sz="900" b="0" i="0">
                <a:solidFill>
                  <a:srgbClr val="059669"/>
                </a:solidFill>
                <a:latin typeface="Calibri"/>
              </a:rPr>
              <a:t>✔ Age-targeted + Alerts</a:t>
            </a:r>
          </a:p>
        </p:txBody>
      </p:sp>
      <p:sp>
        <p:nvSpPr>
          <p:cNvPr id="26" name="Rectangle 25"/>
          <p:cNvSpPr/>
          <p:nvPr/>
        </p:nvSpPr>
        <p:spPr>
          <a:xfrm>
            <a:off x="457200" y="2350008"/>
            <a:ext cx="182880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1208" y="2404872"/>
            <a:ext cx="1700784" cy="777240"/>
          </a:xfrm>
          <a:prstGeom prst="rect">
            <a:avLst/>
          </a:prstGeom>
          <a:noFill/>
        </p:spPr>
        <p:txBody>
          <a:bodyPr wrap="square">
            <a:spAutoFit/>
          </a:bodyPr>
          <a:lstStyle/>
          <a:p>
            <a:pPr algn="l"/>
            <a:r>
              <a:rPr sz="900" b="0" i="0">
                <a:solidFill>
                  <a:srgbClr val="0F172A"/>
                </a:solidFill>
                <a:latin typeface="Calibri"/>
              </a:rPr>
              <a:t>Ilapaka &amp; Ghosh (2025)</a:t>
            </a:r>
          </a:p>
        </p:txBody>
      </p:sp>
      <p:sp>
        <p:nvSpPr>
          <p:cNvPr id="28" name="Rectangle 27"/>
          <p:cNvSpPr/>
          <p:nvPr/>
        </p:nvSpPr>
        <p:spPr>
          <a:xfrm>
            <a:off x="2286000" y="2350008"/>
            <a:ext cx="237744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350008" y="2404872"/>
            <a:ext cx="2249424" cy="777240"/>
          </a:xfrm>
          <a:prstGeom prst="rect">
            <a:avLst/>
          </a:prstGeom>
          <a:noFill/>
        </p:spPr>
        <p:txBody>
          <a:bodyPr wrap="square">
            <a:spAutoFit/>
          </a:bodyPr>
          <a:lstStyle/>
          <a:p>
            <a:pPr algn="l"/>
            <a:r>
              <a:rPr sz="900" b="0" i="0">
                <a:solidFill>
                  <a:srgbClr val="0F172A"/>
                </a:solidFill>
                <a:latin typeface="Calibri"/>
              </a:rPr>
              <a:t>AI chatbot for depression support</a:t>
            </a:r>
          </a:p>
        </p:txBody>
      </p:sp>
      <p:sp>
        <p:nvSpPr>
          <p:cNvPr id="30" name="Rectangle 29"/>
          <p:cNvSpPr/>
          <p:nvPr/>
        </p:nvSpPr>
        <p:spPr>
          <a:xfrm>
            <a:off x="4663440" y="2350008"/>
            <a:ext cx="237744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727448" y="2404872"/>
            <a:ext cx="2249424" cy="777240"/>
          </a:xfrm>
          <a:prstGeom prst="rect">
            <a:avLst/>
          </a:prstGeom>
          <a:noFill/>
        </p:spPr>
        <p:txBody>
          <a:bodyPr wrap="square">
            <a:spAutoFit/>
          </a:bodyPr>
          <a:lstStyle/>
          <a:p>
            <a:pPr algn="l"/>
            <a:r>
              <a:rPr sz="900" b="0" i="0">
                <a:solidFill>
                  <a:srgbClr val="0F172A"/>
                </a:solidFill>
                <a:latin typeface="Calibri"/>
              </a:rPr>
              <a:t>FAISS + RAG + active dialogue</a:t>
            </a:r>
          </a:p>
        </p:txBody>
      </p:sp>
      <p:sp>
        <p:nvSpPr>
          <p:cNvPr id="32" name="Rectangle 31"/>
          <p:cNvSpPr/>
          <p:nvPr/>
        </p:nvSpPr>
        <p:spPr>
          <a:xfrm>
            <a:off x="7040880" y="2350008"/>
            <a:ext cx="237744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104888" y="2404872"/>
            <a:ext cx="2249424" cy="777240"/>
          </a:xfrm>
          <a:prstGeom prst="rect">
            <a:avLst/>
          </a:prstGeom>
          <a:noFill/>
        </p:spPr>
        <p:txBody>
          <a:bodyPr wrap="square">
            <a:spAutoFit/>
          </a:bodyPr>
          <a:lstStyle/>
          <a:p>
            <a:pPr algn="l"/>
            <a:r>
              <a:rPr sz="900" b="0" i="0">
                <a:solidFill>
                  <a:srgbClr val="0F172A"/>
                </a:solidFill>
                <a:latin typeface="Calibri"/>
              </a:rPr>
              <a:t>Requires active user initiation</a:t>
            </a:r>
          </a:p>
        </p:txBody>
      </p:sp>
      <p:sp>
        <p:nvSpPr>
          <p:cNvPr id="34" name="Rectangle 33"/>
          <p:cNvSpPr/>
          <p:nvPr/>
        </p:nvSpPr>
        <p:spPr>
          <a:xfrm>
            <a:off x="9418320" y="2350008"/>
            <a:ext cx="228600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482328" y="2404872"/>
            <a:ext cx="2157984" cy="777240"/>
          </a:xfrm>
          <a:prstGeom prst="rect">
            <a:avLst/>
          </a:prstGeom>
          <a:noFill/>
        </p:spPr>
        <p:txBody>
          <a:bodyPr wrap="square">
            <a:spAutoFit/>
          </a:bodyPr>
          <a:lstStyle/>
          <a:p>
            <a:pPr algn="l"/>
            <a:r>
              <a:rPr sz="900" b="0" i="0">
                <a:solidFill>
                  <a:srgbClr val="059669"/>
                </a:solidFill>
                <a:latin typeface="Calibri"/>
              </a:rPr>
              <a:t>✔ Passive monitoring</a:t>
            </a:r>
          </a:p>
        </p:txBody>
      </p:sp>
      <p:sp>
        <p:nvSpPr>
          <p:cNvPr id="36" name="Rectangle 35"/>
          <p:cNvSpPr/>
          <p:nvPr/>
        </p:nvSpPr>
        <p:spPr>
          <a:xfrm>
            <a:off x="457200" y="3218688"/>
            <a:ext cx="182880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21208" y="3273552"/>
            <a:ext cx="1700784" cy="777240"/>
          </a:xfrm>
          <a:prstGeom prst="rect">
            <a:avLst/>
          </a:prstGeom>
          <a:noFill/>
        </p:spPr>
        <p:txBody>
          <a:bodyPr wrap="square">
            <a:spAutoFit/>
          </a:bodyPr>
          <a:lstStyle/>
          <a:p>
            <a:pPr algn="l"/>
            <a:r>
              <a:rPr sz="900" b="0" i="0">
                <a:solidFill>
                  <a:srgbClr val="0F172A"/>
                </a:solidFill>
                <a:latin typeface="Calibri"/>
              </a:rPr>
              <a:t>Zhang et al. (2023)</a:t>
            </a:r>
          </a:p>
        </p:txBody>
      </p:sp>
      <p:sp>
        <p:nvSpPr>
          <p:cNvPr id="38" name="Rectangle 37"/>
          <p:cNvSpPr/>
          <p:nvPr/>
        </p:nvSpPr>
        <p:spPr>
          <a:xfrm>
            <a:off x="2286000" y="321868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350008" y="3273552"/>
            <a:ext cx="2249424" cy="777240"/>
          </a:xfrm>
          <a:prstGeom prst="rect">
            <a:avLst/>
          </a:prstGeom>
          <a:noFill/>
        </p:spPr>
        <p:txBody>
          <a:bodyPr wrap="square">
            <a:spAutoFit/>
          </a:bodyPr>
          <a:lstStyle/>
          <a:p>
            <a:pPr algn="l"/>
            <a:r>
              <a:rPr sz="900" b="0" i="0">
                <a:solidFill>
                  <a:srgbClr val="0F172A"/>
                </a:solidFill>
                <a:latin typeface="Calibri"/>
              </a:rPr>
              <a:t>LLM emotional support for mental health</a:t>
            </a:r>
          </a:p>
        </p:txBody>
      </p:sp>
      <p:sp>
        <p:nvSpPr>
          <p:cNvPr id="40" name="Rectangle 39"/>
          <p:cNvSpPr/>
          <p:nvPr/>
        </p:nvSpPr>
        <p:spPr>
          <a:xfrm>
            <a:off x="4663440" y="321868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727448" y="3273552"/>
            <a:ext cx="2249424" cy="777240"/>
          </a:xfrm>
          <a:prstGeom prst="rect">
            <a:avLst/>
          </a:prstGeom>
          <a:noFill/>
        </p:spPr>
        <p:txBody>
          <a:bodyPr wrap="square">
            <a:spAutoFit/>
          </a:bodyPr>
          <a:lstStyle/>
          <a:p>
            <a:pPr algn="l"/>
            <a:r>
              <a:rPr sz="900" b="0" i="0">
                <a:solidFill>
                  <a:srgbClr val="0F172A"/>
                </a:solidFill>
                <a:latin typeface="Calibri"/>
              </a:rPr>
              <a:t>Fine-tuned LLM; overall F1 = 0.68</a:t>
            </a:r>
          </a:p>
        </p:txBody>
      </p:sp>
      <p:sp>
        <p:nvSpPr>
          <p:cNvPr id="42" name="Rectangle 41"/>
          <p:cNvSpPr/>
          <p:nvPr/>
        </p:nvSpPr>
        <p:spPr>
          <a:xfrm>
            <a:off x="7040880" y="321868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104888" y="3273552"/>
            <a:ext cx="2249424" cy="777240"/>
          </a:xfrm>
          <a:prstGeom prst="rect">
            <a:avLst/>
          </a:prstGeom>
          <a:noFill/>
        </p:spPr>
        <p:txBody>
          <a:bodyPr wrap="square">
            <a:spAutoFit/>
          </a:bodyPr>
          <a:lstStyle/>
          <a:p>
            <a:pPr algn="l"/>
            <a:r>
              <a:rPr sz="900" b="0" i="0">
                <a:solidFill>
                  <a:srgbClr val="0F172A"/>
                </a:solidFill>
                <a:latin typeface="Calibri"/>
              </a:rPr>
              <a:t>No guardian escalation; low F1</a:t>
            </a:r>
          </a:p>
        </p:txBody>
      </p:sp>
      <p:sp>
        <p:nvSpPr>
          <p:cNvPr id="44" name="Rectangle 43"/>
          <p:cNvSpPr/>
          <p:nvPr/>
        </p:nvSpPr>
        <p:spPr>
          <a:xfrm>
            <a:off x="9418320" y="3218688"/>
            <a:ext cx="228600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482328" y="3273552"/>
            <a:ext cx="2157984" cy="777240"/>
          </a:xfrm>
          <a:prstGeom prst="rect">
            <a:avLst/>
          </a:prstGeom>
          <a:noFill/>
        </p:spPr>
        <p:txBody>
          <a:bodyPr wrap="square">
            <a:spAutoFit/>
          </a:bodyPr>
          <a:lstStyle/>
          <a:p>
            <a:pPr algn="l"/>
            <a:r>
              <a:rPr sz="900" b="0" i="0">
                <a:solidFill>
                  <a:srgbClr val="059669"/>
                </a:solidFill>
                <a:latin typeface="Calibri"/>
              </a:rPr>
              <a:t>✔ Guardian dashboard + 94.1% High-Risk F1</a:t>
            </a:r>
          </a:p>
        </p:txBody>
      </p:sp>
      <p:sp>
        <p:nvSpPr>
          <p:cNvPr id="46" name="Rectangle 45"/>
          <p:cNvSpPr/>
          <p:nvPr/>
        </p:nvSpPr>
        <p:spPr>
          <a:xfrm>
            <a:off x="457200" y="4087368"/>
            <a:ext cx="182880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21208" y="4142232"/>
            <a:ext cx="1700784" cy="777240"/>
          </a:xfrm>
          <a:prstGeom prst="rect">
            <a:avLst/>
          </a:prstGeom>
          <a:noFill/>
        </p:spPr>
        <p:txBody>
          <a:bodyPr wrap="square">
            <a:spAutoFit/>
          </a:bodyPr>
          <a:lstStyle/>
          <a:p>
            <a:pPr algn="l"/>
            <a:r>
              <a:rPr sz="900" b="0" i="0">
                <a:solidFill>
                  <a:srgbClr val="0F172A"/>
                </a:solidFill>
                <a:latin typeface="Calibri"/>
              </a:rPr>
              <a:t>Fitzpatrick et al. (2022)</a:t>
            </a:r>
          </a:p>
        </p:txBody>
      </p:sp>
      <p:sp>
        <p:nvSpPr>
          <p:cNvPr id="48" name="Rectangle 47"/>
          <p:cNvSpPr/>
          <p:nvPr/>
        </p:nvSpPr>
        <p:spPr>
          <a:xfrm>
            <a:off x="2286000" y="4087368"/>
            <a:ext cx="237744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350008" y="4142232"/>
            <a:ext cx="2249424" cy="777240"/>
          </a:xfrm>
          <a:prstGeom prst="rect">
            <a:avLst/>
          </a:prstGeom>
          <a:noFill/>
        </p:spPr>
        <p:txBody>
          <a:bodyPr wrap="square">
            <a:spAutoFit/>
          </a:bodyPr>
          <a:lstStyle/>
          <a:p>
            <a:pPr algn="l"/>
            <a:r>
              <a:rPr sz="900" b="0" i="0">
                <a:solidFill>
                  <a:srgbClr val="0F172A"/>
                </a:solidFill>
                <a:latin typeface="Calibri"/>
              </a:rPr>
              <a:t>Automated CBT chatbot for depression</a:t>
            </a:r>
          </a:p>
        </p:txBody>
      </p:sp>
      <p:sp>
        <p:nvSpPr>
          <p:cNvPr id="50" name="Rectangle 49"/>
          <p:cNvSpPr/>
          <p:nvPr/>
        </p:nvSpPr>
        <p:spPr>
          <a:xfrm>
            <a:off x="4663440" y="4087368"/>
            <a:ext cx="237744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727448" y="4142232"/>
            <a:ext cx="2249424" cy="777240"/>
          </a:xfrm>
          <a:prstGeom prst="rect">
            <a:avLst/>
          </a:prstGeom>
          <a:noFill/>
        </p:spPr>
        <p:txBody>
          <a:bodyPr wrap="square">
            <a:spAutoFit/>
          </a:bodyPr>
          <a:lstStyle/>
          <a:p>
            <a:pPr algn="l"/>
            <a:r>
              <a:rPr sz="900" b="0" i="0">
                <a:solidFill>
                  <a:srgbClr val="0F172A"/>
                </a:solidFill>
                <a:latin typeface="Calibri"/>
              </a:rPr>
              <a:t>Rule-based NLP; brief daily conversations</a:t>
            </a:r>
          </a:p>
        </p:txBody>
      </p:sp>
      <p:sp>
        <p:nvSpPr>
          <p:cNvPr id="52" name="Rectangle 51"/>
          <p:cNvSpPr/>
          <p:nvPr/>
        </p:nvSpPr>
        <p:spPr>
          <a:xfrm>
            <a:off x="7040880" y="4087368"/>
            <a:ext cx="237744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104888" y="4142232"/>
            <a:ext cx="2249424" cy="777240"/>
          </a:xfrm>
          <a:prstGeom prst="rect">
            <a:avLst/>
          </a:prstGeom>
          <a:noFill/>
        </p:spPr>
        <p:txBody>
          <a:bodyPr wrap="square">
            <a:spAutoFit/>
          </a:bodyPr>
          <a:lstStyle/>
          <a:p>
            <a:pPr algn="l"/>
            <a:r>
              <a:rPr sz="900" b="0" i="0">
                <a:solidFill>
                  <a:srgbClr val="0F172A"/>
                </a:solidFill>
                <a:latin typeface="Calibri"/>
              </a:rPr>
              <a:t>Requires active engagement; no passive mode</a:t>
            </a:r>
          </a:p>
        </p:txBody>
      </p:sp>
      <p:sp>
        <p:nvSpPr>
          <p:cNvPr id="54" name="Rectangle 53"/>
          <p:cNvSpPr/>
          <p:nvPr/>
        </p:nvSpPr>
        <p:spPr>
          <a:xfrm>
            <a:off x="9418320" y="4087368"/>
            <a:ext cx="2286000" cy="868680"/>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482328" y="4142232"/>
            <a:ext cx="2157984" cy="777240"/>
          </a:xfrm>
          <a:prstGeom prst="rect">
            <a:avLst/>
          </a:prstGeom>
          <a:noFill/>
        </p:spPr>
        <p:txBody>
          <a:bodyPr wrap="square">
            <a:spAutoFit/>
          </a:bodyPr>
          <a:lstStyle/>
          <a:p>
            <a:pPr algn="l"/>
            <a:r>
              <a:rPr sz="900" b="0" i="0">
                <a:solidFill>
                  <a:srgbClr val="059669"/>
                </a:solidFill>
                <a:latin typeface="Calibri"/>
              </a:rPr>
              <a:t>✔ Zero user effort required</a:t>
            </a:r>
          </a:p>
        </p:txBody>
      </p:sp>
      <p:sp>
        <p:nvSpPr>
          <p:cNvPr id="56" name="Rectangle 55"/>
          <p:cNvSpPr/>
          <p:nvPr/>
        </p:nvSpPr>
        <p:spPr>
          <a:xfrm>
            <a:off x="457200" y="4956048"/>
            <a:ext cx="182880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21208" y="5010912"/>
            <a:ext cx="1700784" cy="777240"/>
          </a:xfrm>
          <a:prstGeom prst="rect">
            <a:avLst/>
          </a:prstGeom>
          <a:noFill/>
        </p:spPr>
        <p:txBody>
          <a:bodyPr wrap="square">
            <a:spAutoFit/>
          </a:bodyPr>
          <a:lstStyle/>
          <a:p>
            <a:pPr algn="l"/>
            <a:r>
              <a:rPr sz="900" b="0" i="0">
                <a:solidFill>
                  <a:srgbClr val="0F172A"/>
                </a:solidFill>
                <a:latin typeface="Calibri"/>
              </a:rPr>
              <a:t>Hollis et al. (2021)</a:t>
            </a:r>
          </a:p>
        </p:txBody>
      </p:sp>
      <p:sp>
        <p:nvSpPr>
          <p:cNvPr id="58" name="Rectangle 57"/>
          <p:cNvSpPr/>
          <p:nvPr/>
        </p:nvSpPr>
        <p:spPr>
          <a:xfrm>
            <a:off x="2286000" y="495604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350008" y="5010912"/>
            <a:ext cx="2249424" cy="777240"/>
          </a:xfrm>
          <a:prstGeom prst="rect">
            <a:avLst/>
          </a:prstGeom>
          <a:noFill/>
        </p:spPr>
        <p:txBody>
          <a:bodyPr wrap="square">
            <a:spAutoFit/>
          </a:bodyPr>
          <a:lstStyle/>
          <a:p>
            <a:pPr algn="l"/>
            <a:r>
              <a:rPr sz="900" b="0" i="0">
                <a:solidFill>
                  <a:srgbClr val="0F172A"/>
                </a:solidFill>
                <a:latin typeface="Calibri"/>
              </a:rPr>
              <a:t>Digital mental health for young people: review</a:t>
            </a:r>
          </a:p>
        </p:txBody>
      </p:sp>
      <p:sp>
        <p:nvSpPr>
          <p:cNvPr id="60" name="Rectangle 59"/>
          <p:cNvSpPr/>
          <p:nvPr/>
        </p:nvSpPr>
        <p:spPr>
          <a:xfrm>
            <a:off x="4663440" y="495604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727448" y="5010912"/>
            <a:ext cx="2249424" cy="777240"/>
          </a:xfrm>
          <a:prstGeom prst="rect">
            <a:avLst/>
          </a:prstGeom>
          <a:noFill/>
        </p:spPr>
        <p:txBody>
          <a:bodyPr wrap="square">
            <a:spAutoFit/>
          </a:bodyPr>
          <a:lstStyle/>
          <a:p>
            <a:pPr algn="l"/>
            <a:r>
              <a:rPr sz="900" b="0" i="0">
                <a:solidFill>
                  <a:srgbClr val="0F172A"/>
                </a:solidFill>
                <a:latin typeface="Calibri"/>
              </a:rPr>
              <a:t>Systematic review; evidence synthesis</a:t>
            </a:r>
          </a:p>
        </p:txBody>
      </p:sp>
      <p:sp>
        <p:nvSpPr>
          <p:cNvPr id="62" name="Rectangle 61"/>
          <p:cNvSpPr/>
          <p:nvPr/>
        </p:nvSpPr>
        <p:spPr>
          <a:xfrm>
            <a:off x="7040880" y="4956048"/>
            <a:ext cx="237744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104888" y="5010912"/>
            <a:ext cx="2249424" cy="777240"/>
          </a:xfrm>
          <a:prstGeom prst="rect">
            <a:avLst/>
          </a:prstGeom>
          <a:noFill/>
        </p:spPr>
        <p:txBody>
          <a:bodyPr wrap="square">
            <a:spAutoFit/>
          </a:bodyPr>
          <a:lstStyle/>
          <a:p>
            <a:pPr algn="l"/>
            <a:r>
              <a:rPr sz="900" b="0" i="0">
                <a:solidFill>
                  <a:srgbClr val="0F172A"/>
                </a:solidFill>
                <a:latin typeface="Calibri"/>
              </a:rPr>
              <a:t>Gap in passive real-time browser tools for teens</a:t>
            </a:r>
          </a:p>
        </p:txBody>
      </p:sp>
      <p:sp>
        <p:nvSpPr>
          <p:cNvPr id="64" name="Rectangle 63"/>
          <p:cNvSpPr/>
          <p:nvPr/>
        </p:nvSpPr>
        <p:spPr>
          <a:xfrm>
            <a:off x="9418320" y="4956048"/>
            <a:ext cx="2286000" cy="868680"/>
          </a:xfrm>
          <a:prstGeom prst="rect">
            <a:avLst/>
          </a:prstGeom>
          <a:solidFill>
            <a:srgbClr val="F8FAFC"/>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482328" y="5010912"/>
            <a:ext cx="2157984" cy="777240"/>
          </a:xfrm>
          <a:prstGeom prst="rect">
            <a:avLst/>
          </a:prstGeom>
          <a:noFill/>
        </p:spPr>
        <p:txBody>
          <a:bodyPr wrap="square">
            <a:spAutoFit/>
          </a:bodyPr>
          <a:lstStyle/>
          <a:p>
            <a:pPr algn="l"/>
            <a:r>
              <a:rPr sz="900" b="0" i="0">
                <a:solidFill>
                  <a:srgbClr val="059669"/>
                </a:solidFill>
                <a:latin typeface="Calibri"/>
              </a:rPr>
              <a:t>✔ Browser extension solution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137160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FFFFFF"/>
                </a:solidFill>
                <a:latin typeface="Calibri"/>
              </a:rPr>
              <a:t>STATEMENT OF PROBLEM</a:t>
            </a:r>
          </a:p>
        </p:txBody>
      </p:sp>
      <p:sp>
        <p:nvSpPr>
          <p:cNvPr id="3" name="TextBox 2"/>
          <p:cNvSpPr txBox="1"/>
          <p:nvPr/>
        </p:nvSpPr>
        <p:spPr>
          <a:xfrm>
            <a:off x="2011680" y="347472"/>
            <a:ext cx="8961120" cy="502920"/>
          </a:xfrm>
          <a:prstGeom prst="rect">
            <a:avLst/>
          </a:prstGeom>
          <a:noFill/>
        </p:spPr>
        <p:txBody>
          <a:bodyPr wrap="none">
            <a:spAutoFit/>
          </a:bodyPr>
          <a:lstStyle/>
          <a:p>
            <a:r>
              <a:rPr sz="2200" b="1">
                <a:solidFill>
                  <a:srgbClr val="0F172A"/>
                </a:solidFill>
                <a:latin typeface="Calibri"/>
              </a:rPr>
              <a:t>The </a:t>
            </a:r>
            <a:r>
              <a:rPr sz="2200" b="1">
                <a:solidFill>
                  <a:srgbClr val="4F46E5"/>
                </a:solidFill>
                <a:latin typeface="Calibri"/>
              </a:rPr>
              <a:t>Problem </a:t>
            </a:r>
            <a:r>
              <a:rPr sz="2200" b="1">
                <a:solidFill>
                  <a:srgbClr val="0F172A"/>
                </a:solidFill>
                <a:latin typeface="Calibri"/>
              </a:rPr>
              <a:t>We Solve</a:t>
            </a: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05</a:t>
            </a:r>
          </a:p>
        </p:txBody>
      </p:sp>
      <p:sp>
        <p:nvSpPr>
          <p:cNvPr id="6" name="Rectangle 5"/>
          <p:cNvSpPr/>
          <p:nvPr/>
        </p:nvSpPr>
        <p:spPr>
          <a:xfrm>
            <a:off x="457200" y="1188720"/>
            <a:ext cx="11247120" cy="117043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188720"/>
            <a:ext cx="50800" cy="1170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536192"/>
            <a:ext cx="320040" cy="320040"/>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536192"/>
            <a:ext cx="320040" cy="320040"/>
          </a:xfrm>
          <a:prstGeom prst="rect">
            <a:avLst/>
          </a:prstGeom>
          <a:noFill/>
        </p:spPr>
        <p:txBody>
          <a:bodyPr wrap="square">
            <a:spAutoFit/>
          </a:bodyPr>
          <a:lstStyle/>
          <a:p>
            <a:pPr algn="ctr"/>
            <a:r>
              <a:rPr sz="1000" b="1" i="0">
                <a:solidFill>
                  <a:srgbClr val="4F46E5"/>
                </a:solidFill>
                <a:latin typeface="Calibri"/>
              </a:rPr>
              <a:t>1</a:t>
            </a:r>
          </a:p>
        </p:txBody>
      </p:sp>
      <p:sp>
        <p:nvSpPr>
          <p:cNvPr id="10" name="TextBox 9"/>
          <p:cNvSpPr txBox="1"/>
          <p:nvPr/>
        </p:nvSpPr>
        <p:spPr>
          <a:xfrm>
            <a:off x="1051560" y="1280160"/>
            <a:ext cx="10424160" cy="274320"/>
          </a:xfrm>
          <a:prstGeom prst="rect">
            <a:avLst/>
          </a:prstGeom>
          <a:noFill/>
        </p:spPr>
        <p:txBody>
          <a:bodyPr wrap="square">
            <a:spAutoFit/>
          </a:bodyPr>
          <a:lstStyle/>
          <a:p>
            <a:pPr algn="l"/>
            <a:r>
              <a:rPr sz="1200" b="1" i="0">
                <a:solidFill>
                  <a:srgbClr val="0F172A"/>
                </a:solidFill>
                <a:latin typeface="Calibri"/>
              </a:rPr>
              <a:t>Active-Engagement Dependency</a:t>
            </a:r>
          </a:p>
        </p:txBody>
      </p:sp>
      <p:sp>
        <p:nvSpPr>
          <p:cNvPr id="11" name="TextBox 10"/>
          <p:cNvSpPr txBox="1"/>
          <p:nvPr/>
        </p:nvSpPr>
        <p:spPr>
          <a:xfrm>
            <a:off x="1051560" y="1572768"/>
            <a:ext cx="10058400" cy="475488"/>
          </a:xfrm>
          <a:prstGeom prst="rect">
            <a:avLst/>
          </a:prstGeom>
          <a:noFill/>
        </p:spPr>
        <p:txBody>
          <a:bodyPr wrap="square">
            <a:spAutoFit/>
          </a:bodyPr>
          <a:lstStyle/>
          <a:p>
            <a:pPr algn="l"/>
            <a:r>
              <a:rPr sz="1050" b="0" i="0">
                <a:solidFill>
                  <a:srgbClr val="334155"/>
                </a:solidFill>
                <a:latin typeface="Calibri"/>
              </a:rPr>
              <a:t>Existing digital mental health tools work only if the user chooses to engage. Adolescents experiencing depressive episodes are the least likely to do so — the very moment help is needed most.</a:t>
            </a:r>
          </a:p>
        </p:txBody>
      </p:sp>
      <p:sp>
        <p:nvSpPr>
          <p:cNvPr id="12" name="TextBox 11"/>
          <p:cNvSpPr txBox="1"/>
          <p:nvPr/>
        </p:nvSpPr>
        <p:spPr>
          <a:xfrm>
            <a:off x="1051560" y="2057400"/>
            <a:ext cx="10058400" cy="237744"/>
          </a:xfrm>
          <a:prstGeom prst="rect">
            <a:avLst/>
          </a:prstGeom>
          <a:noFill/>
        </p:spPr>
        <p:txBody>
          <a:bodyPr wrap="square">
            <a:spAutoFit/>
          </a:bodyPr>
          <a:lstStyle/>
          <a:p>
            <a:pPr algn="l"/>
            <a:r>
              <a:rPr sz="900" b="0" i="1">
                <a:solidFill>
                  <a:srgbClr val="4F46E5"/>
                </a:solidFill>
                <a:latin typeface="Calibri"/>
              </a:rPr>
              <a:t>(Q. Guo et al., 2024; Hollis et al., 2021)</a:t>
            </a:r>
          </a:p>
        </p:txBody>
      </p:sp>
      <p:sp>
        <p:nvSpPr>
          <p:cNvPr id="13" name="Rectangle 12"/>
          <p:cNvSpPr/>
          <p:nvPr/>
        </p:nvSpPr>
        <p:spPr>
          <a:xfrm>
            <a:off x="457200" y="2414016"/>
            <a:ext cx="11247120" cy="117043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414016"/>
            <a:ext cx="50800" cy="1170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2761488"/>
            <a:ext cx="320040" cy="320040"/>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2761488"/>
            <a:ext cx="320040" cy="320040"/>
          </a:xfrm>
          <a:prstGeom prst="rect">
            <a:avLst/>
          </a:prstGeom>
          <a:noFill/>
        </p:spPr>
        <p:txBody>
          <a:bodyPr wrap="square">
            <a:spAutoFit/>
          </a:bodyPr>
          <a:lstStyle/>
          <a:p>
            <a:pPr algn="ctr"/>
            <a:r>
              <a:rPr sz="1000" b="1" i="0">
                <a:solidFill>
                  <a:srgbClr val="4F46E5"/>
                </a:solidFill>
                <a:latin typeface="Calibri"/>
              </a:rPr>
              <a:t>2</a:t>
            </a:r>
          </a:p>
        </p:txBody>
      </p:sp>
      <p:sp>
        <p:nvSpPr>
          <p:cNvPr id="17" name="TextBox 16"/>
          <p:cNvSpPr txBox="1"/>
          <p:nvPr/>
        </p:nvSpPr>
        <p:spPr>
          <a:xfrm>
            <a:off x="1051560" y="2505456"/>
            <a:ext cx="10424160" cy="274320"/>
          </a:xfrm>
          <a:prstGeom prst="rect">
            <a:avLst/>
          </a:prstGeom>
          <a:noFill/>
        </p:spPr>
        <p:txBody>
          <a:bodyPr wrap="square">
            <a:spAutoFit/>
          </a:bodyPr>
          <a:lstStyle/>
          <a:p>
            <a:pPr algn="l"/>
            <a:r>
              <a:rPr sz="1200" b="1" i="0">
                <a:solidFill>
                  <a:srgbClr val="0F172A"/>
                </a:solidFill>
                <a:latin typeface="Calibri"/>
              </a:rPr>
              <a:t>Passive Expression Goes Undetected</a:t>
            </a:r>
          </a:p>
        </p:txBody>
      </p:sp>
      <p:sp>
        <p:nvSpPr>
          <p:cNvPr id="18" name="TextBox 17"/>
          <p:cNvSpPr txBox="1"/>
          <p:nvPr/>
        </p:nvSpPr>
        <p:spPr>
          <a:xfrm>
            <a:off x="1051560" y="2798064"/>
            <a:ext cx="10058400" cy="475488"/>
          </a:xfrm>
          <a:prstGeom prst="rect">
            <a:avLst/>
          </a:prstGeom>
          <a:noFill/>
        </p:spPr>
        <p:txBody>
          <a:bodyPr wrap="square">
            <a:spAutoFit/>
          </a:bodyPr>
          <a:lstStyle/>
          <a:p>
            <a:pPr algn="l"/>
            <a:r>
              <a:rPr sz="1050" b="0" i="0">
                <a:solidFill>
                  <a:srgbClr val="334155"/>
                </a:solidFill>
                <a:latin typeface="Calibri"/>
              </a:rPr>
              <a:t>Adolescents express distress passively through everyday online writing. No browser-based tool exists to passively capture and analyse this real-time signal without user effort.</a:t>
            </a:r>
          </a:p>
        </p:txBody>
      </p:sp>
      <p:sp>
        <p:nvSpPr>
          <p:cNvPr id="19" name="TextBox 18"/>
          <p:cNvSpPr txBox="1"/>
          <p:nvPr/>
        </p:nvSpPr>
        <p:spPr>
          <a:xfrm>
            <a:off x="1051560" y="3282696"/>
            <a:ext cx="10058400" cy="237744"/>
          </a:xfrm>
          <a:prstGeom prst="rect">
            <a:avLst/>
          </a:prstGeom>
          <a:noFill/>
        </p:spPr>
        <p:txBody>
          <a:bodyPr wrap="square">
            <a:spAutoFit/>
          </a:bodyPr>
          <a:lstStyle/>
          <a:p>
            <a:pPr algn="l"/>
            <a:r>
              <a:rPr sz="900" b="0" i="1">
                <a:solidFill>
                  <a:srgbClr val="4F46E5"/>
                </a:solidFill>
                <a:latin typeface="Calibri"/>
              </a:rPr>
              <a:t>(O'Reilly et al., 2023; Torous et al., 2021)</a:t>
            </a:r>
          </a:p>
        </p:txBody>
      </p:sp>
      <p:sp>
        <p:nvSpPr>
          <p:cNvPr id="20" name="Rectangle 19"/>
          <p:cNvSpPr/>
          <p:nvPr/>
        </p:nvSpPr>
        <p:spPr>
          <a:xfrm>
            <a:off x="457200" y="3639312"/>
            <a:ext cx="11247120" cy="117043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3639312"/>
            <a:ext cx="50800" cy="1170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94360" y="3986784"/>
            <a:ext cx="320040" cy="320040"/>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3986784"/>
            <a:ext cx="320040" cy="320040"/>
          </a:xfrm>
          <a:prstGeom prst="rect">
            <a:avLst/>
          </a:prstGeom>
          <a:noFill/>
        </p:spPr>
        <p:txBody>
          <a:bodyPr wrap="square">
            <a:spAutoFit/>
          </a:bodyPr>
          <a:lstStyle/>
          <a:p>
            <a:pPr algn="ctr"/>
            <a:r>
              <a:rPr sz="1000" b="1" i="0">
                <a:solidFill>
                  <a:srgbClr val="4F46E5"/>
                </a:solidFill>
                <a:latin typeface="Calibri"/>
              </a:rPr>
              <a:t>3</a:t>
            </a:r>
          </a:p>
        </p:txBody>
      </p:sp>
      <p:sp>
        <p:nvSpPr>
          <p:cNvPr id="24" name="TextBox 23"/>
          <p:cNvSpPr txBox="1"/>
          <p:nvPr/>
        </p:nvSpPr>
        <p:spPr>
          <a:xfrm>
            <a:off x="1051560" y="3730752"/>
            <a:ext cx="10424160" cy="274320"/>
          </a:xfrm>
          <a:prstGeom prst="rect">
            <a:avLst/>
          </a:prstGeom>
          <a:noFill/>
        </p:spPr>
        <p:txBody>
          <a:bodyPr wrap="square">
            <a:spAutoFit/>
          </a:bodyPr>
          <a:lstStyle/>
          <a:p>
            <a:pPr algn="l"/>
            <a:r>
              <a:rPr sz="1200" b="1" i="0">
                <a:solidFill>
                  <a:srgbClr val="0F172A"/>
                </a:solidFill>
                <a:latin typeface="Calibri"/>
              </a:rPr>
              <a:t>No Guardian Escalation Framework</a:t>
            </a:r>
          </a:p>
        </p:txBody>
      </p:sp>
      <p:sp>
        <p:nvSpPr>
          <p:cNvPr id="25" name="TextBox 24"/>
          <p:cNvSpPr txBox="1"/>
          <p:nvPr/>
        </p:nvSpPr>
        <p:spPr>
          <a:xfrm>
            <a:off x="1051560" y="4023360"/>
            <a:ext cx="10058400" cy="475488"/>
          </a:xfrm>
          <a:prstGeom prst="rect">
            <a:avLst/>
          </a:prstGeom>
          <a:noFill/>
        </p:spPr>
        <p:txBody>
          <a:bodyPr wrap="square">
            <a:spAutoFit/>
          </a:bodyPr>
          <a:lstStyle/>
          <a:p>
            <a:pPr algn="l"/>
            <a:r>
              <a:rPr sz="1050" b="0" i="0">
                <a:solidFill>
                  <a:srgbClr val="334155"/>
                </a:solidFill>
                <a:latin typeface="Calibri"/>
              </a:rPr>
              <a:t>State-of-the-art detection models lack an integrated guardian notification system. Detection alone does not bridge the gap between identifying risk and real-world intervention.</a:t>
            </a:r>
          </a:p>
        </p:txBody>
      </p:sp>
      <p:sp>
        <p:nvSpPr>
          <p:cNvPr id="26" name="TextBox 25"/>
          <p:cNvSpPr txBox="1"/>
          <p:nvPr/>
        </p:nvSpPr>
        <p:spPr>
          <a:xfrm>
            <a:off x="1051560" y="4507992"/>
            <a:ext cx="10058400" cy="237744"/>
          </a:xfrm>
          <a:prstGeom prst="rect">
            <a:avLst/>
          </a:prstGeom>
          <a:noFill/>
        </p:spPr>
        <p:txBody>
          <a:bodyPr wrap="square">
            <a:spAutoFit/>
          </a:bodyPr>
          <a:lstStyle/>
          <a:p>
            <a:pPr algn="l"/>
            <a:r>
              <a:rPr sz="900" b="0" i="1">
                <a:solidFill>
                  <a:srgbClr val="4F46E5"/>
                </a:solidFill>
                <a:latin typeface="Calibri"/>
              </a:rPr>
              <a:t>(Zhang et al., 2023)</a:t>
            </a:r>
          </a:p>
        </p:txBody>
      </p:sp>
      <p:sp>
        <p:nvSpPr>
          <p:cNvPr id="27" name="Rectangle 26"/>
          <p:cNvSpPr/>
          <p:nvPr/>
        </p:nvSpPr>
        <p:spPr>
          <a:xfrm>
            <a:off x="457200" y="4864608"/>
            <a:ext cx="11247120" cy="117043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4864608"/>
            <a:ext cx="50800" cy="1170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94360" y="5212080"/>
            <a:ext cx="320040" cy="320040"/>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360" y="5212080"/>
            <a:ext cx="320040" cy="320040"/>
          </a:xfrm>
          <a:prstGeom prst="rect">
            <a:avLst/>
          </a:prstGeom>
          <a:noFill/>
        </p:spPr>
        <p:txBody>
          <a:bodyPr wrap="square">
            <a:spAutoFit/>
          </a:bodyPr>
          <a:lstStyle/>
          <a:p>
            <a:pPr algn="ctr"/>
            <a:r>
              <a:rPr sz="1000" b="1" i="0">
                <a:solidFill>
                  <a:srgbClr val="4F46E5"/>
                </a:solidFill>
                <a:latin typeface="Calibri"/>
              </a:rPr>
              <a:t>4</a:t>
            </a:r>
          </a:p>
        </p:txBody>
      </p:sp>
      <p:sp>
        <p:nvSpPr>
          <p:cNvPr id="31" name="TextBox 30"/>
          <p:cNvSpPr txBox="1"/>
          <p:nvPr/>
        </p:nvSpPr>
        <p:spPr>
          <a:xfrm>
            <a:off x="1051560" y="4956048"/>
            <a:ext cx="10424160" cy="274320"/>
          </a:xfrm>
          <a:prstGeom prst="rect">
            <a:avLst/>
          </a:prstGeom>
          <a:noFill/>
        </p:spPr>
        <p:txBody>
          <a:bodyPr wrap="square">
            <a:spAutoFit/>
          </a:bodyPr>
          <a:lstStyle/>
          <a:p>
            <a:pPr algn="l"/>
            <a:r>
              <a:rPr sz="1200" b="1" i="0">
                <a:solidFill>
                  <a:srgbClr val="0F172A"/>
                </a:solidFill>
                <a:latin typeface="Calibri"/>
              </a:rPr>
              <a:t>Not Designed for Adolescents</a:t>
            </a:r>
          </a:p>
        </p:txBody>
      </p:sp>
      <p:sp>
        <p:nvSpPr>
          <p:cNvPr id="32" name="TextBox 31"/>
          <p:cNvSpPr txBox="1"/>
          <p:nvPr/>
        </p:nvSpPr>
        <p:spPr>
          <a:xfrm>
            <a:off x="1051560" y="5248656"/>
            <a:ext cx="10058400" cy="475488"/>
          </a:xfrm>
          <a:prstGeom prst="rect">
            <a:avLst/>
          </a:prstGeom>
          <a:noFill/>
        </p:spPr>
        <p:txBody>
          <a:bodyPr wrap="square">
            <a:spAutoFit/>
          </a:bodyPr>
          <a:lstStyle/>
          <a:p>
            <a:pPr algn="l"/>
            <a:r>
              <a:rPr sz="1050" b="0" i="0">
                <a:solidFill>
                  <a:srgbClr val="334155"/>
                </a:solidFill>
                <a:latin typeface="Calibri"/>
              </a:rPr>
              <a:t>Current tools ignore the informal, colloquial, and coded language unique to teenage online communication, reducing detection reliability for the most vulnerable demographic.</a:t>
            </a:r>
          </a:p>
        </p:txBody>
      </p:sp>
      <p:sp>
        <p:nvSpPr>
          <p:cNvPr id="33" name="TextBox 32"/>
          <p:cNvSpPr txBox="1"/>
          <p:nvPr/>
        </p:nvSpPr>
        <p:spPr>
          <a:xfrm>
            <a:off x="1051560" y="5733288"/>
            <a:ext cx="10058400" cy="237744"/>
          </a:xfrm>
          <a:prstGeom prst="rect">
            <a:avLst/>
          </a:prstGeom>
          <a:noFill/>
        </p:spPr>
        <p:txBody>
          <a:bodyPr wrap="square">
            <a:spAutoFit/>
          </a:bodyPr>
          <a:lstStyle/>
          <a:p>
            <a:pPr algn="l"/>
            <a:r>
              <a:rPr sz="900" b="0" i="1">
                <a:solidFill>
                  <a:srgbClr val="4F46E5"/>
                </a:solidFill>
                <a:latin typeface="Calibri"/>
              </a:rPr>
              <a:t>(Thabrew et al., 2022)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137160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FFFFFF"/>
                </a:solidFill>
                <a:latin typeface="Calibri"/>
              </a:rPr>
              <a:t>AIM</a:t>
            </a:r>
          </a:p>
        </p:txBody>
      </p:sp>
      <p:sp>
        <p:nvSpPr>
          <p:cNvPr id="3" name="TextBox 2"/>
          <p:cNvSpPr txBox="1"/>
          <p:nvPr/>
        </p:nvSpPr>
        <p:spPr>
          <a:xfrm>
            <a:off x="2011680" y="347472"/>
            <a:ext cx="8961120" cy="502920"/>
          </a:xfrm>
          <a:prstGeom prst="rect">
            <a:avLst/>
          </a:prstGeom>
          <a:noFill/>
        </p:spPr>
        <p:txBody>
          <a:bodyPr wrap="none">
            <a:spAutoFit/>
          </a:bodyPr>
          <a:lstStyle/>
          <a:p>
            <a:r>
              <a:rPr sz="2200" b="1">
                <a:solidFill>
                  <a:srgbClr val="0F172A"/>
                </a:solidFill>
                <a:latin typeface="Calibri"/>
              </a:rPr>
              <a:t>What We Set Out to </a:t>
            </a:r>
            <a:r>
              <a:rPr sz="2200" b="1">
                <a:solidFill>
                  <a:srgbClr val="4F46E5"/>
                </a:solidFill>
                <a:latin typeface="Calibri"/>
              </a:rPr>
              <a:t>Achieve</a:t>
            </a: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06</a:t>
            </a:r>
          </a:p>
        </p:txBody>
      </p:sp>
      <p:sp>
        <p:nvSpPr>
          <p:cNvPr id="6" name="Rectangle 5"/>
          <p:cNvSpPr/>
          <p:nvPr/>
        </p:nvSpPr>
        <p:spPr>
          <a:xfrm>
            <a:off x="1371600" y="1371600"/>
            <a:ext cx="9418320" cy="2926080"/>
          </a:xfrm>
          <a:prstGeom prst="rect">
            <a:avLst/>
          </a:prstGeom>
          <a:solidFill>
            <a:srgbClr val="FFFF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577840" y="1508760"/>
            <a:ext cx="1005840" cy="640080"/>
          </a:xfrm>
          <a:prstGeom prst="rect">
            <a:avLst/>
          </a:prstGeom>
          <a:noFill/>
        </p:spPr>
        <p:txBody>
          <a:bodyPr wrap="square">
            <a:spAutoFit/>
          </a:bodyPr>
          <a:lstStyle/>
          <a:p>
            <a:pPr algn="ctr"/>
            <a:r>
              <a:rPr sz="3200" b="0" i="0">
                <a:solidFill>
                  <a:srgbClr val="0F172A"/>
                </a:solidFill>
                <a:latin typeface="Calibri"/>
              </a:rPr>
              <a:t>🎯</a:t>
            </a:r>
          </a:p>
        </p:txBody>
      </p:sp>
      <p:sp>
        <p:nvSpPr>
          <p:cNvPr id="8" name="TextBox 7"/>
          <p:cNvSpPr txBox="1"/>
          <p:nvPr/>
        </p:nvSpPr>
        <p:spPr>
          <a:xfrm>
            <a:off x="1737360" y="2240280"/>
            <a:ext cx="8686800" cy="1645920"/>
          </a:xfrm>
          <a:prstGeom prst="rect">
            <a:avLst/>
          </a:prstGeom>
          <a:noFill/>
        </p:spPr>
        <p:txBody>
          <a:bodyPr wrap="square">
            <a:spAutoFit/>
          </a:bodyPr>
          <a:lstStyle/>
          <a:p>
            <a:pPr algn="ctr"/>
            <a:r>
              <a:rPr sz="1450" b="0" i="0">
                <a:solidFill>
                  <a:srgbClr val="0F172A"/>
                </a:solidFill>
                <a:latin typeface="Calibri"/>
              </a:rPr>
              <a:t>To design, develop, and evaluate a browser extension that passively monitors online text for depressive language patterns in adolescents, using a RAG-driven Large Language Model, and automatically notifies designated guardians when high-risk indicators are detected.</a:t>
            </a:r>
          </a:p>
        </p:txBody>
      </p:sp>
      <p:sp>
        <p:nvSpPr>
          <p:cNvPr id="9" name="Rectangle 8"/>
          <p:cNvSpPr/>
          <p:nvPr/>
        </p:nvSpPr>
        <p:spPr>
          <a:xfrm>
            <a:off x="1522476" y="4498848"/>
            <a:ext cx="2377440"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22476" y="4526280"/>
            <a:ext cx="2377440" cy="329184"/>
          </a:xfrm>
          <a:prstGeom prst="rect">
            <a:avLst/>
          </a:prstGeom>
          <a:noFill/>
        </p:spPr>
        <p:txBody>
          <a:bodyPr wrap="square">
            <a:spAutoFit/>
          </a:bodyPr>
          <a:lstStyle/>
          <a:p>
            <a:pPr algn="ctr"/>
            <a:r>
              <a:rPr sz="1100" b="1" i="0">
                <a:solidFill>
                  <a:srgbClr val="4F46E5"/>
                </a:solidFill>
                <a:latin typeface="Calibri"/>
              </a:rPr>
              <a:t>🔍  Passive Monitoring</a:t>
            </a:r>
          </a:p>
        </p:txBody>
      </p:sp>
      <p:sp>
        <p:nvSpPr>
          <p:cNvPr id="11" name="Rectangle 10"/>
          <p:cNvSpPr/>
          <p:nvPr/>
        </p:nvSpPr>
        <p:spPr>
          <a:xfrm>
            <a:off x="4082796" y="4498848"/>
            <a:ext cx="2377440"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82796" y="4526280"/>
            <a:ext cx="2377440" cy="329184"/>
          </a:xfrm>
          <a:prstGeom prst="rect">
            <a:avLst/>
          </a:prstGeom>
          <a:noFill/>
        </p:spPr>
        <p:txBody>
          <a:bodyPr wrap="square">
            <a:spAutoFit/>
          </a:bodyPr>
          <a:lstStyle/>
          <a:p>
            <a:pPr algn="ctr"/>
            <a:r>
              <a:rPr sz="1100" b="1" i="0">
                <a:solidFill>
                  <a:srgbClr val="4F46E5"/>
                </a:solidFill>
                <a:latin typeface="Calibri"/>
              </a:rPr>
              <a:t>🤖  RAG + LLM</a:t>
            </a:r>
          </a:p>
        </p:txBody>
      </p:sp>
      <p:sp>
        <p:nvSpPr>
          <p:cNvPr id="13" name="Rectangle 12"/>
          <p:cNvSpPr/>
          <p:nvPr/>
        </p:nvSpPr>
        <p:spPr>
          <a:xfrm>
            <a:off x="6643116" y="4498848"/>
            <a:ext cx="2377440"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43116" y="4526280"/>
            <a:ext cx="2377440" cy="329184"/>
          </a:xfrm>
          <a:prstGeom prst="rect">
            <a:avLst/>
          </a:prstGeom>
          <a:noFill/>
        </p:spPr>
        <p:txBody>
          <a:bodyPr wrap="square">
            <a:spAutoFit/>
          </a:bodyPr>
          <a:lstStyle/>
          <a:p>
            <a:pPr algn="ctr"/>
            <a:r>
              <a:rPr sz="1100" b="1" i="0">
                <a:solidFill>
                  <a:srgbClr val="4F46E5"/>
                </a:solidFill>
                <a:latin typeface="Calibri"/>
              </a:rPr>
              <a:t>🛡️  Risk Classification</a:t>
            </a:r>
          </a:p>
        </p:txBody>
      </p:sp>
      <p:sp>
        <p:nvSpPr>
          <p:cNvPr id="15" name="Rectangle 14"/>
          <p:cNvSpPr/>
          <p:nvPr/>
        </p:nvSpPr>
        <p:spPr>
          <a:xfrm>
            <a:off x="9203436" y="4498848"/>
            <a:ext cx="2377440"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03436" y="4526280"/>
            <a:ext cx="2377440" cy="329184"/>
          </a:xfrm>
          <a:prstGeom prst="rect">
            <a:avLst/>
          </a:prstGeom>
          <a:noFill/>
        </p:spPr>
        <p:txBody>
          <a:bodyPr wrap="square">
            <a:spAutoFit/>
          </a:bodyPr>
          <a:lstStyle/>
          <a:p>
            <a:pPr algn="ctr"/>
            <a:r>
              <a:rPr sz="1100" b="1" i="0">
                <a:solidFill>
                  <a:srgbClr val="4F46E5"/>
                </a:solidFill>
                <a:latin typeface="Calibri"/>
              </a:rPr>
              <a:t>🔔  Guardian Alerts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137160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FFFFFF"/>
                </a:solidFill>
                <a:latin typeface="Calibri"/>
              </a:rPr>
              <a:t>OBJECTIVES</a:t>
            </a:r>
          </a:p>
        </p:txBody>
      </p:sp>
      <p:sp>
        <p:nvSpPr>
          <p:cNvPr id="3" name="TextBox 2"/>
          <p:cNvSpPr txBox="1"/>
          <p:nvPr/>
        </p:nvSpPr>
        <p:spPr>
          <a:xfrm>
            <a:off x="2011680" y="347472"/>
            <a:ext cx="8961120" cy="502920"/>
          </a:xfrm>
          <a:prstGeom prst="rect">
            <a:avLst/>
          </a:prstGeom>
          <a:noFill/>
        </p:spPr>
        <p:txBody>
          <a:bodyPr wrap="none">
            <a:spAutoFit/>
          </a:bodyPr>
          <a:lstStyle/>
          <a:p>
            <a:r>
              <a:rPr sz="2200" b="1">
                <a:solidFill>
                  <a:srgbClr val="0F172A"/>
                </a:solidFill>
                <a:latin typeface="Calibri"/>
              </a:rPr>
              <a:t>Steps Taken to </a:t>
            </a:r>
            <a:r>
              <a:rPr sz="2200" b="1">
                <a:solidFill>
                  <a:srgbClr val="4F46E5"/>
                </a:solidFill>
                <a:latin typeface="Calibri"/>
              </a:rPr>
              <a:t>Achieve the Aim</a:t>
            </a: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07</a:t>
            </a:r>
          </a:p>
        </p:txBody>
      </p:sp>
      <p:sp>
        <p:nvSpPr>
          <p:cNvPr id="6" name="Rectangle 5"/>
          <p:cNvSpPr/>
          <p:nvPr/>
        </p:nvSpPr>
        <p:spPr>
          <a:xfrm>
            <a:off x="457200" y="1170432"/>
            <a:ext cx="112471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170432"/>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490472"/>
            <a:ext cx="384048"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490472"/>
            <a:ext cx="384048" cy="384048"/>
          </a:xfrm>
          <a:prstGeom prst="rect">
            <a:avLst/>
          </a:prstGeom>
          <a:noFill/>
        </p:spPr>
        <p:txBody>
          <a:bodyPr wrap="square">
            <a:spAutoFit/>
          </a:bodyPr>
          <a:lstStyle/>
          <a:p>
            <a:pPr algn="ctr"/>
            <a:r>
              <a:rPr sz="1000" b="1" i="0">
                <a:solidFill>
                  <a:srgbClr val="4F46E5"/>
                </a:solidFill>
                <a:latin typeface="Calibri"/>
              </a:rPr>
              <a:t>I</a:t>
            </a:r>
          </a:p>
        </p:txBody>
      </p:sp>
      <p:sp>
        <p:nvSpPr>
          <p:cNvPr id="10" name="TextBox 9"/>
          <p:cNvSpPr txBox="1"/>
          <p:nvPr/>
        </p:nvSpPr>
        <p:spPr>
          <a:xfrm>
            <a:off x="1115568" y="1280160"/>
            <a:ext cx="10241280" cy="256032"/>
          </a:xfrm>
          <a:prstGeom prst="rect">
            <a:avLst/>
          </a:prstGeom>
          <a:noFill/>
        </p:spPr>
        <p:txBody>
          <a:bodyPr wrap="square">
            <a:spAutoFit/>
          </a:bodyPr>
          <a:lstStyle/>
          <a:p>
            <a:pPr algn="l"/>
            <a:r>
              <a:rPr sz="1200" b="1" i="0">
                <a:solidFill>
                  <a:srgbClr val="0F172A"/>
                </a:solidFill>
                <a:latin typeface="Calibri"/>
              </a:rPr>
              <a:t>Collect &amp; Pre-process Dataset</a:t>
            </a:r>
          </a:p>
        </p:txBody>
      </p:sp>
      <p:sp>
        <p:nvSpPr>
          <p:cNvPr id="11" name="TextBox 10"/>
          <p:cNvSpPr txBox="1"/>
          <p:nvPr/>
        </p:nvSpPr>
        <p:spPr>
          <a:xfrm>
            <a:off x="1115568" y="1554480"/>
            <a:ext cx="10241280" cy="658368"/>
          </a:xfrm>
          <a:prstGeom prst="rect">
            <a:avLst/>
          </a:prstGeom>
          <a:noFill/>
        </p:spPr>
        <p:txBody>
          <a:bodyPr wrap="square">
            <a:spAutoFit/>
          </a:bodyPr>
          <a:lstStyle/>
          <a:p>
            <a:pPr algn="l"/>
            <a:r>
              <a:rPr sz="1050" b="0" i="0">
                <a:solidFill>
                  <a:srgbClr val="334155"/>
                </a:solidFill>
                <a:latin typeface="Calibri"/>
              </a:rPr>
              <a:t>Collect and pre-process a suitable dataset of depressive and non-depressive text samples representative of adolescent online communication (Dreaddit dataset — 2,838 samples).</a:t>
            </a:r>
          </a:p>
        </p:txBody>
      </p:sp>
      <p:sp>
        <p:nvSpPr>
          <p:cNvPr id="12" name="Rectangle 11"/>
          <p:cNvSpPr/>
          <p:nvPr/>
        </p:nvSpPr>
        <p:spPr>
          <a:xfrm>
            <a:off x="457200" y="2414016"/>
            <a:ext cx="112471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2414016"/>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94360" y="2734056"/>
            <a:ext cx="384048"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2734056"/>
            <a:ext cx="384048" cy="384048"/>
          </a:xfrm>
          <a:prstGeom prst="rect">
            <a:avLst/>
          </a:prstGeom>
          <a:noFill/>
        </p:spPr>
        <p:txBody>
          <a:bodyPr wrap="square">
            <a:spAutoFit/>
          </a:bodyPr>
          <a:lstStyle/>
          <a:p>
            <a:pPr algn="ctr"/>
            <a:r>
              <a:rPr sz="1000" b="1" i="0">
                <a:solidFill>
                  <a:srgbClr val="4F46E5"/>
                </a:solidFill>
                <a:latin typeface="Calibri"/>
              </a:rPr>
              <a:t>II</a:t>
            </a:r>
          </a:p>
        </p:txBody>
      </p:sp>
      <p:sp>
        <p:nvSpPr>
          <p:cNvPr id="16" name="TextBox 15"/>
          <p:cNvSpPr txBox="1"/>
          <p:nvPr/>
        </p:nvSpPr>
        <p:spPr>
          <a:xfrm>
            <a:off x="1115568" y="2523744"/>
            <a:ext cx="10241280" cy="256032"/>
          </a:xfrm>
          <a:prstGeom prst="rect">
            <a:avLst/>
          </a:prstGeom>
          <a:noFill/>
        </p:spPr>
        <p:txBody>
          <a:bodyPr wrap="square">
            <a:spAutoFit/>
          </a:bodyPr>
          <a:lstStyle/>
          <a:p>
            <a:pPr algn="l"/>
            <a:r>
              <a:rPr sz="1200" b="1" i="0">
                <a:solidFill>
                  <a:srgbClr val="0F172A"/>
                </a:solidFill>
                <a:latin typeface="Calibri"/>
              </a:rPr>
              <a:t>Design &amp; Develop Risk Model</a:t>
            </a:r>
          </a:p>
        </p:txBody>
      </p:sp>
      <p:sp>
        <p:nvSpPr>
          <p:cNvPr id="17" name="TextBox 16"/>
          <p:cNvSpPr txBox="1"/>
          <p:nvPr/>
        </p:nvSpPr>
        <p:spPr>
          <a:xfrm>
            <a:off x="1115568" y="2798064"/>
            <a:ext cx="10241280" cy="658368"/>
          </a:xfrm>
          <a:prstGeom prst="rect">
            <a:avLst/>
          </a:prstGeom>
          <a:noFill/>
        </p:spPr>
        <p:txBody>
          <a:bodyPr wrap="square">
            <a:spAutoFit/>
          </a:bodyPr>
          <a:lstStyle/>
          <a:p>
            <a:pPr algn="l"/>
            <a:r>
              <a:rPr sz="1050" b="0" i="0">
                <a:solidFill>
                  <a:srgbClr val="334155"/>
                </a:solidFill>
                <a:latin typeface="Calibri"/>
              </a:rPr>
              <a:t>Design and develop a trained risk classification model and evaluate the accuracy and reliability of the model's risk predictions using a hybrid NLP + RAG pipeline.</a:t>
            </a:r>
          </a:p>
        </p:txBody>
      </p:sp>
      <p:sp>
        <p:nvSpPr>
          <p:cNvPr id="18" name="Rectangle 17"/>
          <p:cNvSpPr/>
          <p:nvPr/>
        </p:nvSpPr>
        <p:spPr>
          <a:xfrm>
            <a:off x="457200" y="3657600"/>
            <a:ext cx="112471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3657600"/>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94360" y="3977640"/>
            <a:ext cx="384048"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3977640"/>
            <a:ext cx="384048" cy="384048"/>
          </a:xfrm>
          <a:prstGeom prst="rect">
            <a:avLst/>
          </a:prstGeom>
          <a:noFill/>
        </p:spPr>
        <p:txBody>
          <a:bodyPr wrap="square">
            <a:spAutoFit/>
          </a:bodyPr>
          <a:lstStyle/>
          <a:p>
            <a:pPr algn="ctr"/>
            <a:r>
              <a:rPr sz="1000" b="1" i="0">
                <a:solidFill>
                  <a:srgbClr val="4F46E5"/>
                </a:solidFill>
                <a:latin typeface="Calibri"/>
              </a:rPr>
              <a:t>III</a:t>
            </a:r>
          </a:p>
        </p:txBody>
      </p:sp>
      <p:sp>
        <p:nvSpPr>
          <p:cNvPr id="22" name="TextBox 21"/>
          <p:cNvSpPr txBox="1"/>
          <p:nvPr/>
        </p:nvSpPr>
        <p:spPr>
          <a:xfrm>
            <a:off x="1115568" y="3767328"/>
            <a:ext cx="10241280" cy="256032"/>
          </a:xfrm>
          <a:prstGeom prst="rect">
            <a:avLst/>
          </a:prstGeom>
          <a:noFill/>
        </p:spPr>
        <p:txBody>
          <a:bodyPr wrap="square">
            <a:spAutoFit/>
          </a:bodyPr>
          <a:lstStyle/>
          <a:p>
            <a:pPr algn="l"/>
            <a:r>
              <a:rPr sz="1200" b="1" i="0">
                <a:solidFill>
                  <a:srgbClr val="0F172A"/>
                </a:solidFill>
                <a:latin typeface="Calibri"/>
              </a:rPr>
              <a:t>Implement System Architecture</a:t>
            </a:r>
          </a:p>
        </p:txBody>
      </p:sp>
      <p:sp>
        <p:nvSpPr>
          <p:cNvPr id="23" name="TextBox 22"/>
          <p:cNvSpPr txBox="1"/>
          <p:nvPr/>
        </p:nvSpPr>
        <p:spPr>
          <a:xfrm>
            <a:off x="1115568" y="4041648"/>
            <a:ext cx="10241280" cy="658368"/>
          </a:xfrm>
          <a:prstGeom prst="rect">
            <a:avLst/>
          </a:prstGeom>
          <a:noFill/>
        </p:spPr>
        <p:txBody>
          <a:bodyPr wrap="square">
            <a:spAutoFit/>
          </a:bodyPr>
          <a:lstStyle/>
          <a:p>
            <a:pPr algn="l"/>
            <a:r>
              <a:rPr sz="1050" b="0" i="0">
                <a:solidFill>
                  <a:srgbClr val="334155"/>
                </a:solidFill>
                <a:latin typeface="Calibri"/>
              </a:rPr>
              <a:t>Implement the model within a browser extension architecture, incorporating a secure guardian notification framework and consent management system.</a:t>
            </a:r>
          </a:p>
        </p:txBody>
      </p:sp>
      <p:sp>
        <p:nvSpPr>
          <p:cNvPr id="24" name="Rectangle 23"/>
          <p:cNvSpPr/>
          <p:nvPr/>
        </p:nvSpPr>
        <p:spPr>
          <a:xfrm>
            <a:off x="457200" y="4901184"/>
            <a:ext cx="112471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4901184"/>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94360" y="5221224"/>
            <a:ext cx="384048" cy="384048"/>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5221224"/>
            <a:ext cx="384048" cy="384048"/>
          </a:xfrm>
          <a:prstGeom prst="rect">
            <a:avLst/>
          </a:prstGeom>
          <a:noFill/>
        </p:spPr>
        <p:txBody>
          <a:bodyPr wrap="square">
            <a:spAutoFit/>
          </a:bodyPr>
          <a:lstStyle/>
          <a:p>
            <a:pPr algn="ctr"/>
            <a:r>
              <a:rPr sz="1000" b="1" i="0">
                <a:solidFill>
                  <a:srgbClr val="4F46E5"/>
                </a:solidFill>
                <a:latin typeface="Calibri"/>
              </a:rPr>
              <a:t>IV</a:t>
            </a:r>
          </a:p>
        </p:txBody>
      </p:sp>
      <p:sp>
        <p:nvSpPr>
          <p:cNvPr id="28" name="TextBox 27"/>
          <p:cNvSpPr txBox="1"/>
          <p:nvPr/>
        </p:nvSpPr>
        <p:spPr>
          <a:xfrm>
            <a:off x="1115568" y="5010912"/>
            <a:ext cx="10241280" cy="256032"/>
          </a:xfrm>
          <a:prstGeom prst="rect">
            <a:avLst/>
          </a:prstGeom>
          <a:noFill/>
        </p:spPr>
        <p:txBody>
          <a:bodyPr wrap="square">
            <a:spAutoFit/>
          </a:bodyPr>
          <a:lstStyle/>
          <a:p>
            <a:pPr algn="l"/>
            <a:r>
              <a:rPr sz="1200" b="1" i="0">
                <a:solidFill>
                  <a:srgbClr val="0F172A"/>
                </a:solidFill>
                <a:latin typeface="Calibri"/>
              </a:rPr>
              <a:t>Evaluate Usability</a:t>
            </a:r>
          </a:p>
        </p:txBody>
      </p:sp>
      <p:sp>
        <p:nvSpPr>
          <p:cNvPr id="29" name="TextBox 28"/>
          <p:cNvSpPr txBox="1"/>
          <p:nvPr/>
        </p:nvSpPr>
        <p:spPr>
          <a:xfrm>
            <a:off x="1115568" y="5285232"/>
            <a:ext cx="10241280" cy="658368"/>
          </a:xfrm>
          <a:prstGeom prst="rect">
            <a:avLst/>
          </a:prstGeom>
          <a:noFill/>
        </p:spPr>
        <p:txBody>
          <a:bodyPr wrap="square">
            <a:spAutoFit/>
          </a:bodyPr>
          <a:lstStyle/>
          <a:p>
            <a:pPr algn="l"/>
            <a:r>
              <a:rPr sz="1050" b="0" i="0">
                <a:solidFill>
                  <a:srgbClr val="334155"/>
                </a:solidFill>
                <a:latin typeface="Calibri"/>
              </a:rPr>
              <a:t>Evaluate the usability of the system interface using the System Usability Scale (SUS) with 24 participants from the target demographic.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137160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FFFFFF"/>
                </a:solidFill>
                <a:latin typeface="Calibri"/>
              </a:rPr>
              <a:t>METHODOLOGY</a:t>
            </a:r>
          </a:p>
        </p:txBody>
      </p:sp>
      <p:sp>
        <p:nvSpPr>
          <p:cNvPr id="3" name="TextBox 2"/>
          <p:cNvSpPr txBox="1"/>
          <p:nvPr/>
        </p:nvSpPr>
        <p:spPr>
          <a:xfrm>
            <a:off x="2011680" y="347472"/>
            <a:ext cx="8961120" cy="502920"/>
          </a:xfrm>
          <a:prstGeom prst="rect">
            <a:avLst/>
          </a:prstGeom>
          <a:noFill/>
        </p:spPr>
        <p:txBody>
          <a:bodyPr wrap="none">
            <a:spAutoFit/>
          </a:bodyPr>
          <a:lstStyle/>
          <a:p>
            <a:r>
              <a:rPr sz="2200" b="1">
                <a:solidFill>
                  <a:srgbClr val="0F172A"/>
                </a:solidFill>
                <a:latin typeface="Calibri"/>
              </a:rPr>
              <a:t>How Each Objective Was </a:t>
            </a:r>
            <a:r>
              <a:rPr sz="2200" b="1">
                <a:solidFill>
                  <a:srgbClr val="4F46E5"/>
                </a:solidFill>
                <a:latin typeface="Calibri"/>
              </a:rPr>
              <a:t>Achieved</a:t>
            </a: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08</a:t>
            </a:r>
          </a:p>
        </p:txBody>
      </p:sp>
      <p:sp>
        <p:nvSpPr>
          <p:cNvPr id="6" name="Rectangle 5"/>
          <p:cNvSpPr/>
          <p:nvPr/>
        </p:nvSpPr>
        <p:spPr>
          <a:xfrm>
            <a:off x="457200" y="1115568"/>
            <a:ext cx="5303520" cy="274320"/>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33856"/>
            <a:ext cx="5303520" cy="237744"/>
          </a:xfrm>
          <a:prstGeom prst="rect">
            <a:avLst/>
          </a:prstGeom>
          <a:noFill/>
        </p:spPr>
        <p:txBody>
          <a:bodyPr wrap="square">
            <a:spAutoFit/>
          </a:bodyPr>
          <a:lstStyle/>
          <a:p>
            <a:pPr algn="ctr"/>
            <a:r>
              <a:rPr sz="800" b="1" i="0">
                <a:solidFill>
                  <a:srgbClr val="4F46E5"/>
                </a:solidFill>
                <a:latin typeface="Calibri"/>
              </a:rPr>
              <a:t>OBJECTIVE</a:t>
            </a:r>
          </a:p>
        </p:txBody>
      </p:sp>
      <p:sp>
        <p:nvSpPr>
          <p:cNvPr id="8" name="Rectangle 7"/>
          <p:cNvSpPr/>
          <p:nvPr/>
        </p:nvSpPr>
        <p:spPr>
          <a:xfrm>
            <a:off x="5943600" y="1115568"/>
            <a:ext cx="5760720" cy="274320"/>
          </a:xfrm>
          <a:prstGeom prst="rect">
            <a:avLst/>
          </a:prstGeom>
          <a:solidFill>
            <a:srgbClr val="ECFDF5"/>
          </a:solidFill>
          <a:ln w="381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0" y="1133856"/>
            <a:ext cx="5760720" cy="237744"/>
          </a:xfrm>
          <a:prstGeom prst="rect">
            <a:avLst/>
          </a:prstGeom>
          <a:noFill/>
        </p:spPr>
        <p:txBody>
          <a:bodyPr wrap="square">
            <a:spAutoFit/>
          </a:bodyPr>
          <a:lstStyle/>
          <a:p>
            <a:pPr algn="ctr"/>
            <a:r>
              <a:rPr sz="800" b="1" i="0">
                <a:solidFill>
                  <a:srgbClr val="059669"/>
                </a:solidFill>
                <a:latin typeface="Calibri"/>
              </a:rPr>
              <a:t>METHOD USED</a:t>
            </a:r>
          </a:p>
        </p:txBody>
      </p:sp>
      <p:sp>
        <p:nvSpPr>
          <p:cNvPr id="10" name="Rectangle 9"/>
          <p:cNvSpPr/>
          <p:nvPr/>
        </p:nvSpPr>
        <p:spPr>
          <a:xfrm>
            <a:off x="457200" y="1481328"/>
            <a:ext cx="5303520" cy="1097280"/>
          </a:xfrm>
          <a:prstGeom prst="rect">
            <a:avLst/>
          </a:prstGeom>
          <a:solidFill>
            <a:srgbClr val="FFFF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554480"/>
            <a:ext cx="5029200" cy="219456"/>
          </a:xfrm>
          <a:prstGeom prst="rect">
            <a:avLst/>
          </a:prstGeom>
          <a:noFill/>
        </p:spPr>
        <p:txBody>
          <a:bodyPr wrap="square">
            <a:spAutoFit/>
          </a:bodyPr>
          <a:lstStyle/>
          <a:p>
            <a:pPr algn="l"/>
            <a:r>
              <a:rPr sz="900" b="1" i="0">
                <a:solidFill>
                  <a:srgbClr val="4F46E5"/>
                </a:solidFill>
                <a:latin typeface="Calibri"/>
              </a:rPr>
              <a:t>Obj I — Dataset</a:t>
            </a:r>
          </a:p>
        </p:txBody>
      </p:sp>
      <p:sp>
        <p:nvSpPr>
          <p:cNvPr id="12" name="TextBox 11"/>
          <p:cNvSpPr txBox="1"/>
          <p:nvPr/>
        </p:nvSpPr>
        <p:spPr>
          <a:xfrm>
            <a:off x="594360" y="1792224"/>
            <a:ext cx="4937760" cy="713232"/>
          </a:xfrm>
          <a:prstGeom prst="rect">
            <a:avLst/>
          </a:prstGeom>
          <a:noFill/>
        </p:spPr>
        <p:txBody>
          <a:bodyPr wrap="square">
            <a:spAutoFit/>
          </a:bodyPr>
          <a:lstStyle/>
          <a:p>
            <a:pPr algn="l"/>
            <a:r>
              <a:rPr sz="1000" b="0" i="0">
                <a:solidFill>
                  <a:srgbClr val="334155"/>
                </a:solidFill>
                <a:latin typeface="Calibri"/>
              </a:rPr>
              <a:t>Dreaddit Reddit dataset · 2,838 samples · Colloquial adolescent-style text</a:t>
            </a:r>
          </a:p>
        </p:txBody>
      </p:sp>
      <p:sp>
        <p:nvSpPr>
          <p:cNvPr id="13" name="TextBox 12"/>
          <p:cNvSpPr txBox="1"/>
          <p:nvPr/>
        </p:nvSpPr>
        <p:spPr>
          <a:xfrm>
            <a:off x="5623560" y="1865376"/>
            <a:ext cx="274320" cy="329184"/>
          </a:xfrm>
          <a:prstGeom prst="rect">
            <a:avLst/>
          </a:prstGeom>
          <a:noFill/>
        </p:spPr>
        <p:txBody>
          <a:bodyPr wrap="square">
            <a:spAutoFit/>
          </a:bodyPr>
          <a:lstStyle/>
          <a:p>
            <a:pPr algn="ctr"/>
            <a:r>
              <a:rPr sz="1800" b="1" i="0">
                <a:solidFill>
                  <a:srgbClr val="4F46E5"/>
                </a:solidFill>
                <a:latin typeface="Calibri"/>
              </a:rPr>
              <a:t>→</a:t>
            </a:r>
          </a:p>
        </p:txBody>
      </p:sp>
      <p:sp>
        <p:nvSpPr>
          <p:cNvPr id="14" name="Rectangle 13"/>
          <p:cNvSpPr/>
          <p:nvPr/>
        </p:nvSpPr>
        <p:spPr>
          <a:xfrm>
            <a:off x="5943600" y="1481328"/>
            <a:ext cx="5760720" cy="1097280"/>
          </a:xfrm>
          <a:prstGeom prst="rect">
            <a:avLst/>
          </a:prstGeom>
          <a:solidFill>
            <a:srgbClr val="FFFFFF"/>
          </a:solidFill>
          <a:ln w="508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80760" y="1572768"/>
            <a:ext cx="5486400" cy="932688"/>
          </a:xfrm>
          <a:prstGeom prst="rect">
            <a:avLst/>
          </a:prstGeom>
          <a:noFill/>
        </p:spPr>
        <p:txBody>
          <a:bodyPr wrap="square">
            <a:spAutoFit/>
          </a:bodyPr>
          <a:lstStyle/>
          <a:p>
            <a:pPr algn="l"/>
            <a:r>
              <a:rPr sz="1000" b="0" i="0">
                <a:solidFill>
                  <a:srgbClr val="334155"/>
                </a:solidFill>
                <a:latin typeface="Calibri"/>
              </a:rPr>
              <a:t>Text cleaning, stopword removal, lemmatisation. FAISS embedding index built using sentence-transformer embeddings (all-MiniLM-L6-v2).</a:t>
            </a:r>
          </a:p>
        </p:txBody>
      </p:sp>
      <p:sp>
        <p:nvSpPr>
          <p:cNvPr id="16" name="Rectangle 15"/>
          <p:cNvSpPr/>
          <p:nvPr/>
        </p:nvSpPr>
        <p:spPr>
          <a:xfrm>
            <a:off x="457200" y="2624328"/>
            <a:ext cx="5303520" cy="1097280"/>
          </a:xfrm>
          <a:prstGeom prst="rect">
            <a:avLst/>
          </a:prstGeom>
          <a:solidFill>
            <a:srgbClr val="FFFF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2697480"/>
            <a:ext cx="5029200" cy="219456"/>
          </a:xfrm>
          <a:prstGeom prst="rect">
            <a:avLst/>
          </a:prstGeom>
          <a:noFill/>
        </p:spPr>
        <p:txBody>
          <a:bodyPr wrap="square">
            <a:spAutoFit/>
          </a:bodyPr>
          <a:lstStyle/>
          <a:p>
            <a:pPr algn="l"/>
            <a:r>
              <a:rPr sz="900" b="1" i="0">
                <a:solidFill>
                  <a:srgbClr val="4F46E5"/>
                </a:solidFill>
                <a:latin typeface="Calibri"/>
              </a:rPr>
              <a:t>Obj II — Risk Model</a:t>
            </a:r>
          </a:p>
        </p:txBody>
      </p:sp>
      <p:sp>
        <p:nvSpPr>
          <p:cNvPr id="18" name="TextBox 17"/>
          <p:cNvSpPr txBox="1"/>
          <p:nvPr/>
        </p:nvSpPr>
        <p:spPr>
          <a:xfrm>
            <a:off x="594360" y="2935224"/>
            <a:ext cx="4937760" cy="713232"/>
          </a:xfrm>
          <a:prstGeom prst="rect">
            <a:avLst/>
          </a:prstGeom>
          <a:noFill/>
        </p:spPr>
        <p:txBody>
          <a:bodyPr wrap="square">
            <a:spAutoFit/>
          </a:bodyPr>
          <a:lstStyle/>
          <a:p>
            <a:pPr algn="l"/>
            <a:r>
              <a:rPr sz="1000" b="0" i="0">
                <a:solidFill>
                  <a:srgbClr val="334155"/>
                </a:solidFill>
                <a:latin typeface="Calibri"/>
              </a:rPr>
              <a:t>3-class Risk Engine: Low / Moderate / High. Hybrid NLP scoring + RAG retrieval.</a:t>
            </a:r>
          </a:p>
        </p:txBody>
      </p:sp>
      <p:sp>
        <p:nvSpPr>
          <p:cNvPr id="19" name="TextBox 18"/>
          <p:cNvSpPr txBox="1"/>
          <p:nvPr/>
        </p:nvSpPr>
        <p:spPr>
          <a:xfrm>
            <a:off x="5623560" y="3008376"/>
            <a:ext cx="274320" cy="329184"/>
          </a:xfrm>
          <a:prstGeom prst="rect">
            <a:avLst/>
          </a:prstGeom>
          <a:noFill/>
        </p:spPr>
        <p:txBody>
          <a:bodyPr wrap="square">
            <a:spAutoFit/>
          </a:bodyPr>
          <a:lstStyle/>
          <a:p>
            <a:pPr algn="ctr"/>
            <a:r>
              <a:rPr sz="1800" b="1" i="0">
                <a:solidFill>
                  <a:srgbClr val="4F46E5"/>
                </a:solidFill>
                <a:latin typeface="Calibri"/>
              </a:rPr>
              <a:t>→</a:t>
            </a:r>
          </a:p>
        </p:txBody>
      </p:sp>
      <p:sp>
        <p:nvSpPr>
          <p:cNvPr id="20" name="Rectangle 19"/>
          <p:cNvSpPr/>
          <p:nvPr/>
        </p:nvSpPr>
        <p:spPr>
          <a:xfrm>
            <a:off x="5943600" y="2624328"/>
            <a:ext cx="5760720" cy="1097280"/>
          </a:xfrm>
          <a:prstGeom prst="rect">
            <a:avLst/>
          </a:prstGeom>
          <a:solidFill>
            <a:srgbClr val="FFFFFF"/>
          </a:solidFill>
          <a:ln w="508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80760" y="2715768"/>
            <a:ext cx="5486400" cy="932688"/>
          </a:xfrm>
          <a:prstGeom prst="rect">
            <a:avLst/>
          </a:prstGeom>
          <a:noFill/>
        </p:spPr>
        <p:txBody>
          <a:bodyPr wrap="square">
            <a:spAutoFit/>
          </a:bodyPr>
          <a:lstStyle/>
          <a:p>
            <a:pPr algn="l"/>
            <a:r>
              <a:rPr sz="1000" b="0" i="0">
                <a:solidFill>
                  <a:srgbClr val="334155"/>
                </a:solidFill>
                <a:latin typeface="Calibri"/>
              </a:rPr>
              <a:t>RAG Pipeline: FAISS vector search retrieves semantically similar cases → Gemini 1.5 Flash reasons over context → produces risk level + explanation. 14-day temporal window (DSM-5 aligned).</a:t>
            </a:r>
          </a:p>
        </p:txBody>
      </p:sp>
      <p:sp>
        <p:nvSpPr>
          <p:cNvPr id="22" name="Rectangle 21"/>
          <p:cNvSpPr/>
          <p:nvPr/>
        </p:nvSpPr>
        <p:spPr>
          <a:xfrm>
            <a:off x="457200" y="3767328"/>
            <a:ext cx="5303520" cy="1097280"/>
          </a:xfrm>
          <a:prstGeom prst="rect">
            <a:avLst/>
          </a:prstGeom>
          <a:solidFill>
            <a:srgbClr val="FFFF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3840480"/>
            <a:ext cx="5029200" cy="219456"/>
          </a:xfrm>
          <a:prstGeom prst="rect">
            <a:avLst/>
          </a:prstGeom>
          <a:noFill/>
        </p:spPr>
        <p:txBody>
          <a:bodyPr wrap="square">
            <a:spAutoFit/>
          </a:bodyPr>
          <a:lstStyle/>
          <a:p>
            <a:pPr algn="l"/>
            <a:r>
              <a:rPr sz="900" b="1" i="0">
                <a:solidFill>
                  <a:srgbClr val="4F46E5"/>
                </a:solidFill>
                <a:latin typeface="Calibri"/>
              </a:rPr>
              <a:t>Obj III — System</a:t>
            </a:r>
          </a:p>
        </p:txBody>
      </p:sp>
      <p:sp>
        <p:nvSpPr>
          <p:cNvPr id="24" name="TextBox 23"/>
          <p:cNvSpPr txBox="1"/>
          <p:nvPr/>
        </p:nvSpPr>
        <p:spPr>
          <a:xfrm>
            <a:off x="594360" y="4078224"/>
            <a:ext cx="4937760" cy="713232"/>
          </a:xfrm>
          <a:prstGeom prst="rect">
            <a:avLst/>
          </a:prstGeom>
          <a:noFill/>
        </p:spPr>
        <p:txBody>
          <a:bodyPr wrap="square">
            <a:spAutoFit/>
          </a:bodyPr>
          <a:lstStyle/>
          <a:p>
            <a:pPr algn="l"/>
            <a:r>
              <a:rPr sz="1000" b="0" i="0">
                <a:solidFill>
                  <a:srgbClr val="334155"/>
                </a:solidFill>
                <a:latin typeface="Calibri"/>
              </a:rPr>
              <a:t>Browser extension (JS), FastAPI backend, Guardian dashboard (HTML/JS).</a:t>
            </a:r>
          </a:p>
        </p:txBody>
      </p:sp>
      <p:sp>
        <p:nvSpPr>
          <p:cNvPr id="25" name="TextBox 24"/>
          <p:cNvSpPr txBox="1"/>
          <p:nvPr/>
        </p:nvSpPr>
        <p:spPr>
          <a:xfrm>
            <a:off x="5623560" y="4151376"/>
            <a:ext cx="274320" cy="329184"/>
          </a:xfrm>
          <a:prstGeom prst="rect">
            <a:avLst/>
          </a:prstGeom>
          <a:noFill/>
        </p:spPr>
        <p:txBody>
          <a:bodyPr wrap="square">
            <a:spAutoFit/>
          </a:bodyPr>
          <a:lstStyle/>
          <a:p>
            <a:pPr algn="ctr"/>
            <a:r>
              <a:rPr sz="1800" b="1" i="0">
                <a:solidFill>
                  <a:srgbClr val="4F46E5"/>
                </a:solidFill>
                <a:latin typeface="Calibri"/>
              </a:rPr>
              <a:t>→</a:t>
            </a:r>
          </a:p>
        </p:txBody>
      </p:sp>
      <p:sp>
        <p:nvSpPr>
          <p:cNvPr id="26" name="Rectangle 25"/>
          <p:cNvSpPr/>
          <p:nvPr/>
        </p:nvSpPr>
        <p:spPr>
          <a:xfrm>
            <a:off x="5943600" y="3767328"/>
            <a:ext cx="5760720" cy="1097280"/>
          </a:xfrm>
          <a:prstGeom prst="rect">
            <a:avLst/>
          </a:prstGeom>
          <a:solidFill>
            <a:srgbClr val="FFFFFF"/>
          </a:solidFill>
          <a:ln w="508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80760" y="3858768"/>
            <a:ext cx="5486400" cy="932688"/>
          </a:xfrm>
          <a:prstGeom prst="rect">
            <a:avLst/>
          </a:prstGeom>
          <a:noFill/>
        </p:spPr>
        <p:txBody>
          <a:bodyPr wrap="square">
            <a:spAutoFit/>
          </a:bodyPr>
          <a:lstStyle/>
          <a:p>
            <a:pPr algn="l"/>
            <a:r>
              <a:rPr sz="1000" b="0" i="0">
                <a:solidFill>
                  <a:srgbClr val="334155"/>
                </a:solidFill>
                <a:latin typeface="Calibri"/>
              </a:rPr>
              <a:t>Design Science Research (DSR). Passive text interception → encrypted API call → risk classification → conditional guardian email alert with consent verification.</a:t>
            </a:r>
          </a:p>
        </p:txBody>
      </p:sp>
      <p:sp>
        <p:nvSpPr>
          <p:cNvPr id="28" name="Rectangle 27"/>
          <p:cNvSpPr/>
          <p:nvPr/>
        </p:nvSpPr>
        <p:spPr>
          <a:xfrm>
            <a:off x="457200" y="4910328"/>
            <a:ext cx="5303520" cy="1097280"/>
          </a:xfrm>
          <a:prstGeom prst="rect">
            <a:avLst/>
          </a:prstGeom>
          <a:solidFill>
            <a:srgbClr val="FFFF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4983480"/>
            <a:ext cx="5029200" cy="219456"/>
          </a:xfrm>
          <a:prstGeom prst="rect">
            <a:avLst/>
          </a:prstGeom>
          <a:noFill/>
        </p:spPr>
        <p:txBody>
          <a:bodyPr wrap="square">
            <a:spAutoFit/>
          </a:bodyPr>
          <a:lstStyle/>
          <a:p>
            <a:pPr algn="l"/>
            <a:r>
              <a:rPr sz="900" b="1" i="0">
                <a:solidFill>
                  <a:srgbClr val="4F46E5"/>
                </a:solidFill>
                <a:latin typeface="Calibri"/>
              </a:rPr>
              <a:t>Obj IV — Evaluation</a:t>
            </a:r>
          </a:p>
        </p:txBody>
      </p:sp>
      <p:sp>
        <p:nvSpPr>
          <p:cNvPr id="30" name="TextBox 29"/>
          <p:cNvSpPr txBox="1"/>
          <p:nvPr/>
        </p:nvSpPr>
        <p:spPr>
          <a:xfrm>
            <a:off x="594360" y="5221224"/>
            <a:ext cx="4937760" cy="713232"/>
          </a:xfrm>
          <a:prstGeom prst="rect">
            <a:avLst/>
          </a:prstGeom>
          <a:noFill/>
        </p:spPr>
        <p:txBody>
          <a:bodyPr wrap="square">
            <a:spAutoFit/>
          </a:bodyPr>
          <a:lstStyle/>
          <a:p>
            <a:pPr algn="l"/>
            <a:r>
              <a:rPr sz="1000" b="0" i="0">
                <a:solidFill>
                  <a:srgbClr val="334155"/>
                </a:solidFill>
                <a:latin typeface="Calibri"/>
              </a:rPr>
              <a:t>SUS questionnaire + model benchmarking on 42-sample held-out test set.</a:t>
            </a:r>
          </a:p>
        </p:txBody>
      </p:sp>
      <p:sp>
        <p:nvSpPr>
          <p:cNvPr id="31" name="TextBox 30"/>
          <p:cNvSpPr txBox="1"/>
          <p:nvPr/>
        </p:nvSpPr>
        <p:spPr>
          <a:xfrm>
            <a:off x="5623560" y="5294376"/>
            <a:ext cx="274320" cy="329184"/>
          </a:xfrm>
          <a:prstGeom prst="rect">
            <a:avLst/>
          </a:prstGeom>
          <a:noFill/>
        </p:spPr>
        <p:txBody>
          <a:bodyPr wrap="square">
            <a:spAutoFit/>
          </a:bodyPr>
          <a:lstStyle/>
          <a:p>
            <a:pPr algn="ctr"/>
            <a:r>
              <a:rPr sz="1800" b="1" i="0">
                <a:solidFill>
                  <a:srgbClr val="4F46E5"/>
                </a:solidFill>
                <a:latin typeface="Calibri"/>
              </a:rPr>
              <a:t>→</a:t>
            </a:r>
          </a:p>
        </p:txBody>
      </p:sp>
      <p:sp>
        <p:nvSpPr>
          <p:cNvPr id="32" name="Rectangle 31"/>
          <p:cNvSpPr/>
          <p:nvPr/>
        </p:nvSpPr>
        <p:spPr>
          <a:xfrm>
            <a:off x="5943600" y="4910328"/>
            <a:ext cx="5760720" cy="1097280"/>
          </a:xfrm>
          <a:prstGeom prst="rect">
            <a:avLst/>
          </a:prstGeom>
          <a:solidFill>
            <a:srgbClr val="FFFFFF"/>
          </a:solidFill>
          <a:ln w="508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80760" y="5001768"/>
            <a:ext cx="5486400" cy="932688"/>
          </a:xfrm>
          <a:prstGeom prst="rect">
            <a:avLst/>
          </a:prstGeom>
          <a:noFill/>
        </p:spPr>
        <p:txBody>
          <a:bodyPr wrap="square">
            <a:spAutoFit/>
          </a:bodyPr>
          <a:lstStyle/>
          <a:p>
            <a:pPr algn="l"/>
            <a:r>
              <a:rPr sz="1000" b="0" i="0">
                <a:solidFill>
                  <a:srgbClr val="334155"/>
                </a:solidFill>
                <a:latin typeface="Calibri"/>
              </a:rPr>
              <a:t>Quantitative: Accuracy, Precision, Recall, F1, Confusion Matrix. Qualitative: 10-item SUS with 24 participants on live extension + guardian dashboard.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137160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FFFFFF"/>
                </a:solidFill>
                <a:latin typeface="Calibri"/>
              </a:rPr>
              <a:t>RESULTS</a:t>
            </a:r>
          </a:p>
        </p:txBody>
      </p:sp>
      <p:sp>
        <p:nvSpPr>
          <p:cNvPr id="3" name="TextBox 2"/>
          <p:cNvSpPr txBox="1"/>
          <p:nvPr/>
        </p:nvSpPr>
        <p:spPr>
          <a:xfrm>
            <a:off x="2011680" y="347472"/>
            <a:ext cx="8961120" cy="502920"/>
          </a:xfrm>
          <a:prstGeom prst="rect">
            <a:avLst/>
          </a:prstGeom>
          <a:noFill/>
        </p:spPr>
        <p:txBody>
          <a:bodyPr wrap="none">
            <a:spAutoFit/>
          </a:bodyPr>
          <a:lstStyle/>
          <a:p>
            <a:r>
              <a:rPr sz="2200" b="1">
                <a:solidFill>
                  <a:srgbClr val="0F172A"/>
                </a:solidFill>
                <a:latin typeface="Calibri"/>
              </a:rPr>
              <a:t>Objective I &amp; II — </a:t>
            </a:r>
            <a:r>
              <a:rPr sz="2200" b="1">
                <a:solidFill>
                  <a:srgbClr val="4F46E5"/>
                </a:solidFill>
                <a:latin typeface="Calibri"/>
              </a:rPr>
              <a:t>Model Performance</a:t>
            </a: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09</a:t>
            </a:r>
          </a:p>
        </p:txBody>
      </p:sp>
      <p:sp>
        <p:nvSpPr>
          <p:cNvPr id="6" name="Rectangle 5"/>
          <p:cNvSpPr/>
          <p:nvPr/>
        </p:nvSpPr>
        <p:spPr>
          <a:xfrm>
            <a:off x="457200" y="1115568"/>
            <a:ext cx="2606040" cy="868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80160"/>
            <a:ext cx="2606040" cy="502920"/>
          </a:xfrm>
          <a:prstGeom prst="rect">
            <a:avLst/>
          </a:prstGeom>
          <a:noFill/>
        </p:spPr>
        <p:txBody>
          <a:bodyPr wrap="square">
            <a:spAutoFit/>
          </a:bodyPr>
          <a:lstStyle/>
          <a:p>
            <a:pPr algn="ctr"/>
            <a:r>
              <a:rPr sz="2800" b="1" i="0">
                <a:solidFill>
                  <a:srgbClr val="4F46E5"/>
                </a:solidFill>
                <a:latin typeface="Calibri"/>
              </a:rPr>
              <a:t>88.1%</a:t>
            </a:r>
          </a:p>
        </p:txBody>
      </p:sp>
      <p:sp>
        <p:nvSpPr>
          <p:cNvPr id="8" name="TextBox 7"/>
          <p:cNvSpPr txBox="1"/>
          <p:nvPr/>
        </p:nvSpPr>
        <p:spPr>
          <a:xfrm>
            <a:off x="457200" y="1801368"/>
            <a:ext cx="2606040" cy="256032"/>
          </a:xfrm>
          <a:prstGeom prst="rect">
            <a:avLst/>
          </a:prstGeom>
          <a:noFill/>
        </p:spPr>
        <p:txBody>
          <a:bodyPr wrap="square">
            <a:spAutoFit/>
          </a:bodyPr>
          <a:lstStyle/>
          <a:p>
            <a:pPr algn="ctr"/>
            <a:r>
              <a:rPr sz="850" b="1" i="0">
                <a:solidFill>
                  <a:srgbClr val="64748B"/>
                </a:solidFill>
                <a:latin typeface="Calibri"/>
              </a:rPr>
              <a:t>ACCURACY</a:t>
            </a:r>
          </a:p>
        </p:txBody>
      </p:sp>
      <p:sp>
        <p:nvSpPr>
          <p:cNvPr id="9" name="Rectangle 8"/>
          <p:cNvSpPr/>
          <p:nvPr/>
        </p:nvSpPr>
        <p:spPr>
          <a:xfrm>
            <a:off x="3154680" y="1115568"/>
            <a:ext cx="2606040" cy="868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154680" y="1280160"/>
            <a:ext cx="2606040" cy="502920"/>
          </a:xfrm>
          <a:prstGeom prst="rect">
            <a:avLst/>
          </a:prstGeom>
          <a:noFill/>
        </p:spPr>
        <p:txBody>
          <a:bodyPr wrap="square">
            <a:spAutoFit/>
          </a:bodyPr>
          <a:lstStyle/>
          <a:p>
            <a:pPr algn="ctr"/>
            <a:r>
              <a:rPr sz="2800" b="1" i="0">
                <a:solidFill>
                  <a:srgbClr val="4F46E5"/>
                </a:solidFill>
                <a:latin typeface="Calibri"/>
              </a:rPr>
              <a:t>87.4%</a:t>
            </a:r>
          </a:p>
        </p:txBody>
      </p:sp>
      <p:sp>
        <p:nvSpPr>
          <p:cNvPr id="11" name="TextBox 10"/>
          <p:cNvSpPr txBox="1"/>
          <p:nvPr/>
        </p:nvSpPr>
        <p:spPr>
          <a:xfrm>
            <a:off x="3154680" y="1801368"/>
            <a:ext cx="2606040" cy="256032"/>
          </a:xfrm>
          <a:prstGeom prst="rect">
            <a:avLst/>
          </a:prstGeom>
          <a:noFill/>
        </p:spPr>
        <p:txBody>
          <a:bodyPr wrap="square">
            <a:spAutoFit/>
          </a:bodyPr>
          <a:lstStyle/>
          <a:p>
            <a:pPr algn="ctr"/>
            <a:r>
              <a:rPr sz="850" b="1" i="0">
                <a:solidFill>
                  <a:srgbClr val="64748B"/>
                </a:solidFill>
                <a:latin typeface="Calibri"/>
              </a:rPr>
              <a:t>PRECISION</a:t>
            </a:r>
          </a:p>
        </p:txBody>
      </p:sp>
      <p:sp>
        <p:nvSpPr>
          <p:cNvPr id="12" name="Rectangle 11"/>
          <p:cNvSpPr/>
          <p:nvPr/>
        </p:nvSpPr>
        <p:spPr>
          <a:xfrm>
            <a:off x="5852160" y="1115568"/>
            <a:ext cx="2606040" cy="868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52160" y="1280160"/>
            <a:ext cx="2606040" cy="502920"/>
          </a:xfrm>
          <a:prstGeom prst="rect">
            <a:avLst/>
          </a:prstGeom>
          <a:noFill/>
        </p:spPr>
        <p:txBody>
          <a:bodyPr wrap="square">
            <a:spAutoFit/>
          </a:bodyPr>
          <a:lstStyle/>
          <a:p>
            <a:pPr algn="ctr"/>
            <a:r>
              <a:rPr sz="2800" b="1" i="0">
                <a:solidFill>
                  <a:srgbClr val="4F46E5"/>
                </a:solidFill>
                <a:latin typeface="Calibri"/>
              </a:rPr>
              <a:t>88.1%</a:t>
            </a:r>
          </a:p>
        </p:txBody>
      </p:sp>
      <p:sp>
        <p:nvSpPr>
          <p:cNvPr id="14" name="TextBox 13"/>
          <p:cNvSpPr txBox="1"/>
          <p:nvPr/>
        </p:nvSpPr>
        <p:spPr>
          <a:xfrm>
            <a:off x="5852160" y="1801368"/>
            <a:ext cx="2606040" cy="256032"/>
          </a:xfrm>
          <a:prstGeom prst="rect">
            <a:avLst/>
          </a:prstGeom>
          <a:noFill/>
        </p:spPr>
        <p:txBody>
          <a:bodyPr wrap="square">
            <a:spAutoFit/>
          </a:bodyPr>
          <a:lstStyle/>
          <a:p>
            <a:pPr algn="ctr"/>
            <a:r>
              <a:rPr sz="850" b="1" i="0">
                <a:solidFill>
                  <a:srgbClr val="64748B"/>
                </a:solidFill>
                <a:latin typeface="Calibri"/>
              </a:rPr>
              <a:t>RECALL</a:t>
            </a:r>
          </a:p>
        </p:txBody>
      </p:sp>
      <p:sp>
        <p:nvSpPr>
          <p:cNvPr id="15" name="Rectangle 14"/>
          <p:cNvSpPr/>
          <p:nvPr/>
        </p:nvSpPr>
        <p:spPr>
          <a:xfrm>
            <a:off x="8549640" y="1115568"/>
            <a:ext cx="2606040" cy="868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49640" y="1280160"/>
            <a:ext cx="2606040" cy="502920"/>
          </a:xfrm>
          <a:prstGeom prst="rect">
            <a:avLst/>
          </a:prstGeom>
          <a:noFill/>
        </p:spPr>
        <p:txBody>
          <a:bodyPr wrap="square">
            <a:spAutoFit/>
          </a:bodyPr>
          <a:lstStyle/>
          <a:p>
            <a:pPr algn="ctr"/>
            <a:r>
              <a:rPr sz="2800" b="1" i="0">
                <a:solidFill>
                  <a:srgbClr val="4F46E5"/>
                </a:solidFill>
                <a:latin typeface="Calibri"/>
              </a:rPr>
              <a:t>87.5%</a:t>
            </a:r>
          </a:p>
        </p:txBody>
      </p:sp>
      <p:sp>
        <p:nvSpPr>
          <p:cNvPr id="17" name="TextBox 16"/>
          <p:cNvSpPr txBox="1"/>
          <p:nvPr/>
        </p:nvSpPr>
        <p:spPr>
          <a:xfrm>
            <a:off x="8549640" y="1801368"/>
            <a:ext cx="2606040" cy="256032"/>
          </a:xfrm>
          <a:prstGeom prst="rect">
            <a:avLst/>
          </a:prstGeom>
          <a:noFill/>
        </p:spPr>
        <p:txBody>
          <a:bodyPr wrap="square">
            <a:spAutoFit/>
          </a:bodyPr>
          <a:lstStyle/>
          <a:p>
            <a:pPr algn="ctr"/>
            <a:r>
              <a:rPr sz="850" b="1" i="0">
                <a:solidFill>
                  <a:srgbClr val="64748B"/>
                </a:solidFill>
                <a:latin typeface="Calibri"/>
              </a:rPr>
              <a:t>F1-SCORE</a:t>
            </a:r>
          </a:p>
        </p:txBody>
      </p:sp>
      <p:sp>
        <p:nvSpPr>
          <p:cNvPr id="18" name="Rectangle 17"/>
          <p:cNvSpPr/>
          <p:nvPr/>
        </p:nvSpPr>
        <p:spPr>
          <a:xfrm>
            <a:off x="457200" y="2121408"/>
            <a:ext cx="1645920" cy="347472"/>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 y="2176272"/>
            <a:ext cx="1536192" cy="256032"/>
          </a:xfrm>
          <a:prstGeom prst="rect">
            <a:avLst/>
          </a:prstGeom>
          <a:noFill/>
        </p:spPr>
        <p:txBody>
          <a:bodyPr wrap="square">
            <a:spAutoFit/>
          </a:bodyPr>
          <a:lstStyle/>
          <a:p>
            <a:pPr algn="l"/>
            <a:r>
              <a:rPr sz="850" b="1" i="0">
                <a:solidFill>
                  <a:srgbClr val="4F46E5"/>
                </a:solidFill>
                <a:latin typeface="Calibri"/>
              </a:rPr>
              <a:t>Class</a:t>
            </a:r>
          </a:p>
        </p:txBody>
      </p:sp>
      <p:sp>
        <p:nvSpPr>
          <p:cNvPr id="20" name="Rectangle 19"/>
          <p:cNvSpPr/>
          <p:nvPr/>
        </p:nvSpPr>
        <p:spPr>
          <a:xfrm>
            <a:off x="2103120" y="2121408"/>
            <a:ext cx="1645920" cy="347472"/>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57984" y="2176272"/>
            <a:ext cx="1536192" cy="256032"/>
          </a:xfrm>
          <a:prstGeom prst="rect">
            <a:avLst/>
          </a:prstGeom>
          <a:noFill/>
        </p:spPr>
        <p:txBody>
          <a:bodyPr wrap="square">
            <a:spAutoFit/>
          </a:bodyPr>
          <a:lstStyle/>
          <a:p>
            <a:pPr algn="l"/>
            <a:r>
              <a:rPr sz="850" b="1" i="0">
                <a:solidFill>
                  <a:srgbClr val="4F46E5"/>
                </a:solidFill>
                <a:latin typeface="Calibri"/>
              </a:rPr>
              <a:t>Precision</a:t>
            </a:r>
          </a:p>
        </p:txBody>
      </p:sp>
      <p:sp>
        <p:nvSpPr>
          <p:cNvPr id="22" name="Rectangle 21"/>
          <p:cNvSpPr/>
          <p:nvPr/>
        </p:nvSpPr>
        <p:spPr>
          <a:xfrm>
            <a:off x="3749040" y="2121408"/>
            <a:ext cx="1645920" cy="347472"/>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03904" y="2176272"/>
            <a:ext cx="1536192" cy="256032"/>
          </a:xfrm>
          <a:prstGeom prst="rect">
            <a:avLst/>
          </a:prstGeom>
          <a:noFill/>
        </p:spPr>
        <p:txBody>
          <a:bodyPr wrap="square">
            <a:spAutoFit/>
          </a:bodyPr>
          <a:lstStyle/>
          <a:p>
            <a:pPr algn="l"/>
            <a:r>
              <a:rPr sz="850" b="1" i="0">
                <a:solidFill>
                  <a:srgbClr val="4F46E5"/>
                </a:solidFill>
                <a:latin typeface="Calibri"/>
              </a:rPr>
              <a:t>Recall</a:t>
            </a:r>
          </a:p>
        </p:txBody>
      </p:sp>
      <p:sp>
        <p:nvSpPr>
          <p:cNvPr id="24" name="Rectangle 23"/>
          <p:cNvSpPr/>
          <p:nvPr/>
        </p:nvSpPr>
        <p:spPr>
          <a:xfrm>
            <a:off x="5394960" y="2121408"/>
            <a:ext cx="1645920" cy="347472"/>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49824" y="2176272"/>
            <a:ext cx="1536192" cy="256032"/>
          </a:xfrm>
          <a:prstGeom prst="rect">
            <a:avLst/>
          </a:prstGeom>
          <a:noFill/>
        </p:spPr>
        <p:txBody>
          <a:bodyPr wrap="square">
            <a:spAutoFit/>
          </a:bodyPr>
          <a:lstStyle/>
          <a:p>
            <a:pPr algn="l"/>
            <a:r>
              <a:rPr sz="850" b="1" i="0">
                <a:solidFill>
                  <a:srgbClr val="4F46E5"/>
                </a:solidFill>
                <a:latin typeface="Calibri"/>
              </a:rPr>
              <a:t>F1-Score</a:t>
            </a:r>
          </a:p>
        </p:txBody>
      </p:sp>
      <p:sp>
        <p:nvSpPr>
          <p:cNvPr id="26" name="Rectangle 25"/>
          <p:cNvSpPr/>
          <p:nvPr/>
        </p:nvSpPr>
        <p:spPr>
          <a:xfrm>
            <a:off x="7040880" y="2121408"/>
            <a:ext cx="4663440" cy="347472"/>
          </a:xfrm>
          <a:prstGeom prst="rect">
            <a:avLst/>
          </a:prstGeom>
          <a:solidFill>
            <a:srgbClr val="EEF2FF"/>
          </a:solidFill>
          <a:ln w="381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95744" y="2176272"/>
            <a:ext cx="4553712" cy="256032"/>
          </a:xfrm>
          <a:prstGeom prst="rect">
            <a:avLst/>
          </a:prstGeom>
          <a:noFill/>
        </p:spPr>
        <p:txBody>
          <a:bodyPr wrap="square">
            <a:spAutoFit/>
          </a:bodyPr>
          <a:lstStyle/>
          <a:p>
            <a:pPr algn="l"/>
            <a:r>
              <a:rPr sz="850" b="1" i="0">
                <a:solidFill>
                  <a:srgbClr val="4F46E5"/>
                </a:solidFill>
                <a:latin typeface="Calibri"/>
              </a:rPr>
              <a:t>Clinical Significance</a:t>
            </a:r>
          </a:p>
        </p:txBody>
      </p:sp>
      <p:sp>
        <p:nvSpPr>
          <p:cNvPr id="28" name="Rectangle 27"/>
          <p:cNvSpPr/>
          <p:nvPr/>
        </p:nvSpPr>
        <p:spPr>
          <a:xfrm>
            <a:off x="457200" y="2468880"/>
            <a:ext cx="1645920" cy="347472"/>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064" y="2505456"/>
            <a:ext cx="1536192" cy="292608"/>
          </a:xfrm>
          <a:prstGeom prst="rect">
            <a:avLst/>
          </a:prstGeom>
          <a:noFill/>
        </p:spPr>
        <p:txBody>
          <a:bodyPr wrap="square">
            <a:spAutoFit/>
          </a:bodyPr>
          <a:lstStyle/>
          <a:p>
            <a:pPr algn="l"/>
            <a:r>
              <a:rPr sz="900" b="1" i="0">
                <a:solidFill>
                  <a:srgbClr val="059669"/>
                </a:solidFill>
                <a:latin typeface="Calibri"/>
              </a:rPr>
              <a:t>Low Risk</a:t>
            </a:r>
          </a:p>
        </p:txBody>
      </p:sp>
      <p:sp>
        <p:nvSpPr>
          <p:cNvPr id="30" name="Rectangle 29"/>
          <p:cNvSpPr/>
          <p:nvPr/>
        </p:nvSpPr>
        <p:spPr>
          <a:xfrm>
            <a:off x="2103120" y="2468880"/>
            <a:ext cx="1645920" cy="347472"/>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157984" y="2505456"/>
            <a:ext cx="1536192" cy="292608"/>
          </a:xfrm>
          <a:prstGeom prst="rect">
            <a:avLst/>
          </a:prstGeom>
          <a:noFill/>
        </p:spPr>
        <p:txBody>
          <a:bodyPr wrap="square">
            <a:spAutoFit/>
          </a:bodyPr>
          <a:lstStyle/>
          <a:p>
            <a:pPr algn="l"/>
            <a:r>
              <a:rPr sz="900" b="0" i="0">
                <a:solidFill>
                  <a:srgbClr val="0F172A"/>
                </a:solidFill>
                <a:latin typeface="Calibri"/>
              </a:rPr>
              <a:t>73.3%</a:t>
            </a:r>
          </a:p>
        </p:txBody>
      </p:sp>
      <p:sp>
        <p:nvSpPr>
          <p:cNvPr id="32" name="Rectangle 31"/>
          <p:cNvSpPr/>
          <p:nvPr/>
        </p:nvSpPr>
        <p:spPr>
          <a:xfrm>
            <a:off x="3749040" y="2468880"/>
            <a:ext cx="1645920" cy="347472"/>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03904" y="2505456"/>
            <a:ext cx="1536192" cy="292608"/>
          </a:xfrm>
          <a:prstGeom prst="rect">
            <a:avLst/>
          </a:prstGeom>
          <a:noFill/>
        </p:spPr>
        <p:txBody>
          <a:bodyPr wrap="square">
            <a:spAutoFit/>
          </a:bodyPr>
          <a:lstStyle/>
          <a:p>
            <a:pPr algn="l"/>
            <a:r>
              <a:rPr sz="900" b="0" i="0">
                <a:solidFill>
                  <a:srgbClr val="0F172A"/>
                </a:solidFill>
                <a:latin typeface="Calibri"/>
              </a:rPr>
              <a:t>84.6%</a:t>
            </a:r>
          </a:p>
        </p:txBody>
      </p:sp>
      <p:sp>
        <p:nvSpPr>
          <p:cNvPr id="34" name="Rectangle 33"/>
          <p:cNvSpPr/>
          <p:nvPr/>
        </p:nvSpPr>
        <p:spPr>
          <a:xfrm>
            <a:off x="5394960" y="2468880"/>
            <a:ext cx="1645920" cy="347472"/>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449824" y="2505456"/>
            <a:ext cx="1536192" cy="292608"/>
          </a:xfrm>
          <a:prstGeom prst="rect">
            <a:avLst/>
          </a:prstGeom>
          <a:noFill/>
        </p:spPr>
        <p:txBody>
          <a:bodyPr wrap="square">
            <a:spAutoFit/>
          </a:bodyPr>
          <a:lstStyle/>
          <a:p>
            <a:pPr algn="l"/>
            <a:r>
              <a:rPr sz="900" b="0" i="0">
                <a:solidFill>
                  <a:srgbClr val="0F172A"/>
                </a:solidFill>
                <a:latin typeface="Calibri"/>
              </a:rPr>
              <a:t>78.5%</a:t>
            </a:r>
          </a:p>
        </p:txBody>
      </p:sp>
      <p:sp>
        <p:nvSpPr>
          <p:cNvPr id="36" name="Rectangle 35"/>
          <p:cNvSpPr/>
          <p:nvPr/>
        </p:nvSpPr>
        <p:spPr>
          <a:xfrm>
            <a:off x="7040880" y="2468880"/>
            <a:ext cx="4663440" cy="347472"/>
          </a:xfrm>
          <a:prstGeom prst="rect">
            <a:avLst/>
          </a:prstGeom>
          <a:solidFill>
            <a:srgbClr val="FFFF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095744" y="2505456"/>
            <a:ext cx="4553712" cy="292608"/>
          </a:xfrm>
          <a:prstGeom prst="rect">
            <a:avLst/>
          </a:prstGeom>
          <a:noFill/>
        </p:spPr>
        <p:txBody>
          <a:bodyPr wrap="square">
            <a:spAutoFit/>
          </a:bodyPr>
          <a:lstStyle/>
          <a:p>
            <a:pPr algn="l"/>
            <a:r>
              <a:rPr sz="900" b="0" i="0">
                <a:solidFill>
                  <a:srgbClr val="0F172A"/>
                </a:solidFill>
                <a:latin typeface="Calibri"/>
              </a:rPr>
              <a:t>26.7% false-positive rate — identified target for future improvement to reduce guardian fatigue</a:t>
            </a:r>
          </a:p>
        </p:txBody>
      </p:sp>
      <p:sp>
        <p:nvSpPr>
          <p:cNvPr id="38" name="Rectangle 37"/>
          <p:cNvSpPr/>
          <p:nvPr/>
        </p:nvSpPr>
        <p:spPr>
          <a:xfrm>
            <a:off x="457200" y="2816352"/>
            <a:ext cx="1645920" cy="347472"/>
          </a:xfrm>
          <a:prstGeom prst="rect">
            <a:avLst/>
          </a:prstGeom>
          <a:solidFill>
            <a:srgbClr val="EEF2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064" y="2852928"/>
            <a:ext cx="1536192" cy="292608"/>
          </a:xfrm>
          <a:prstGeom prst="rect">
            <a:avLst/>
          </a:prstGeom>
          <a:noFill/>
        </p:spPr>
        <p:txBody>
          <a:bodyPr wrap="square">
            <a:spAutoFit/>
          </a:bodyPr>
          <a:lstStyle/>
          <a:p>
            <a:pPr algn="l"/>
            <a:r>
              <a:rPr sz="900" b="1" i="0">
                <a:solidFill>
                  <a:srgbClr val="D97706"/>
                </a:solidFill>
                <a:latin typeface="Calibri"/>
              </a:rPr>
              <a:t>Moderate Risk</a:t>
            </a:r>
          </a:p>
        </p:txBody>
      </p:sp>
      <p:sp>
        <p:nvSpPr>
          <p:cNvPr id="40" name="Rectangle 39"/>
          <p:cNvSpPr/>
          <p:nvPr/>
        </p:nvSpPr>
        <p:spPr>
          <a:xfrm>
            <a:off x="2103120" y="2816352"/>
            <a:ext cx="1645920" cy="347472"/>
          </a:xfrm>
          <a:prstGeom prst="rect">
            <a:avLst/>
          </a:prstGeom>
          <a:solidFill>
            <a:srgbClr val="EEF2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157984" y="2852928"/>
            <a:ext cx="1536192" cy="292608"/>
          </a:xfrm>
          <a:prstGeom prst="rect">
            <a:avLst/>
          </a:prstGeom>
          <a:noFill/>
        </p:spPr>
        <p:txBody>
          <a:bodyPr wrap="square">
            <a:spAutoFit/>
          </a:bodyPr>
          <a:lstStyle/>
          <a:p>
            <a:pPr algn="l"/>
            <a:r>
              <a:rPr sz="900" b="0" i="0">
                <a:solidFill>
                  <a:srgbClr val="0F172A"/>
                </a:solidFill>
                <a:latin typeface="Calibri"/>
              </a:rPr>
              <a:t>90.0%</a:t>
            </a:r>
          </a:p>
        </p:txBody>
      </p:sp>
      <p:sp>
        <p:nvSpPr>
          <p:cNvPr id="42" name="Rectangle 41"/>
          <p:cNvSpPr/>
          <p:nvPr/>
        </p:nvSpPr>
        <p:spPr>
          <a:xfrm>
            <a:off x="3749040" y="2816352"/>
            <a:ext cx="1645920" cy="347472"/>
          </a:xfrm>
          <a:prstGeom prst="rect">
            <a:avLst/>
          </a:prstGeom>
          <a:solidFill>
            <a:srgbClr val="EEF2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803904" y="2852928"/>
            <a:ext cx="1536192" cy="292608"/>
          </a:xfrm>
          <a:prstGeom prst="rect">
            <a:avLst/>
          </a:prstGeom>
          <a:noFill/>
        </p:spPr>
        <p:txBody>
          <a:bodyPr wrap="square">
            <a:spAutoFit/>
          </a:bodyPr>
          <a:lstStyle/>
          <a:p>
            <a:pPr algn="l"/>
            <a:r>
              <a:rPr sz="900" b="0" i="0">
                <a:solidFill>
                  <a:srgbClr val="0F172A"/>
                </a:solidFill>
                <a:latin typeface="Calibri"/>
              </a:rPr>
              <a:t>82.6%</a:t>
            </a:r>
          </a:p>
        </p:txBody>
      </p:sp>
      <p:sp>
        <p:nvSpPr>
          <p:cNvPr id="44" name="Rectangle 43"/>
          <p:cNvSpPr/>
          <p:nvPr/>
        </p:nvSpPr>
        <p:spPr>
          <a:xfrm>
            <a:off x="5394960" y="2816352"/>
            <a:ext cx="1645920" cy="347472"/>
          </a:xfrm>
          <a:prstGeom prst="rect">
            <a:avLst/>
          </a:prstGeom>
          <a:solidFill>
            <a:srgbClr val="EEF2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449824" y="2852928"/>
            <a:ext cx="1536192" cy="292608"/>
          </a:xfrm>
          <a:prstGeom prst="rect">
            <a:avLst/>
          </a:prstGeom>
          <a:noFill/>
        </p:spPr>
        <p:txBody>
          <a:bodyPr wrap="square">
            <a:spAutoFit/>
          </a:bodyPr>
          <a:lstStyle/>
          <a:p>
            <a:pPr algn="l"/>
            <a:r>
              <a:rPr sz="900" b="0" i="0">
                <a:solidFill>
                  <a:srgbClr val="0F172A"/>
                </a:solidFill>
                <a:latin typeface="Calibri"/>
              </a:rPr>
              <a:t>86.1%</a:t>
            </a:r>
          </a:p>
        </p:txBody>
      </p:sp>
      <p:sp>
        <p:nvSpPr>
          <p:cNvPr id="46" name="Rectangle 45"/>
          <p:cNvSpPr/>
          <p:nvPr/>
        </p:nvSpPr>
        <p:spPr>
          <a:xfrm>
            <a:off x="7040880" y="2816352"/>
            <a:ext cx="4663440" cy="347472"/>
          </a:xfrm>
          <a:prstGeom prst="rect">
            <a:avLst/>
          </a:prstGeom>
          <a:solidFill>
            <a:srgbClr val="EEF2FF"/>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095744" y="2852928"/>
            <a:ext cx="4553712" cy="292608"/>
          </a:xfrm>
          <a:prstGeom prst="rect">
            <a:avLst/>
          </a:prstGeom>
          <a:noFill/>
        </p:spPr>
        <p:txBody>
          <a:bodyPr wrap="square">
            <a:spAutoFit/>
          </a:bodyPr>
          <a:lstStyle/>
          <a:p>
            <a:pPr algn="l"/>
            <a:r>
              <a:rPr sz="900" b="0" i="0">
                <a:solidFill>
                  <a:srgbClr val="0F172A"/>
                </a:solidFill>
                <a:latin typeface="Calibri"/>
              </a:rPr>
              <a:t>Strong identification of borderline cases — supports preventative intervention before escalation</a:t>
            </a:r>
          </a:p>
        </p:txBody>
      </p:sp>
      <p:sp>
        <p:nvSpPr>
          <p:cNvPr id="48" name="Rectangle 47"/>
          <p:cNvSpPr/>
          <p:nvPr/>
        </p:nvSpPr>
        <p:spPr>
          <a:xfrm>
            <a:off x="457200" y="3163824"/>
            <a:ext cx="1645920" cy="347472"/>
          </a:xfrm>
          <a:prstGeom prst="rect">
            <a:avLst/>
          </a:prstGeom>
          <a:solidFill>
            <a:srgbClr val="FEF2F2"/>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064" y="3200400"/>
            <a:ext cx="1536192" cy="292608"/>
          </a:xfrm>
          <a:prstGeom prst="rect">
            <a:avLst/>
          </a:prstGeom>
          <a:noFill/>
        </p:spPr>
        <p:txBody>
          <a:bodyPr wrap="square">
            <a:spAutoFit/>
          </a:bodyPr>
          <a:lstStyle/>
          <a:p>
            <a:pPr algn="l"/>
            <a:r>
              <a:rPr sz="900" b="1" i="0">
                <a:solidFill>
                  <a:srgbClr val="DC2626"/>
                </a:solidFill>
                <a:latin typeface="Calibri"/>
              </a:rPr>
              <a:t>High Risk</a:t>
            </a:r>
          </a:p>
        </p:txBody>
      </p:sp>
      <p:sp>
        <p:nvSpPr>
          <p:cNvPr id="50" name="Rectangle 49"/>
          <p:cNvSpPr/>
          <p:nvPr/>
        </p:nvSpPr>
        <p:spPr>
          <a:xfrm>
            <a:off x="2103120" y="3163824"/>
            <a:ext cx="1645920" cy="347472"/>
          </a:xfrm>
          <a:prstGeom prst="rect">
            <a:avLst/>
          </a:prstGeom>
          <a:solidFill>
            <a:srgbClr val="FEF2F2"/>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157984" y="3200400"/>
            <a:ext cx="1536192" cy="292608"/>
          </a:xfrm>
          <a:prstGeom prst="rect">
            <a:avLst/>
          </a:prstGeom>
          <a:noFill/>
        </p:spPr>
        <p:txBody>
          <a:bodyPr wrap="square">
            <a:spAutoFit/>
          </a:bodyPr>
          <a:lstStyle/>
          <a:p>
            <a:pPr algn="l"/>
            <a:r>
              <a:rPr sz="900" b="0" i="0">
                <a:solidFill>
                  <a:srgbClr val="0F172A"/>
                </a:solidFill>
                <a:latin typeface="Calibri"/>
              </a:rPr>
              <a:t>94.4%</a:t>
            </a:r>
          </a:p>
        </p:txBody>
      </p:sp>
      <p:sp>
        <p:nvSpPr>
          <p:cNvPr id="52" name="Rectangle 51"/>
          <p:cNvSpPr/>
          <p:nvPr/>
        </p:nvSpPr>
        <p:spPr>
          <a:xfrm>
            <a:off x="3749040" y="3163824"/>
            <a:ext cx="1645920" cy="347472"/>
          </a:xfrm>
          <a:prstGeom prst="rect">
            <a:avLst/>
          </a:prstGeom>
          <a:solidFill>
            <a:srgbClr val="FEF2F2"/>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03904" y="3200400"/>
            <a:ext cx="1536192" cy="292608"/>
          </a:xfrm>
          <a:prstGeom prst="rect">
            <a:avLst/>
          </a:prstGeom>
          <a:noFill/>
        </p:spPr>
        <p:txBody>
          <a:bodyPr wrap="square">
            <a:spAutoFit/>
          </a:bodyPr>
          <a:lstStyle/>
          <a:p>
            <a:pPr algn="l"/>
            <a:r>
              <a:rPr sz="900" b="0" i="0">
                <a:solidFill>
                  <a:srgbClr val="0F172A"/>
                </a:solidFill>
                <a:latin typeface="Calibri"/>
              </a:rPr>
              <a:t>94.1%</a:t>
            </a:r>
          </a:p>
        </p:txBody>
      </p:sp>
      <p:sp>
        <p:nvSpPr>
          <p:cNvPr id="54" name="Rectangle 53"/>
          <p:cNvSpPr/>
          <p:nvPr/>
        </p:nvSpPr>
        <p:spPr>
          <a:xfrm>
            <a:off x="5394960" y="3163824"/>
            <a:ext cx="1645920" cy="347472"/>
          </a:xfrm>
          <a:prstGeom prst="rect">
            <a:avLst/>
          </a:prstGeom>
          <a:solidFill>
            <a:srgbClr val="FEF2F2"/>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449824" y="3200400"/>
            <a:ext cx="1536192" cy="292608"/>
          </a:xfrm>
          <a:prstGeom prst="rect">
            <a:avLst/>
          </a:prstGeom>
          <a:noFill/>
        </p:spPr>
        <p:txBody>
          <a:bodyPr wrap="square">
            <a:spAutoFit/>
          </a:bodyPr>
          <a:lstStyle/>
          <a:p>
            <a:pPr algn="l"/>
            <a:r>
              <a:rPr sz="900" b="0" i="0">
                <a:solidFill>
                  <a:srgbClr val="0F172A"/>
                </a:solidFill>
                <a:latin typeface="Calibri"/>
              </a:rPr>
              <a:t>94.1%</a:t>
            </a:r>
          </a:p>
        </p:txBody>
      </p:sp>
      <p:sp>
        <p:nvSpPr>
          <p:cNvPr id="56" name="Rectangle 55"/>
          <p:cNvSpPr/>
          <p:nvPr/>
        </p:nvSpPr>
        <p:spPr>
          <a:xfrm>
            <a:off x="7040880" y="3163824"/>
            <a:ext cx="4663440" cy="347472"/>
          </a:xfrm>
          <a:prstGeom prst="rect">
            <a:avLst/>
          </a:prstGeom>
          <a:solidFill>
            <a:srgbClr val="FEF2F2"/>
          </a:solidFill>
          <a:ln w="25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095744" y="3200400"/>
            <a:ext cx="4553712" cy="292608"/>
          </a:xfrm>
          <a:prstGeom prst="rect">
            <a:avLst/>
          </a:prstGeom>
          <a:noFill/>
        </p:spPr>
        <p:txBody>
          <a:bodyPr wrap="square">
            <a:spAutoFit/>
          </a:bodyPr>
          <a:lstStyle/>
          <a:p>
            <a:pPr algn="l"/>
            <a:r>
              <a:rPr sz="900" b="0" i="0">
                <a:solidFill>
                  <a:srgbClr val="DC2626"/>
                </a:solidFill>
                <a:latin typeface="Calibri"/>
              </a:rPr>
              <a:t>✔ MEETS ≥90% clinical safety target. High Recall is paramount: missing a high-risk user has severe consequences.</a:t>
            </a:r>
          </a:p>
        </p:txBody>
      </p:sp>
      <p:sp>
        <p:nvSpPr>
          <p:cNvPr id="58" name="TextBox 57"/>
          <p:cNvSpPr txBox="1"/>
          <p:nvPr/>
        </p:nvSpPr>
        <p:spPr>
          <a:xfrm>
            <a:off x="457200" y="5074920"/>
            <a:ext cx="11247120" cy="292608"/>
          </a:xfrm>
          <a:prstGeom prst="rect">
            <a:avLst/>
          </a:prstGeom>
          <a:noFill/>
        </p:spPr>
        <p:txBody>
          <a:bodyPr wrap="square">
            <a:spAutoFit/>
          </a:bodyPr>
          <a:lstStyle/>
          <a:p>
            <a:pPr algn="ctr"/>
            <a:r>
              <a:rPr sz="900" b="0" i="0">
                <a:solidFill>
                  <a:srgbClr val="64748B"/>
                </a:solidFill>
                <a:latin typeface="Calibri"/>
              </a:rPr>
              <a:t>📊 Test samples: 42 hand-curated high-variance instances   ·   🔬 Dataset: Dreaddit (2,838 total samples)   ·   ⏱ 14-day temporal window (DSM-5 aligned)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137160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FFFFFF"/>
                </a:solidFill>
                <a:latin typeface="Calibri"/>
              </a:rPr>
              <a:t>RESULTS</a:t>
            </a:r>
          </a:p>
        </p:txBody>
      </p:sp>
      <p:sp>
        <p:nvSpPr>
          <p:cNvPr id="3" name="TextBox 2"/>
          <p:cNvSpPr txBox="1"/>
          <p:nvPr/>
        </p:nvSpPr>
        <p:spPr>
          <a:xfrm>
            <a:off x="2011680" y="347472"/>
            <a:ext cx="8961120" cy="502920"/>
          </a:xfrm>
          <a:prstGeom prst="rect">
            <a:avLst/>
          </a:prstGeom>
          <a:noFill/>
        </p:spPr>
        <p:txBody>
          <a:bodyPr wrap="none">
            <a:spAutoFit/>
          </a:bodyPr>
          <a:lstStyle/>
          <a:p>
            <a:r>
              <a:rPr sz="2200" b="1">
                <a:solidFill>
                  <a:srgbClr val="0F172A"/>
                </a:solidFill>
                <a:latin typeface="Calibri"/>
              </a:rPr>
              <a:t>Objective III &amp; IV — </a:t>
            </a:r>
            <a:r>
              <a:rPr sz="2200" b="1">
                <a:solidFill>
                  <a:srgbClr val="4F46E5"/>
                </a:solidFill>
                <a:latin typeface="Calibri"/>
              </a:rPr>
              <a:t>System &amp; Usability</a:t>
            </a: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10</a:t>
            </a:r>
          </a:p>
        </p:txBody>
      </p:sp>
      <p:sp>
        <p:nvSpPr>
          <p:cNvPr id="6" name="TextBox 5"/>
          <p:cNvSpPr txBox="1"/>
          <p:nvPr/>
        </p:nvSpPr>
        <p:spPr>
          <a:xfrm>
            <a:off x="457200" y="1115568"/>
            <a:ext cx="5303520" cy="237744"/>
          </a:xfrm>
          <a:prstGeom prst="rect">
            <a:avLst/>
          </a:prstGeom>
          <a:noFill/>
        </p:spPr>
        <p:txBody>
          <a:bodyPr wrap="square">
            <a:spAutoFit/>
          </a:bodyPr>
          <a:lstStyle/>
          <a:p>
            <a:pPr algn="l"/>
            <a:r>
              <a:rPr sz="800" b="1" i="0">
                <a:solidFill>
                  <a:srgbClr val="4F46E5"/>
                </a:solidFill>
                <a:latin typeface="Calibri"/>
              </a:rPr>
              <a:t>OBJECTIVE III — SYSTEM DELIVERED</a:t>
            </a:r>
          </a:p>
        </p:txBody>
      </p:sp>
      <p:sp>
        <p:nvSpPr>
          <p:cNvPr id="7" name="Rectangle 6"/>
          <p:cNvSpPr/>
          <p:nvPr/>
        </p:nvSpPr>
        <p:spPr>
          <a:xfrm>
            <a:off x="457200" y="1417320"/>
            <a:ext cx="53035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417320"/>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527048"/>
            <a:ext cx="457200" cy="411480"/>
          </a:xfrm>
          <a:prstGeom prst="rect">
            <a:avLst/>
          </a:prstGeom>
          <a:noFill/>
        </p:spPr>
        <p:txBody>
          <a:bodyPr wrap="square">
            <a:spAutoFit/>
          </a:bodyPr>
          <a:lstStyle/>
          <a:p>
            <a:pPr algn="l"/>
            <a:r>
              <a:rPr sz="2200" b="0" i="0">
                <a:solidFill>
                  <a:srgbClr val="0F172A"/>
                </a:solidFill>
                <a:latin typeface="Calibri"/>
              </a:rPr>
              <a:t>🔌</a:t>
            </a:r>
          </a:p>
        </p:txBody>
      </p:sp>
      <p:sp>
        <p:nvSpPr>
          <p:cNvPr id="10" name="TextBox 9"/>
          <p:cNvSpPr txBox="1"/>
          <p:nvPr/>
        </p:nvSpPr>
        <p:spPr>
          <a:xfrm>
            <a:off x="1170432" y="1527048"/>
            <a:ext cx="4480560" cy="256032"/>
          </a:xfrm>
          <a:prstGeom prst="rect">
            <a:avLst/>
          </a:prstGeom>
          <a:noFill/>
        </p:spPr>
        <p:txBody>
          <a:bodyPr wrap="square">
            <a:spAutoFit/>
          </a:bodyPr>
          <a:lstStyle/>
          <a:p>
            <a:pPr algn="l"/>
            <a:r>
              <a:rPr sz="1100" b="1" i="0">
                <a:solidFill>
                  <a:srgbClr val="0F172A"/>
                </a:solidFill>
                <a:latin typeface="Calibri"/>
              </a:rPr>
              <a:t>Browser Extension</a:t>
            </a:r>
          </a:p>
        </p:txBody>
      </p:sp>
      <p:sp>
        <p:nvSpPr>
          <p:cNvPr id="11" name="TextBox 10"/>
          <p:cNvSpPr txBox="1"/>
          <p:nvPr/>
        </p:nvSpPr>
        <p:spPr>
          <a:xfrm>
            <a:off x="1170432" y="1819656"/>
            <a:ext cx="4480560" cy="658368"/>
          </a:xfrm>
          <a:prstGeom prst="rect">
            <a:avLst/>
          </a:prstGeom>
          <a:noFill/>
        </p:spPr>
        <p:txBody>
          <a:bodyPr wrap="square">
            <a:spAutoFit/>
          </a:bodyPr>
          <a:lstStyle/>
          <a:p>
            <a:pPr algn="l"/>
            <a:r>
              <a:rPr sz="950" b="0" i="0">
                <a:solidFill>
                  <a:srgbClr val="334155"/>
                </a:solidFill>
                <a:latin typeface="Calibri"/>
              </a:rPr>
              <a:t>Passively captures typed text. Encrypts &amp; transmits to API. Supports Chrome.</a:t>
            </a:r>
          </a:p>
        </p:txBody>
      </p:sp>
      <p:sp>
        <p:nvSpPr>
          <p:cNvPr id="12" name="Rectangle 11"/>
          <p:cNvSpPr/>
          <p:nvPr/>
        </p:nvSpPr>
        <p:spPr>
          <a:xfrm>
            <a:off x="457200" y="2697480"/>
            <a:ext cx="53035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2697480"/>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2807208"/>
            <a:ext cx="457200" cy="411480"/>
          </a:xfrm>
          <a:prstGeom prst="rect">
            <a:avLst/>
          </a:prstGeom>
          <a:noFill/>
        </p:spPr>
        <p:txBody>
          <a:bodyPr wrap="square">
            <a:spAutoFit/>
          </a:bodyPr>
          <a:lstStyle/>
          <a:p>
            <a:pPr algn="l"/>
            <a:r>
              <a:rPr sz="2200" b="0" i="0">
                <a:solidFill>
                  <a:srgbClr val="0F172A"/>
                </a:solidFill>
                <a:latin typeface="Calibri"/>
              </a:rPr>
              <a:t>🤖</a:t>
            </a:r>
          </a:p>
        </p:txBody>
      </p:sp>
      <p:sp>
        <p:nvSpPr>
          <p:cNvPr id="15" name="TextBox 14"/>
          <p:cNvSpPr txBox="1"/>
          <p:nvPr/>
        </p:nvSpPr>
        <p:spPr>
          <a:xfrm>
            <a:off x="1170432" y="2807208"/>
            <a:ext cx="4480560" cy="256032"/>
          </a:xfrm>
          <a:prstGeom prst="rect">
            <a:avLst/>
          </a:prstGeom>
          <a:noFill/>
        </p:spPr>
        <p:txBody>
          <a:bodyPr wrap="square">
            <a:spAutoFit/>
          </a:bodyPr>
          <a:lstStyle/>
          <a:p>
            <a:pPr algn="l"/>
            <a:r>
              <a:rPr sz="1100" b="1" i="0">
                <a:solidFill>
                  <a:srgbClr val="0F172A"/>
                </a:solidFill>
                <a:latin typeface="Calibri"/>
              </a:rPr>
              <a:t>RAG Risk Engine</a:t>
            </a:r>
          </a:p>
        </p:txBody>
      </p:sp>
      <p:sp>
        <p:nvSpPr>
          <p:cNvPr id="16" name="TextBox 15"/>
          <p:cNvSpPr txBox="1"/>
          <p:nvPr/>
        </p:nvSpPr>
        <p:spPr>
          <a:xfrm>
            <a:off x="1170432" y="3099816"/>
            <a:ext cx="4480560" cy="658368"/>
          </a:xfrm>
          <a:prstGeom prst="rect">
            <a:avLst/>
          </a:prstGeom>
          <a:noFill/>
        </p:spPr>
        <p:txBody>
          <a:bodyPr wrap="square">
            <a:spAutoFit/>
          </a:bodyPr>
          <a:lstStyle/>
          <a:p>
            <a:pPr algn="l"/>
            <a:r>
              <a:rPr sz="950" b="0" i="0">
                <a:solidFill>
                  <a:srgbClr val="334155"/>
                </a:solidFill>
                <a:latin typeface="Calibri"/>
              </a:rPr>
              <a:t>FAISS retrieval + Gemini LLM classifies text into Low / Moderate / High risk using a 3-stage mathematical formula.</a:t>
            </a:r>
          </a:p>
        </p:txBody>
      </p:sp>
      <p:sp>
        <p:nvSpPr>
          <p:cNvPr id="17" name="Rectangle 16"/>
          <p:cNvSpPr/>
          <p:nvPr/>
        </p:nvSpPr>
        <p:spPr>
          <a:xfrm>
            <a:off x="457200" y="3977640"/>
            <a:ext cx="53035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977640"/>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4087368"/>
            <a:ext cx="457200" cy="411480"/>
          </a:xfrm>
          <a:prstGeom prst="rect">
            <a:avLst/>
          </a:prstGeom>
          <a:noFill/>
        </p:spPr>
        <p:txBody>
          <a:bodyPr wrap="square">
            <a:spAutoFit/>
          </a:bodyPr>
          <a:lstStyle/>
          <a:p>
            <a:pPr algn="l"/>
            <a:r>
              <a:rPr sz="2200" b="0" i="0">
                <a:solidFill>
                  <a:srgbClr val="0F172A"/>
                </a:solidFill>
                <a:latin typeface="Calibri"/>
              </a:rPr>
              <a:t>🔔</a:t>
            </a:r>
          </a:p>
        </p:txBody>
      </p:sp>
      <p:sp>
        <p:nvSpPr>
          <p:cNvPr id="20" name="TextBox 19"/>
          <p:cNvSpPr txBox="1"/>
          <p:nvPr/>
        </p:nvSpPr>
        <p:spPr>
          <a:xfrm>
            <a:off x="1170432" y="4087368"/>
            <a:ext cx="4480560" cy="256032"/>
          </a:xfrm>
          <a:prstGeom prst="rect">
            <a:avLst/>
          </a:prstGeom>
          <a:noFill/>
        </p:spPr>
        <p:txBody>
          <a:bodyPr wrap="square">
            <a:spAutoFit/>
          </a:bodyPr>
          <a:lstStyle/>
          <a:p>
            <a:pPr algn="l"/>
            <a:r>
              <a:rPr sz="1100" b="1" i="0">
                <a:solidFill>
                  <a:srgbClr val="0F172A"/>
                </a:solidFill>
                <a:latin typeface="Calibri"/>
              </a:rPr>
              <a:t>Guardian Dashboard</a:t>
            </a:r>
          </a:p>
        </p:txBody>
      </p:sp>
      <p:sp>
        <p:nvSpPr>
          <p:cNvPr id="21" name="TextBox 20"/>
          <p:cNvSpPr txBox="1"/>
          <p:nvPr/>
        </p:nvSpPr>
        <p:spPr>
          <a:xfrm>
            <a:off x="1170432" y="4379976"/>
            <a:ext cx="4480560" cy="658368"/>
          </a:xfrm>
          <a:prstGeom prst="rect">
            <a:avLst/>
          </a:prstGeom>
          <a:noFill/>
        </p:spPr>
        <p:txBody>
          <a:bodyPr wrap="square">
            <a:spAutoFit/>
          </a:bodyPr>
          <a:lstStyle/>
          <a:p>
            <a:pPr algn="l"/>
            <a:r>
              <a:rPr sz="950" b="0" i="0">
                <a:solidFill>
                  <a:srgbClr val="334155"/>
                </a:solidFill>
                <a:latin typeface="Calibri"/>
              </a:rPr>
              <a:t>Real-time risk alerts. Consent management. Timeline of risk events per adolescent.</a:t>
            </a:r>
          </a:p>
        </p:txBody>
      </p:sp>
      <p:sp>
        <p:nvSpPr>
          <p:cNvPr id="22" name="Rectangle 21"/>
          <p:cNvSpPr/>
          <p:nvPr/>
        </p:nvSpPr>
        <p:spPr>
          <a:xfrm>
            <a:off x="457200" y="5257800"/>
            <a:ext cx="5303520" cy="1188720"/>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5257800"/>
            <a:ext cx="50800" cy="1188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 y="5367528"/>
            <a:ext cx="457200" cy="411480"/>
          </a:xfrm>
          <a:prstGeom prst="rect">
            <a:avLst/>
          </a:prstGeom>
          <a:noFill/>
        </p:spPr>
        <p:txBody>
          <a:bodyPr wrap="square">
            <a:spAutoFit/>
          </a:bodyPr>
          <a:lstStyle/>
          <a:p>
            <a:pPr algn="l"/>
            <a:r>
              <a:rPr sz="2200" b="0" i="0">
                <a:solidFill>
                  <a:srgbClr val="0F172A"/>
                </a:solidFill>
                <a:latin typeface="Calibri"/>
              </a:rPr>
              <a:t>🔒</a:t>
            </a:r>
          </a:p>
        </p:txBody>
      </p:sp>
      <p:sp>
        <p:nvSpPr>
          <p:cNvPr id="25" name="TextBox 24"/>
          <p:cNvSpPr txBox="1"/>
          <p:nvPr/>
        </p:nvSpPr>
        <p:spPr>
          <a:xfrm>
            <a:off x="1170432" y="5367528"/>
            <a:ext cx="4480560" cy="256032"/>
          </a:xfrm>
          <a:prstGeom prst="rect">
            <a:avLst/>
          </a:prstGeom>
          <a:noFill/>
        </p:spPr>
        <p:txBody>
          <a:bodyPr wrap="square">
            <a:spAutoFit/>
          </a:bodyPr>
          <a:lstStyle/>
          <a:p>
            <a:pPr algn="l"/>
            <a:r>
              <a:rPr sz="1100" b="1" i="0">
                <a:solidFill>
                  <a:srgbClr val="0F172A"/>
                </a:solidFill>
                <a:latin typeface="Calibri"/>
              </a:rPr>
              <a:t>Privacy-First</a:t>
            </a:r>
          </a:p>
        </p:txBody>
      </p:sp>
      <p:sp>
        <p:nvSpPr>
          <p:cNvPr id="26" name="TextBox 25"/>
          <p:cNvSpPr txBox="1"/>
          <p:nvPr/>
        </p:nvSpPr>
        <p:spPr>
          <a:xfrm>
            <a:off x="1170432" y="5660136"/>
            <a:ext cx="4480560" cy="658368"/>
          </a:xfrm>
          <a:prstGeom prst="rect">
            <a:avLst/>
          </a:prstGeom>
          <a:noFill/>
        </p:spPr>
        <p:txBody>
          <a:bodyPr wrap="square">
            <a:spAutoFit/>
          </a:bodyPr>
          <a:lstStyle/>
          <a:p>
            <a:pPr algn="l"/>
            <a:r>
              <a:rPr sz="950" b="0" i="0">
                <a:solidFill>
                  <a:srgbClr val="334155"/>
                </a:solidFill>
                <a:latin typeface="Calibri"/>
              </a:rPr>
              <a:t>Explicit opt-in consent. Encrypted transmission (TLS). No password or sensitive field capture.</a:t>
            </a:r>
          </a:p>
        </p:txBody>
      </p:sp>
      <p:sp>
        <p:nvSpPr>
          <p:cNvPr id="27" name="TextBox 26"/>
          <p:cNvSpPr txBox="1"/>
          <p:nvPr/>
        </p:nvSpPr>
        <p:spPr>
          <a:xfrm>
            <a:off x="6035040" y="1115568"/>
            <a:ext cx="5669280" cy="237744"/>
          </a:xfrm>
          <a:prstGeom prst="rect">
            <a:avLst/>
          </a:prstGeom>
          <a:noFill/>
        </p:spPr>
        <p:txBody>
          <a:bodyPr wrap="square">
            <a:spAutoFit/>
          </a:bodyPr>
          <a:lstStyle/>
          <a:p>
            <a:pPr algn="l"/>
            <a:r>
              <a:rPr sz="800" b="1" i="0">
                <a:solidFill>
                  <a:srgbClr val="059669"/>
                </a:solidFill>
                <a:latin typeface="Calibri"/>
              </a:rPr>
              <a:t>OBJECTIVE IV — SUS USABILITY RESULTS</a:t>
            </a:r>
          </a:p>
        </p:txBody>
      </p:sp>
      <p:sp>
        <p:nvSpPr>
          <p:cNvPr id="28" name="Rectangle 27"/>
          <p:cNvSpPr/>
          <p:nvPr/>
        </p:nvSpPr>
        <p:spPr>
          <a:xfrm>
            <a:off x="6035040" y="1417320"/>
            <a:ext cx="5669280" cy="3154680"/>
          </a:xfrm>
          <a:prstGeom prst="rect">
            <a:avLst/>
          </a:prstGeom>
          <a:solidFill>
            <a:srgbClr val="FFFFFF"/>
          </a:solidFill>
          <a:ln w="1016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17920" y="1554480"/>
            <a:ext cx="5303520" cy="256032"/>
          </a:xfrm>
          <a:prstGeom prst="rect">
            <a:avLst/>
          </a:prstGeom>
          <a:noFill/>
        </p:spPr>
        <p:txBody>
          <a:bodyPr wrap="square">
            <a:spAutoFit/>
          </a:bodyPr>
          <a:lstStyle/>
          <a:p>
            <a:pPr algn="l"/>
            <a:r>
              <a:rPr sz="900" b="0" i="0">
                <a:solidFill>
                  <a:srgbClr val="64748B"/>
                </a:solidFill>
                <a:latin typeface="Calibri"/>
              </a:rPr>
              <a:t>Average SUS Score</a:t>
            </a:r>
          </a:p>
        </p:txBody>
      </p:sp>
      <p:sp>
        <p:nvSpPr>
          <p:cNvPr id="30" name="TextBox 29"/>
          <p:cNvSpPr txBox="1"/>
          <p:nvPr/>
        </p:nvSpPr>
        <p:spPr>
          <a:xfrm>
            <a:off x="6217920" y="1828800"/>
            <a:ext cx="2560320" cy="731520"/>
          </a:xfrm>
          <a:prstGeom prst="rect">
            <a:avLst/>
          </a:prstGeom>
          <a:noFill/>
        </p:spPr>
        <p:txBody>
          <a:bodyPr wrap="square">
            <a:spAutoFit/>
          </a:bodyPr>
          <a:lstStyle/>
          <a:p>
            <a:pPr algn="l"/>
            <a:r>
              <a:rPr sz="4400" b="1" i="0">
                <a:solidFill>
                  <a:srgbClr val="059669"/>
                </a:solidFill>
                <a:latin typeface="Calibri"/>
              </a:rPr>
              <a:t>69.1</a:t>
            </a:r>
          </a:p>
        </p:txBody>
      </p:sp>
      <p:sp>
        <p:nvSpPr>
          <p:cNvPr id="31" name="TextBox 30"/>
          <p:cNvSpPr txBox="1"/>
          <p:nvPr/>
        </p:nvSpPr>
        <p:spPr>
          <a:xfrm>
            <a:off x="9326880" y="1828800"/>
            <a:ext cx="2194560" cy="256032"/>
          </a:xfrm>
          <a:prstGeom prst="rect">
            <a:avLst/>
          </a:prstGeom>
          <a:noFill/>
        </p:spPr>
        <p:txBody>
          <a:bodyPr wrap="square">
            <a:spAutoFit/>
          </a:bodyPr>
          <a:lstStyle/>
          <a:p>
            <a:pPr algn="r"/>
            <a:r>
              <a:rPr sz="900" b="0" i="0">
                <a:solidFill>
                  <a:srgbClr val="64748B"/>
                </a:solidFill>
                <a:latin typeface="Calibri"/>
              </a:rPr>
              <a:t>24 Participants</a:t>
            </a:r>
          </a:p>
        </p:txBody>
      </p:sp>
      <p:sp>
        <p:nvSpPr>
          <p:cNvPr id="32" name="Rectangle 31"/>
          <p:cNvSpPr/>
          <p:nvPr/>
        </p:nvSpPr>
        <p:spPr>
          <a:xfrm>
            <a:off x="9144000" y="2121408"/>
            <a:ext cx="2377440" cy="292608"/>
          </a:xfrm>
          <a:prstGeom prst="rect">
            <a:avLst/>
          </a:prstGeom>
          <a:solidFill>
            <a:srgbClr val="ECFDF5"/>
          </a:solid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44000" y="2148840"/>
            <a:ext cx="2377440" cy="237744"/>
          </a:xfrm>
          <a:prstGeom prst="rect">
            <a:avLst/>
          </a:prstGeom>
          <a:noFill/>
        </p:spPr>
        <p:txBody>
          <a:bodyPr wrap="square">
            <a:spAutoFit/>
          </a:bodyPr>
          <a:lstStyle/>
          <a:p>
            <a:pPr algn="ctr"/>
            <a:r>
              <a:rPr sz="900" b="1" i="0">
                <a:solidFill>
                  <a:srgbClr val="059669"/>
                </a:solidFill>
                <a:latin typeface="Calibri"/>
              </a:rPr>
              <a:t>✔ ABOVE AVERAGE</a:t>
            </a:r>
          </a:p>
        </p:txBody>
      </p:sp>
      <p:sp>
        <p:nvSpPr>
          <p:cNvPr id="34" name="Rectangle 33"/>
          <p:cNvSpPr/>
          <p:nvPr/>
        </p:nvSpPr>
        <p:spPr>
          <a:xfrm>
            <a:off x="6217920" y="2606040"/>
            <a:ext cx="5303520" cy="201168"/>
          </a:xfrm>
          <a:prstGeom prst="rect">
            <a:avLst/>
          </a:prstGeom>
          <a:solidFill>
            <a:srgbClr val="E2E8F0"/>
          </a:solidFill>
          <a:ln w="25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17920" y="2606040"/>
            <a:ext cx="3664732" cy="20116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035040" y="2852928"/>
            <a:ext cx="457200" cy="201168"/>
          </a:xfrm>
          <a:prstGeom prst="rect">
            <a:avLst/>
          </a:prstGeom>
          <a:noFill/>
        </p:spPr>
        <p:txBody>
          <a:bodyPr wrap="square">
            <a:spAutoFit/>
          </a:bodyPr>
          <a:lstStyle/>
          <a:p>
            <a:pPr algn="ctr"/>
            <a:r>
              <a:rPr sz="800" b="0" i="0">
                <a:solidFill>
                  <a:srgbClr val="64748B"/>
                </a:solidFill>
                <a:latin typeface="Calibri"/>
              </a:rPr>
              <a:t>0</a:t>
            </a:r>
          </a:p>
        </p:txBody>
      </p:sp>
      <p:sp>
        <p:nvSpPr>
          <p:cNvPr id="37" name="TextBox 36"/>
          <p:cNvSpPr txBox="1"/>
          <p:nvPr/>
        </p:nvSpPr>
        <p:spPr>
          <a:xfrm>
            <a:off x="9641433" y="2852928"/>
            <a:ext cx="457200" cy="201168"/>
          </a:xfrm>
          <a:prstGeom prst="rect">
            <a:avLst/>
          </a:prstGeom>
          <a:noFill/>
        </p:spPr>
        <p:txBody>
          <a:bodyPr wrap="square">
            <a:spAutoFit/>
          </a:bodyPr>
          <a:lstStyle/>
          <a:p>
            <a:pPr algn="ctr"/>
            <a:r>
              <a:rPr sz="800" b="0" i="0">
                <a:solidFill>
                  <a:srgbClr val="64748B"/>
                </a:solidFill>
                <a:latin typeface="Calibri"/>
              </a:rPr>
              <a:t>68 Avg</a:t>
            </a:r>
          </a:p>
        </p:txBody>
      </p:sp>
      <p:sp>
        <p:nvSpPr>
          <p:cNvPr id="38" name="TextBox 37"/>
          <p:cNvSpPr txBox="1"/>
          <p:nvPr/>
        </p:nvSpPr>
        <p:spPr>
          <a:xfrm>
            <a:off x="11201400" y="2852928"/>
            <a:ext cx="457200" cy="201168"/>
          </a:xfrm>
          <a:prstGeom prst="rect">
            <a:avLst/>
          </a:prstGeom>
          <a:noFill/>
        </p:spPr>
        <p:txBody>
          <a:bodyPr wrap="square">
            <a:spAutoFit/>
          </a:bodyPr>
          <a:lstStyle/>
          <a:p>
            <a:pPr algn="ctr"/>
            <a:r>
              <a:rPr sz="800" b="0" i="0">
                <a:solidFill>
                  <a:srgbClr val="64748B"/>
                </a:solidFill>
                <a:latin typeface="Calibri"/>
              </a:rPr>
              <a:t>100</a:t>
            </a:r>
          </a:p>
        </p:txBody>
      </p:sp>
      <p:sp>
        <p:nvSpPr>
          <p:cNvPr id="39" name="Rectangle 38"/>
          <p:cNvSpPr/>
          <p:nvPr/>
        </p:nvSpPr>
        <p:spPr>
          <a:xfrm>
            <a:off x="6217920" y="3127248"/>
            <a:ext cx="5303520" cy="1261872"/>
          </a:xfrm>
          <a:prstGeom prst="rect">
            <a:avLst/>
          </a:prstGeom>
          <a:solidFill>
            <a:srgbClr val="EEF2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55080" y="3200400"/>
            <a:ext cx="5029200" cy="1115568"/>
          </a:xfrm>
          <a:prstGeom prst="rect">
            <a:avLst/>
          </a:prstGeom>
          <a:noFill/>
        </p:spPr>
        <p:txBody>
          <a:bodyPr wrap="square">
            <a:spAutoFit/>
          </a:bodyPr>
          <a:lstStyle/>
          <a:p>
            <a:pPr algn="l"/>
            <a:r>
              <a:rPr sz="950" b="0" i="0">
                <a:solidFill>
                  <a:srgbClr val="0F172A"/>
                </a:solidFill>
                <a:latin typeface="Calibri"/>
              </a:rPr>
              <a:t>💬 User Feedback:
"Users want to see WHY a risk was assigned — not just the severity level."
→ Identified as top recommendation for future work:
   Explainable AI (XAI) Insights Panel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137160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FFFFFF"/>
                </a:solidFill>
                <a:latin typeface="Calibri"/>
              </a:rPr>
              <a:t>SIGNIFICANCE</a:t>
            </a:r>
          </a:p>
        </p:txBody>
      </p:sp>
      <p:sp>
        <p:nvSpPr>
          <p:cNvPr id="3" name="TextBox 2"/>
          <p:cNvSpPr txBox="1"/>
          <p:nvPr/>
        </p:nvSpPr>
        <p:spPr>
          <a:xfrm>
            <a:off x="2011680" y="347472"/>
            <a:ext cx="8961120" cy="502920"/>
          </a:xfrm>
          <a:prstGeom prst="rect">
            <a:avLst/>
          </a:prstGeom>
          <a:noFill/>
        </p:spPr>
        <p:txBody>
          <a:bodyPr wrap="none">
            <a:spAutoFit/>
          </a:bodyPr>
          <a:lstStyle/>
          <a:p>
            <a:r>
              <a:rPr sz="2200" b="1">
                <a:solidFill>
                  <a:srgbClr val="0F172A"/>
                </a:solidFill>
                <a:latin typeface="Calibri"/>
              </a:rPr>
              <a:t>Contribution &amp; </a:t>
            </a:r>
            <a:r>
              <a:rPr sz="2200" b="1">
                <a:solidFill>
                  <a:srgbClr val="4F46E5"/>
                </a:solidFill>
                <a:latin typeface="Calibri"/>
              </a:rPr>
              <a:t>Impact</a:t>
            </a: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11</a:t>
            </a:r>
          </a:p>
        </p:txBody>
      </p:sp>
      <p:sp>
        <p:nvSpPr>
          <p:cNvPr id="6" name="TextBox 5"/>
          <p:cNvSpPr txBox="1"/>
          <p:nvPr/>
        </p:nvSpPr>
        <p:spPr>
          <a:xfrm>
            <a:off x="457200" y="1115568"/>
            <a:ext cx="5303520" cy="237744"/>
          </a:xfrm>
          <a:prstGeom prst="rect">
            <a:avLst/>
          </a:prstGeom>
          <a:noFill/>
        </p:spPr>
        <p:txBody>
          <a:bodyPr wrap="square">
            <a:spAutoFit/>
          </a:bodyPr>
          <a:lstStyle/>
          <a:p>
            <a:pPr algn="l"/>
            <a:r>
              <a:rPr sz="800" b="1" i="0">
                <a:solidFill>
                  <a:srgbClr val="4F46E5"/>
                </a:solidFill>
                <a:latin typeface="Calibri"/>
              </a:rPr>
              <a:t>FOR THE USER</a:t>
            </a:r>
          </a:p>
        </p:txBody>
      </p:sp>
      <p:sp>
        <p:nvSpPr>
          <p:cNvPr id="7" name="TextBox 6"/>
          <p:cNvSpPr txBox="1"/>
          <p:nvPr/>
        </p:nvSpPr>
        <p:spPr>
          <a:xfrm>
            <a:off x="6217920" y="1115568"/>
            <a:ext cx="5303520" cy="237744"/>
          </a:xfrm>
          <a:prstGeom prst="rect">
            <a:avLst/>
          </a:prstGeom>
          <a:noFill/>
        </p:spPr>
        <p:txBody>
          <a:bodyPr wrap="square">
            <a:spAutoFit/>
          </a:bodyPr>
          <a:lstStyle/>
          <a:p>
            <a:pPr algn="l"/>
            <a:r>
              <a:rPr sz="800" b="1" i="0">
                <a:solidFill>
                  <a:srgbClr val="059669"/>
                </a:solidFill>
                <a:latin typeface="Calibri"/>
              </a:rPr>
              <a:t>FOR THE FIELD</a:t>
            </a:r>
          </a:p>
        </p:txBody>
      </p:sp>
      <p:sp>
        <p:nvSpPr>
          <p:cNvPr id="8" name="Rectangle 7"/>
          <p:cNvSpPr/>
          <p:nvPr/>
        </p:nvSpPr>
        <p:spPr>
          <a:xfrm>
            <a:off x="457200" y="1481328"/>
            <a:ext cx="5486400" cy="1554480"/>
          </a:xfrm>
          <a:prstGeom prst="rect">
            <a:avLst/>
          </a:prstGeom>
          <a:solidFill>
            <a:srgbClr val="FFFF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591056"/>
            <a:ext cx="502920" cy="457200"/>
          </a:xfrm>
          <a:prstGeom prst="rect">
            <a:avLst/>
          </a:prstGeom>
          <a:noFill/>
        </p:spPr>
        <p:txBody>
          <a:bodyPr wrap="square">
            <a:spAutoFit/>
          </a:bodyPr>
          <a:lstStyle/>
          <a:p>
            <a:pPr algn="l"/>
            <a:r>
              <a:rPr sz="2200" b="0" i="0">
                <a:solidFill>
                  <a:srgbClr val="0F172A"/>
                </a:solidFill>
                <a:latin typeface="Calibri"/>
              </a:rPr>
              <a:t>👧</a:t>
            </a:r>
          </a:p>
        </p:txBody>
      </p:sp>
      <p:sp>
        <p:nvSpPr>
          <p:cNvPr id="10" name="TextBox 9"/>
          <p:cNvSpPr txBox="1"/>
          <p:nvPr/>
        </p:nvSpPr>
        <p:spPr>
          <a:xfrm>
            <a:off x="1234440" y="1591056"/>
            <a:ext cx="4572000" cy="256032"/>
          </a:xfrm>
          <a:prstGeom prst="rect">
            <a:avLst/>
          </a:prstGeom>
          <a:noFill/>
        </p:spPr>
        <p:txBody>
          <a:bodyPr wrap="square">
            <a:spAutoFit/>
          </a:bodyPr>
          <a:lstStyle/>
          <a:p>
            <a:pPr algn="l"/>
            <a:r>
              <a:rPr sz="1200" b="1" i="0">
                <a:solidFill>
                  <a:srgbClr val="0F172A"/>
                </a:solidFill>
                <a:latin typeface="Calibri"/>
              </a:rPr>
              <a:t>Zero-Effort Protection</a:t>
            </a:r>
          </a:p>
        </p:txBody>
      </p:sp>
      <p:sp>
        <p:nvSpPr>
          <p:cNvPr id="11" name="TextBox 10"/>
          <p:cNvSpPr txBox="1"/>
          <p:nvPr/>
        </p:nvSpPr>
        <p:spPr>
          <a:xfrm>
            <a:off x="1234440" y="1883664"/>
            <a:ext cx="4572000" cy="1005840"/>
          </a:xfrm>
          <a:prstGeom prst="rect">
            <a:avLst/>
          </a:prstGeom>
          <a:noFill/>
        </p:spPr>
        <p:txBody>
          <a:bodyPr wrap="square">
            <a:spAutoFit/>
          </a:bodyPr>
          <a:lstStyle/>
          <a:p>
            <a:pPr algn="l"/>
            <a:r>
              <a:rPr sz="1000" b="0" i="0">
                <a:solidFill>
                  <a:srgbClr val="334155"/>
                </a:solidFill>
                <a:latin typeface="Calibri"/>
              </a:rPr>
              <a:t>Adolescents receive protection without any active engagement or self-reporting — removing the biggest barrier to mental health support.</a:t>
            </a:r>
          </a:p>
        </p:txBody>
      </p:sp>
      <p:sp>
        <p:nvSpPr>
          <p:cNvPr id="12" name="Rectangle 11"/>
          <p:cNvSpPr/>
          <p:nvPr/>
        </p:nvSpPr>
        <p:spPr>
          <a:xfrm>
            <a:off x="457200" y="3081528"/>
            <a:ext cx="5486400" cy="1554480"/>
          </a:xfrm>
          <a:prstGeom prst="rect">
            <a:avLst/>
          </a:prstGeom>
          <a:solidFill>
            <a:srgbClr val="FFFF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191256"/>
            <a:ext cx="502920" cy="457200"/>
          </a:xfrm>
          <a:prstGeom prst="rect">
            <a:avLst/>
          </a:prstGeom>
          <a:noFill/>
        </p:spPr>
        <p:txBody>
          <a:bodyPr wrap="square">
            <a:spAutoFit/>
          </a:bodyPr>
          <a:lstStyle/>
          <a:p>
            <a:pPr algn="l"/>
            <a:r>
              <a:rPr sz="2200" b="0" i="0">
                <a:solidFill>
                  <a:srgbClr val="0F172A"/>
                </a:solidFill>
                <a:latin typeface="Calibri"/>
              </a:rPr>
              <a:t>👨‍👩‍👧</a:t>
            </a:r>
          </a:p>
        </p:txBody>
      </p:sp>
      <p:sp>
        <p:nvSpPr>
          <p:cNvPr id="14" name="TextBox 13"/>
          <p:cNvSpPr txBox="1"/>
          <p:nvPr/>
        </p:nvSpPr>
        <p:spPr>
          <a:xfrm>
            <a:off x="1234440" y="3191256"/>
            <a:ext cx="4572000" cy="256032"/>
          </a:xfrm>
          <a:prstGeom prst="rect">
            <a:avLst/>
          </a:prstGeom>
          <a:noFill/>
        </p:spPr>
        <p:txBody>
          <a:bodyPr wrap="square">
            <a:spAutoFit/>
          </a:bodyPr>
          <a:lstStyle/>
          <a:p>
            <a:pPr algn="l"/>
            <a:r>
              <a:rPr sz="1200" b="1" i="0">
                <a:solidFill>
                  <a:srgbClr val="0F172A"/>
                </a:solidFill>
                <a:latin typeface="Calibri"/>
              </a:rPr>
              <a:t>Empowered Guardians</a:t>
            </a:r>
          </a:p>
        </p:txBody>
      </p:sp>
      <p:sp>
        <p:nvSpPr>
          <p:cNvPr id="15" name="TextBox 14"/>
          <p:cNvSpPr txBox="1"/>
          <p:nvPr/>
        </p:nvSpPr>
        <p:spPr>
          <a:xfrm>
            <a:off x="1234440" y="3483864"/>
            <a:ext cx="4572000" cy="1005840"/>
          </a:xfrm>
          <a:prstGeom prst="rect">
            <a:avLst/>
          </a:prstGeom>
          <a:noFill/>
        </p:spPr>
        <p:txBody>
          <a:bodyPr wrap="square">
            <a:spAutoFit/>
          </a:bodyPr>
          <a:lstStyle/>
          <a:p>
            <a:pPr algn="l"/>
            <a:r>
              <a:rPr sz="1000" b="0" i="0">
                <a:solidFill>
                  <a:srgbClr val="334155"/>
                </a:solidFill>
                <a:latin typeface="Calibri"/>
              </a:rPr>
              <a:t>Parents and carers receive timely, actionable alerts enabling earlier conversations and professional referrals before crises escalate.</a:t>
            </a:r>
          </a:p>
        </p:txBody>
      </p:sp>
      <p:sp>
        <p:nvSpPr>
          <p:cNvPr id="16" name="Rectangle 15"/>
          <p:cNvSpPr/>
          <p:nvPr/>
        </p:nvSpPr>
        <p:spPr>
          <a:xfrm>
            <a:off x="457200" y="4681728"/>
            <a:ext cx="5486400" cy="1554480"/>
          </a:xfrm>
          <a:prstGeom prst="rect">
            <a:avLst/>
          </a:prstGeom>
          <a:solidFill>
            <a:srgbClr val="FFFFFF"/>
          </a:solidFill>
          <a:ln w="50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4791456"/>
            <a:ext cx="502920" cy="457200"/>
          </a:xfrm>
          <a:prstGeom prst="rect">
            <a:avLst/>
          </a:prstGeom>
          <a:noFill/>
        </p:spPr>
        <p:txBody>
          <a:bodyPr wrap="square">
            <a:spAutoFit/>
          </a:bodyPr>
          <a:lstStyle/>
          <a:p>
            <a:pPr algn="l"/>
            <a:r>
              <a:rPr sz="2200" b="0" i="0">
                <a:solidFill>
                  <a:srgbClr val="0F172A"/>
                </a:solidFill>
                <a:latin typeface="Calibri"/>
              </a:rPr>
              <a:t>🔒</a:t>
            </a:r>
          </a:p>
        </p:txBody>
      </p:sp>
      <p:sp>
        <p:nvSpPr>
          <p:cNvPr id="18" name="TextBox 17"/>
          <p:cNvSpPr txBox="1"/>
          <p:nvPr/>
        </p:nvSpPr>
        <p:spPr>
          <a:xfrm>
            <a:off x="1234440" y="4791456"/>
            <a:ext cx="4572000" cy="256032"/>
          </a:xfrm>
          <a:prstGeom prst="rect">
            <a:avLst/>
          </a:prstGeom>
          <a:noFill/>
        </p:spPr>
        <p:txBody>
          <a:bodyPr wrap="square">
            <a:spAutoFit/>
          </a:bodyPr>
          <a:lstStyle/>
          <a:p>
            <a:pPr algn="l"/>
            <a:r>
              <a:rPr sz="1200" b="1" i="0">
                <a:solidFill>
                  <a:srgbClr val="0F172A"/>
                </a:solidFill>
                <a:latin typeface="Calibri"/>
              </a:rPr>
              <a:t>Privacy-First Design</a:t>
            </a:r>
          </a:p>
        </p:txBody>
      </p:sp>
      <p:sp>
        <p:nvSpPr>
          <p:cNvPr id="19" name="TextBox 18"/>
          <p:cNvSpPr txBox="1"/>
          <p:nvPr/>
        </p:nvSpPr>
        <p:spPr>
          <a:xfrm>
            <a:off x="1234440" y="5084064"/>
            <a:ext cx="4572000" cy="1005840"/>
          </a:xfrm>
          <a:prstGeom prst="rect">
            <a:avLst/>
          </a:prstGeom>
          <a:noFill/>
        </p:spPr>
        <p:txBody>
          <a:bodyPr wrap="square">
            <a:spAutoFit/>
          </a:bodyPr>
          <a:lstStyle/>
          <a:p>
            <a:pPr algn="l"/>
            <a:r>
              <a:rPr sz="1000" b="0" i="0">
                <a:solidFill>
                  <a:srgbClr val="334155"/>
                </a:solidFill>
                <a:latin typeface="Calibri"/>
              </a:rPr>
              <a:t>Explicit consent architecture ensures users retain full control over their data, building trust that existing monitoring tools lack.</a:t>
            </a:r>
          </a:p>
        </p:txBody>
      </p:sp>
      <p:sp>
        <p:nvSpPr>
          <p:cNvPr id="20" name="Rectangle 19"/>
          <p:cNvSpPr/>
          <p:nvPr/>
        </p:nvSpPr>
        <p:spPr>
          <a:xfrm>
            <a:off x="6217920" y="1481328"/>
            <a:ext cx="5486400" cy="1554480"/>
          </a:xfrm>
          <a:prstGeom prst="rect">
            <a:avLst/>
          </a:prstGeom>
          <a:solidFill>
            <a:srgbClr val="FFFFFF"/>
          </a:solidFill>
          <a:ln w="508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5080" y="1591056"/>
            <a:ext cx="502920" cy="457200"/>
          </a:xfrm>
          <a:prstGeom prst="rect">
            <a:avLst/>
          </a:prstGeom>
          <a:noFill/>
        </p:spPr>
        <p:txBody>
          <a:bodyPr wrap="square">
            <a:spAutoFit/>
          </a:bodyPr>
          <a:lstStyle/>
          <a:p>
            <a:pPr algn="l"/>
            <a:r>
              <a:rPr sz="2200" b="0" i="0">
                <a:solidFill>
                  <a:srgbClr val="0F172A"/>
                </a:solidFill>
                <a:latin typeface="Calibri"/>
              </a:rPr>
              <a:t>🔬</a:t>
            </a:r>
          </a:p>
        </p:txBody>
      </p:sp>
      <p:sp>
        <p:nvSpPr>
          <p:cNvPr id="22" name="TextBox 21"/>
          <p:cNvSpPr txBox="1"/>
          <p:nvPr/>
        </p:nvSpPr>
        <p:spPr>
          <a:xfrm>
            <a:off x="6995160" y="1591056"/>
            <a:ext cx="4572000" cy="256032"/>
          </a:xfrm>
          <a:prstGeom prst="rect">
            <a:avLst/>
          </a:prstGeom>
          <a:noFill/>
        </p:spPr>
        <p:txBody>
          <a:bodyPr wrap="square">
            <a:spAutoFit/>
          </a:bodyPr>
          <a:lstStyle/>
          <a:p>
            <a:pPr algn="l"/>
            <a:r>
              <a:rPr sz="1200" b="1" i="0">
                <a:solidFill>
                  <a:srgbClr val="0F172A"/>
                </a:solidFill>
                <a:latin typeface="Calibri"/>
              </a:rPr>
              <a:t>Novel RAG Application</a:t>
            </a:r>
          </a:p>
        </p:txBody>
      </p:sp>
      <p:sp>
        <p:nvSpPr>
          <p:cNvPr id="23" name="TextBox 22"/>
          <p:cNvSpPr txBox="1"/>
          <p:nvPr/>
        </p:nvSpPr>
        <p:spPr>
          <a:xfrm>
            <a:off x="6995160" y="1883664"/>
            <a:ext cx="4572000" cy="1005840"/>
          </a:xfrm>
          <a:prstGeom prst="rect">
            <a:avLst/>
          </a:prstGeom>
          <a:noFill/>
        </p:spPr>
        <p:txBody>
          <a:bodyPr wrap="square">
            <a:spAutoFit/>
          </a:bodyPr>
          <a:lstStyle/>
          <a:p>
            <a:pPr algn="l"/>
            <a:r>
              <a:rPr sz="1000" b="0" i="0">
                <a:solidFill>
                  <a:srgbClr val="334155"/>
                </a:solidFill>
                <a:latin typeface="Calibri"/>
              </a:rPr>
              <a:t>First application of FAISS-backed RAG retrieval to passive browser telemetry for adolescent mental health — a new Digital Phenotyping paradigm.</a:t>
            </a:r>
          </a:p>
        </p:txBody>
      </p:sp>
      <p:sp>
        <p:nvSpPr>
          <p:cNvPr id="24" name="Rectangle 23"/>
          <p:cNvSpPr/>
          <p:nvPr/>
        </p:nvSpPr>
        <p:spPr>
          <a:xfrm>
            <a:off x="6217920" y="3081528"/>
            <a:ext cx="5486400" cy="1554480"/>
          </a:xfrm>
          <a:prstGeom prst="rect">
            <a:avLst/>
          </a:prstGeom>
          <a:solidFill>
            <a:srgbClr val="FFFFFF"/>
          </a:solidFill>
          <a:ln w="508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3191256"/>
            <a:ext cx="502920" cy="457200"/>
          </a:xfrm>
          <a:prstGeom prst="rect">
            <a:avLst/>
          </a:prstGeom>
          <a:noFill/>
        </p:spPr>
        <p:txBody>
          <a:bodyPr wrap="square">
            <a:spAutoFit/>
          </a:bodyPr>
          <a:lstStyle/>
          <a:p>
            <a:pPr algn="l"/>
            <a:r>
              <a:rPr sz="2200" b="0" i="0">
                <a:solidFill>
                  <a:srgbClr val="0F172A"/>
                </a:solidFill>
                <a:latin typeface="Calibri"/>
              </a:rPr>
              <a:t>🏥</a:t>
            </a:r>
          </a:p>
        </p:txBody>
      </p:sp>
      <p:sp>
        <p:nvSpPr>
          <p:cNvPr id="26" name="TextBox 25"/>
          <p:cNvSpPr txBox="1"/>
          <p:nvPr/>
        </p:nvSpPr>
        <p:spPr>
          <a:xfrm>
            <a:off x="6995160" y="3191256"/>
            <a:ext cx="4572000" cy="256032"/>
          </a:xfrm>
          <a:prstGeom prst="rect">
            <a:avLst/>
          </a:prstGeom>
          <a:noFill/>
        </p:spPr>
        <p:txBody>
          <a:bodyPr wrap="square">
            <a:spAutoFit/>
          </a:bodyPr>
          <a:lstStyle/>
          <a:p>
            <a:pPr algn="l"/>
            <a:r>
              <a:rPr sz="1200" b="1" i="0">
                <a:solidFill>
                  <a:srgbClr val="0F172A"/>
                </a:solidFill>
                <a:latin typeface="Calibri"/>
              </a:rPr>
              <a:t>Clinical Safety Framework</a:t>
            </a:r>
          </a:p>
        </p:txBody>
      </p:sp>
      <p:sp>
        <p:nvSpPr>
          <p:cNvPr id="27" name="TextBox 26"/>
          <p:cNvSpPr txBox="1"/>
          <p:nvPr/>
        </p:nvSpPr>
        <p:spPr>
          <a:xfrm>
            <a:off x="6995160" y="3483864"/>
            <a:ext cx="4572000" cy="1005840"/>
          </a:xfrm>
          <a:prstGeom prst="rect">
            <a:avLst/>
          </a:prstGeom>
          <a:noFill/>
        </p:spPr>
        <p:txBody>
          <a:bodyPr wrap="square">
            <a:spAutoFit/>
          </a:bodyPr>
          <a:lstStyle/>
          <a:p>
            <a:pPr algn="l"/>
            <a:r>
              <a:rPr sz="1000" b="0" i="0">
                <a:solidFill>
                  <a:srgbClr val="334155"/>
                </a:solidFill>
                <a:latin typeface="Calibri"/>
              </a:rPr>
              <a:t>Explicit ≥90% High-Risk Recall target aligned with clinical triage standards — bridging AI detection and clinical safety benchmarks.</a:t>
            </a:r>
          </a:p>
        </p:txBody>
      </p:sp>
      <p:sp>
        <p:nvSpPr>
          <p:cNvPr id="28" name="Rectangle 27"/>
          <p:cNvSpPr/>
          <p:nvPr/>
        </p:nvSpPr>
        <p:spPr>
          <a:xfrm>
            <a:off x="6217920" y="4681728"/>
            <a:ext cx="5486400" cy="1554480"/>
          </a:xfrm>
          <a:prstGeom prst="rect">
            <a:avLst/>
          </a:prstGeom>
          <a:solidFill>
            <a:srgbClr val="FFFFFF"/>
          </a:solidFill>
          <a:ln w="508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55080" y="4791456"/>
            <a:ext cx="502920" cy="457200"/>
          </a:xfrm>
          <a:prstGeom prst="rect">
            <a:avLst/>
          </a:prstGeom>
          <a:noFill/>
        </p:spPr>
        <p:txBody>
          <a:bodyPr wrap="square">
            <a:spAutoFit/>
          </a:bodyPr>
          <a:lstStyle/>
          <a:p>
            <a:pPr algn="l"/>
            <a:r>
              <a:rPr sz="2200" b="0" i="0">
                <a:solidFill>
                  <a:srgbClr val="0F172A"/>
                </a:solidFill>
                <a:latin typeface="Calibri"/>
              </a:rPr>
              <a:t>🔭</a:t>
            </a:r>
          </a:p>
        </p:txBody>
      </p:sp>
      <p:sp>
        <p:nvSpPr>
          <p:cNvPr id="30" name="TextBox 29"/>
          <p:cNvSpPr txBox="1"/>
          <p:nvPr/>
        </p:nvSpPr>
        <p:spPr>
          <a:xfrm>
            <a:off x="6995160" y="4791456"/>
            <a:ext cx="4572000" cy="256032"/>
          </a:xfrm>
          <a:prstGeom prst="rect">
            <a:avLst/>
          </a:prstGeom>
          <a:noFill/>
        </p:spPr>
        <p:txBody>
          <a:bodyPr wrap="square">
            <a:spAutoFit/>
          </a:bodyPr>
          <a:lstStyle/>
          <a:p>
            <a:pPr algn="l"/>
            <a:r>
              <a:rPr sz="1200" b="1" i="0">
                <a:solidFill>
                  <a:srgbClr val="0F172A"/>
                </a:solidFill>
                <a:latin typeface="Calibri"/>
              </a:rPr>
              <a:t>Explainability Roadmap</a:t>
            </a:r>
          </a:p>
        </p:txBody>
      </p:sp>
      <p:sp>
        <p:nvSpPr>
          <p:cNvPr id="31" name="TextBox 30"/>
          <p:cNvSpPr txBox="1"/>
          <p:nvPr/>
        </p:nvSpPr>
        <p:spPr>
          <a:xfrm>
            <a:off x="6995160" y="5084064"/>
            <a:ext cx="4572000" cy="1005840"/>
          </a:xfrm>
          <a:prstGeom prst="rect">
            <a:avLst/>
          </a:prstGeom>
          <a:noFill/>
        </p:spPr>
        <p:txBody>
          <a:bodyPr wrap="square">
            <a:spAutoFit/>
          </a:bodyPr>
          <a:lstStyle/>
          <a:p>
            <a:pPr algn="l"/>
            <a:r>
              <a:rPr sz="1000" b="0" i="0">
                <a:solidFill>
                  <a:srgbClr val="334155"/>
                </a:solidFill>
                <a:latin typeface="Calibri"/>
              </a:rPr>
              <a:t>User-driven recommendation for an XAI Insights Panel transforms the dashboard from an alerting tool to an educational clinical instrument.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137160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FFFFFF"/>
                </a:solidFill>
                <a:latin typeface="Calibri"/>
              </a:rPr>
              <a:t>CONCLUSION</a:t>
            </a:r>
          </a:p>
        </p:txBody>
      </p:sp>
      <p:sp>
        <p:nvSpPr>
          <p:cNvPr id="3" name="TextBox 2"/>
          <p:cNvSpPr txBox="1"/>
          <p:nvPr/>
        </p:nvSpPr>
        <p:spPr>
          <a:xfrm>
            <a:off x="2011680" y="347472"/>
            <a:ext cx="8961120" cy="502920"/>
          </a:xfrm>
          <a:prstGeom prst="rect">
            <a:avLst/>
          </a:prstGeom>
          <a:noFill/>
        </p:spPr>
        <p:txBody>
          <a:bodyPr wrap="none">
            <a:spAutoFit/>
          </a:bodyPr>
          <a:lstStyle/>
          <a:p>
            <a:r>
              <a:rPr sz="2200" b="1">
                <a:solidFill>
                  <a:srgbClr val="0F172A"/>
                </a:solidFill>
                <a:latin typeface="Calibri"/>
              </a:rPr>
              <a:t>What Was </a:t>
            </a:r>
            <a:r>
              <a:rPr sz="2200" b="1">
                <a:solidFill>
                  <a:srgbClr val="4F46E5"/>
                </a:solidFill>
                <a:latin typeface="Calibri"/>
              </a:rPr>
              <a:t>Accomplished</a:t>
            </a: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12</a:t>
            </a:r>
          </a:p>
        </p:txBody>
      </p:sp>
      <p:sp>
        <p:nvSpPr>
          <p:cNvPr id="6" name="Rectangle 5"/>
          <p:cNvSpPr/>
          <p:nvPr/>
        </p:nvSpPr>
        <p:spPr>
          <a:xfrm>
            <a:off x="457200" y="1170432"/>
            <a:ext cx="11247120" cy="80467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353312"/>
            <a:ext cx="320040" cy="411480"/>
          </a:xfrm>
          <a:prstGeom prst="rect">
            <a:avLst/>
          </a:prstGeom>
          <a:noFill/>
        </p:spPr>
        <p:txBody>
          <a:bodyPr wrap="square">
            <a:spAutoFit/>
          </a:bodyPr>
          <a:lstStyle/>
          <a:p>
            <a:pPr algn="l"/>
            <a:r>
              <a:rPr sz="1800" b="1" i="0">
                <a:solidFill>
                  <a:srgbClr val="4F46E5"/>
                </a:solidFill>
                <a:latin typeface="Calibri"/>
              </a:rPr>
              <a:t>✔</a:t>
            </a:r>
          </a:p>
        </p:txBody>
      </p:sp>
      <p:sp>
        <p:nvSpPr>
          <p:cNvPr id="8" name="TextBox 7"/>
          <p:cNvSpPr txBox="1"/>
          <p:nvPr/>
        </p:nvSpPr>
        <p:spPr>
          <a:xfrm>
            <a:off x="1051560" y="1298448"/>
            <a:ext cx="10515600" cy="603504"/>
          </a:xfrm>
          <a:prstGeom prst="rect">
            <a:avLst/>
          </a:prstGeom>
          <a:noFill/>
        </p:spPr>
        <p:txBody>
          <a:bodyPr wrap="square">
            <a:spAutoFit/>
          </a:bodyPr>
          <a:lstStyle/>
          <a:p>
            <a:pPr algn="l"/>
            <a:r>
              <a:rPr sz="1100" b="0" i="0">
                <a:solidFill>
                  <a:srgbClr val="0F172A"/>
                </a:solidFill>
                <a:latin typeface="Calibri"/>
              </a:rPr>
              <a:t>Developed a fully functional browser extension that passively detects depressive language with 88.1% overall accuracy.</a:t>
            </a:r>
          </a:p>
        </p:txBody>
      </p:sp>
      <p:sp>
        <p:nvSpPr>
          <p:cNvPr id="9" name="Rectangle 8"/>
          <p:cNvSpPr/>
          <p:nvPr/>
        </p:nvSpPr>
        <p:spPr>
          <a:xfrm>
            <a:off x="457200" y="2029968"/>
            <a:ext cx="11247120" cy="80467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212848"/>
            <a:ext cx="320040" cy="411480"/>
          </a:xfrm>
          <a:prstGeom prst="rect">
            <a:avLst/>
          </a:prstGeom>
          <a:noFill/>
        </p:spPr>
        <p:txBody>
          <a:bodyPr wrap="square">
            <a:spAutoFit/>
          </a:bodyPr>
          <a:lstStyle/>
          <a:p>
            <a:pPr algn="l"/>
            <a:r>
              <a:rPr sz="1800" b="1" i="0">
                <a:solidFill>
                  <a:srgbClr val="4F46E5"/>
                </a:solidFill>
                <a:latin typeface="Calibri"/>
              </a:rPr>
              <a:t>✔</a:t>
            </a:r>
          </a:p>
        </p:txBody>
      </p:sp>
      <p:sp>
        <p:nvSpPr>
          <p:cNvPr id="11" name="TextBox 10"/>
          <p:cNvSpPr txBox="1"/>
          <p:nvPr/>
        </p:nvSpPr>
        <p:spPr>
          <a:xfrm>
            <a:off x="1051560" y="2157984"/>
            <a:ext cx="10515600" cy="603504"/>
          </a:xfrm>
          <a:prstGeom prst="rect">
            <a:avLst/>
          </a:prstGeom>
          <a:noFill/>
        </p:spPr>
        <p:txBody>
          <a:bodyPr wrap="square">
            <a:spAutoFit/>
          </a:bodyPr>
          <a:lstStyle/>
          <a:p>
            <a:pPr algn="l"/>
            <a:r>
              <a:rPr sz="1100" b="0" i="0">
                <a:solidFill>
                  <a:srgbClr val="0F172A"/>
                </a:solidFill>
                <a:latin typeface="Calibri"/>
              </a:rPr>
              <a:t>Implemented a novel RAG-driven LLM pipeline (FAISS + Gemini), achieving a clinically critical High-Risk Recall of 94.1% — surpassing the ≥90% safety target.</a:t>
            </a:r>
          </a:p>
        </p:txBody>
      </p:sp>
      <p:sp>
        <p:nvSpPr>
          <p:cNvPr id="12" name="Rectangle 11"/>
          <p:cNvSpPr/>
          <p:nvPr/>
        </p:nvSpPr>
        <p:spPr>
          <a:xfrm>
            <a:off x="457200" y="2889504"/>
            <a:ext cx="11247120" cy="80467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072384"/>
            <a:ext cx="320040" cy="411480"/>
          </a:xfrm>
          <a:prstGeom prst="rect">
            <a:avLst/>
          </a:prstGeom>
          <a:noFill/>
        </p:spPr>
        <p:txBody>
          <a:bodyPr wrap="square">
            <a:spAutoFit/>
          </a:bodyPr>
          <a:lstStyle/>
          <a:p>
            <a:pPr algn="l"/>
            <a:r>
              <a:rPr sz="1800" b="1" i="0">
                <a:solidFill>
                  <a:srgbClr val="4F46E5"/>
                </a:solidFill>
                <a:latin typeface="Calibri"/>
              </a:rPr>
              <a:t>✔</a:t>
            </a:r>
          </a:p>
        </p:txBody>
      </p:sp>
      <p:sp>
        <p:nvSpPr>
          <p:cNvPr id="14" name="TextBox 13"/>
          <p:cNvSpPr txBox="1"/>
          <p:nvPr/>
        </p:nvSpPr>
        <p:spPr>
          <a:xfrm>
            <a:off x="1051560" y="3017520"/>
            <a:ext cx="10515600" cy="603504"/>
          </a:xfrm>
          <a:prstGeom prst="rect">
            <a:avLst/>
          </a:prstGeom>
          <a:noFill/>
        </p:spPr>
        <p:txBody>
          <a:bodyPr wrap="square">
            <a:spAutoFit/>
          </a:bodyPr>
          <a:lstStyle/>
          <a:p>
            <a:pPr algn="l"/>
            <a:r>
              <a:rPr sz="1100" b="0" i="0">
                <a:solidFill>
                  <a:srgbClr val="0F172A"/>
                </a:solidFill>
                <a:latin typeface="Calibri"/>
              </a:rPr>
              <a:t>Built a complete guardian escalation framework with a real-time dashboard, consent management, and automated alert notifications.</a:t>
            </a:r>
          </a:p>
        </p:txBody>
      </p:sp>
      <p:sp>
        <p:nvSpPr>
          <p:cNvPr id="15" name="Rectangle 14"/>
          <p:cNvSpPr/>
          <p:nvPr/>
        </p:nvSpPr>
        <p:spPr>
          <a:xfrm>
            <a:off x="457200" y="3749040"/>
            <a:ext cx="11247120" cy="80467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3931920"/>
            <a:ext cx="320040" cy="411480"/>
          </a:xfrm>
          <a:prstGeom prst="rect">
            <a:avLst/>
          </a:prstGeom>
          <a:noFill/>
        </p:spPr>
        <p:txBody>
          <a:bodyPr wrap="square">
            <a:spAutoFit/>
          </a:bodyPr>
          <a:lstStyle/>
          <a:p>
            <a:pPr algn="l"/>
            <a:r>
              <a:rPr sz="1800" b="1" i="0">
                <a:solidFill>
                  <a:srgbClr val="4F46E5"/>
                </a:solidFill>
                <a:latin typeface="Calibri"/>
              </a:rPr>
              <a:t>✔</a:t>
            </a:r>
          </a:p>
        </p:txBody>
      </p:sp>
      <p:sp>
        <p:nvSpPr>
          <p:cNvPr id="17" name="TextBox 16"/>
          <p:cNvSpPr txBox="1"/>
          <p:nvPr/>
        </p:nvSpPr>
        <p:spPr>
          <a:xfrm>
            <a:off x="1051560" y="3877056"/>
            <a:ext cx="10515600" cy="603504"/>
          </a:xfrm>
          <a:prstGeom prst="rect">
            <a:avLst/>
          </a:prstGeom>
          <a:noFill/>
        </p:spPr>
        <p:txBody>
          <a:bodyPr wrap="square">
            <a:spAutoFit/>
          </a:bodyPr>
          <a:lstStyle/>
          <a:p>
            <a:pPr algn="l"/>
            <a:r>
              <a:rPr sz="1100" b="0" i="0">
                <a:solidFill>
                  <a:srgbClr val="0F172A"/>
                </a:solidFill>
                <a:latin typeface="Calibri"/>
              </a:rPr>
              <a:t>Validated usability with 24 participants achieving a SUS score of 69.1 (Above Average) — confirming accessibility for non-technical users.</a:t>
            </a:r>
          </a:p>
        </p:txBody>
      </p:sp>
      <p:sp>
        <p:nvSpPr>
          <p:cNvPr id="18" name="Rectangle 17"/>
          <p:cNvSpPr/>
          <p:nvPr/>
        </p:nvSpPr>
        <p:spPr>
          <a:xfrm>
            <a:off x="457200" y="4608576"/>
            <a:ext cx="11247120" cy="80467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4791456"/>
            <a:ext cx="320040" cy="411480"/>
          </a:xfrm>
          <a:prstGeom prst="rect">
            <a:avLst/>
          </a:prstGeom>
          <a:noFill/>
        </p:spPr>
        <p:txBody>
          <a:bodyPr wrap="square">
            <a:spAutoFit/>
          </a:bodyPr>
          <a:lstStyle/>
          <a:p>
            <a:pPr algn="l"/>
            <a:r>
              <a:rPr sz="1800" b="1" i="0">
                <a:solidFill>
                  <a:srgbClr val="4F46E5"/>
                </a:solidFill>
                <a:latin typeface="Calibri"/>
              </a:rPr>
              <a:t>✔</a:t>
            </a:r>
          </a:p>
        </p:txBody>
      </p:sp>
      <p:sp>
        <p:nvSpPr>
          <p:cNvPr id="20" name="TextBox 19"/>
          <p:cNvSpPr txBox="1"/>
          <p:nvPr/>
        </p:nvSpPr>
        <p:spPr>
          <a:xfrm>
            <a:off x="1051560" y="4736592"/>
            <a:ext cx="10515600" cy="603504"/>
          </a:xfrm>
          <a:prstGeom prst="rect">
            <a:avLst/>
          </a:prstGeom>
          <a:noFill/>
        </p:spPr>
        <p:txBody>
          <a:bodyPr wrap="square">
            <a:spAutoFit/>
          </a:bodyPr>
          <a:lstStyle/>
          <a:p>
            <a:pPr algn="l"/>
            <a:r>
              <a:rPr sz="1100" b="0" i="0">
                <a:solidFill>
                  <a:srgbClr val="0F172A"/>
                </a:solidFill>
                <a:latin typeface="Calibri"/>
              </a:rPr>
              <a:t>Identified key future work: an Explainable AI (XAI) Insights Panel to surface linguistic triggers — driven directly by user feedback.</a:t>
            </a:r>
          </a:p>
        </p:txBody>
      </p:sp>
      <p:sp>
        <p:nvSpPr>
          <p:cNvPr id="21" name="Rectangle 20"/>
          <p:cNvSpPr/>
          <p:nvPr/>
        </p:nvSpPr>
        <p:spPr>
          <a:xfrm>
            <a:off x="457200" y="5321808"/>
            <a:ext cx="11247120" cy="457200"/>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5394960"/>
            <a:ext cx="10972800" cy="347472"/>
          </a:xfrm>
          <a:prstGeom prst="rect">
            <a:avLst/>
          </a:prstGeom>
          <a:noFill/>
        </p:spPr>
        <p:txBody>
          <a:bodyPr wrap="square">
            <a:spAutoFit/>
          </a:bodyPr>
          <a:lstStyle/>
          <a:p>
            <a:pPr algn="l"/>
            <a:r>
              <a:rPr sz="1000" b="1" i="0">
                <a:solidFill>
                  <a:srgbClr val="4F46E5"/>
                </a:solidFill>
                <a:latin typeface="Calibri"/>
              </a:rPr>
              <a:t>🎯 MindGuard successfully addresses the critical gap in passive adolescent mental health monitoring — bridging AI detection and real-world guardian intervention.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137160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FFFFFF"/>
                </a:solidFill>
                <a:latin typeface="Calibri"/>
              </a:rPr>
              <a:t>REFERENCES</a:t>
            </a:r>
          </a:p>
        </p:txBody>
      </p:sp>
      <p:sp>
        <p:nvSpPr>
          <p:cNvPr id="3" name="TextBox 2"/>
          <p:cNvSpPr txBox="1"/>
          <p:nvPr/>
        </p:nvSpPr>
        <p:spPr>
          <a:xfrm>
            <a:off x="2011680" y="347472"/>
            <a:ext cx="8961120" cy="502920"/>
          </a:xfrm>
          <a:prstGeom prst="rect">
            <a:avLst/>
          </a:prstGeom>
          <a:noFill/>
        </p:spPr>
        <p:txBody>
          <a:bodyPr wrap="none">
            <a:spAutoFit/>
          </a:bodyPr>
          <a:lstStyle/>
          <a:p>
            <a:r>
              <a:rPr sz="2200" b="1">
                <a:solidFill>
                  <a:srgbClr val="0F172A"/>
                </a:solidFill>
                <a:latin typeface="Calibri"/>
              </a:rPr>
              <a:t>Works </a:t>
            </a:r>
            <a:r>
              <a:rPr sz="2200" b="1">
                <a:solidFill>
                  <a:srgbClr val="4F46E5"/>
                </a:solidFill>
                <a:latin typeface="Calibri"/>
              </a:rPr>
              <a:t>Cited</a:t>
            </a:r>
            <a:r>
              <a:rPr sz="2200" b="1">
                <a:solidFill>
                  <a:srgbClr val="0F172A"/>
                </a:solidFill>
                <a:latin typeface="Calibri"/>
              </a:rPr>
              <a:t> in This Presentation</a:t>
            </a: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13</a:t>
            </a:r>
          </a:p>
        </p:txBody>
      </p:sp>
      <p:sp>
        <p:nvSpPr>
          <p:cNvPr id="6" name="Rectangle 5"/>
          <p:cNvSpPr/>
          <p:nvPr/>
        </p:nvSpPr>
        <p:spPr>
          <a:xfrm>
            <a:off x="457200" y="1143000"/>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197864"/>
            <a:ext cx="11064240" cy="566928"/>
          </a:xfrm>
          <a:prstGeom prst="rect">
            <a:avLst/>
          </a:prstGeom>
          <a:noFill/>
        </p:spPr>
        <p:txBody>
          <a:bodyPr wrap="square">
            <a:spAutoFit/>
          </a:bodyPr>
          <a:lstStyle/>
          <a:p>
            <a:pPr algn="l"/>
            <a:r>
              <a:rPr sz="1000" b="0" i="0">
                <a:solidFill>
                  <a:srgbClr val="334155"/>
                </a:solidFill>
                <a:latin typeface="Calibri"/>
              </a:rPr>
              <a:t>Q. Guo et al. (2024). Detection of suicidal ideation in social media text using BERT-based classification. Journal of Biomedical Informatics.</a:t>
            </a:r>
          </a:p>
        </p:txBody>
      </p:sp>
      <p:sp>
        <p:nvSpPr>
          <p:cNvPr id="8" name="Rectangle 7"/>
          <p:cNvSpPr/>
          <p:nvPr/>
        </p:nvSpPr>
        <p:spPr>
          <a:xfrm>
            <a:off x="457200" y="1819656"/>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874520"/>
            <a:ext cx="11064240" cy="566928"/>
          </a:xfrm>
          <a:prstGeom prst="rect">
            <a:avLst/>
          </a:prstGeom>
          <a:noFill/>
        </p:spPr>
        <p:txBody>
          <a:bodyPr wrap="square">
            <a:spAutoFit/>
          </a:bodyPr>
          <a:lstStyle/>
          <a:p>
            <a:pPr algn="l"/>
            <a:r>
              <a:rPr sz="1000" b="0" i="0">
                <a:solidFill>
                  <a:srgbClr val="334155"/>
                </a:solidFill>
                <a:latin typeface="Calibri"/>
              </a:rPr>
              <a:t>Ilapaka, A., &amp; Ghosh, S. (2025). RAG-enhanced conversational agents for mental health support using FAISS vector retrieval. Applied Intelligence.</a:t>
            </a:r>
          </a:p>
        </p:txBody>
      </p:sp>
      <p:sp>
        <p:nvSpPr>
          <p:cNvPr id="10" name="Rectangle 9"/>
          <p:cNvSpPr/>
          <p:nvPr/>
        </p:nvSpPr>
        <p:spPr>
          <a:xfrm>
            <a:off x="457200" y="2496312"/>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551176"/>
            <a:ext cx="11064240" cy="566928"/>
          </a:xfrm>
          <a:prstGeom prst="rect">
            <a:avLst/>
          </a:prstGeom>
          <a:noFill/>
        </p:spPr>
        <p:txBody>
          <a:bodyPr wrap="square">
            <a:spAutoFit/>
          </a:bodyPr>
          <a:lstStyle/>
          <a:p>
            <a:pPr algn="l"/>
            <a:r>
              <a:rPr sz="1000" b="0" i="0">
                <a:solidFill>
                  <a:srgbClr val="334155"/>
                </a:solidFill>
                <a:latin typeface="Calibri"/>
              </a:rPr>
              <a:t>Zhang, Y. et al. (2023). SouLLMate: An LLM-based emotional support system for mental health applications. arXiv.</a:t>
            </a:r>
          </a:p>
        </p:txBody>
      </p:sp>
      <p:sp>
        <p:nvSpPr>
          <p:cNvPr id="12" name="Rectangle 11"/>
          <p:cNvSpPr/>
          <p:nvPr/>
        </p:nvSpPr>
        <p:spPr>
          <a:xfrm>
            <a:off x="457200" y="3172968"/>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227832"/>
            <a:ext cx="11064240" cy="566928"/>
          </a:xfrm>
          <a:prstGeom prst="rect">
            <a:avLst/>
          </a:prstGeom>
          <a:noFill/>
        </p:spPr>
        <p:txBody>
          <a:bodyPr wrap="square">
            <a:spAutoFit/>
          </a:bodyPr>
          <a:lstStyle/>
          <a:p>
            <a:pPr algn="l"/>
            <a:r>
              <a:rPr sz="1000" b="0" i="0">
                <a:solidFill>
                  <a:srgbClr val="334155"/>
                </a:solidFill>
                <a:latin typeface="Calibri"/>
              </a:rPr>
              <a:t>Fitzpatrick, K. K. et al. (2022). Delivering cognitive behaviour therapy to young adults via a conversational agent, Woebot. JMIR Mental Health.</a:t>
            </a:r>
          </a:p>
        </p:txBody>
      </p:sp>
      <p:sp>
        <p:nvSpPr>
          <p:cNvPr id="14" name="Rectangle 13"/>
          <p:cNvSpPr/>
          <p:nvPr/>
        </p:nvSpPr>
        <p:spPr>
          <a:xfrm>
            <a:off x="457200" y="3849624"/>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904488"/>
            <a:ext cx="11064240" cy="566928"/>
          </a:xfrm>
          <a:prstGeom prst="rect">
            <a:avLst/>
          </a:prstGeom>
          <a:noFill/>
        </p:spPr>
        <p:txBody>
          <a:bodyPr wrap="square">
            <a:spAutoFit/>
          </a:bodyPr>
          <a:lstStyle/>
          <a:p>
            <a:pPr algn="l"/>
            <a:r>
              <a:rPr sz="1000" b="0" i="0">
                <a:solidFill>
                  <a:srgbClr val="334155"/>
                </a:solidFill>
                <a:latin typeface="Calibri"/>
              </a:rPr>
              <a:t>Hollis, C. et al. (2021). Annual research review: Digital health interventions for children and young people with mental health problems. J. Child Psychology &amp; Psychiatry, 62(4).</a:t>
            </a:r>
          </a:p>
        </p:txBody>
      </p:sp>
      <p:sp>
        <p:nvSpPr>
          <p:cNvPr id="16" name="Rectangle 15"/>
          <p:cNvSpPr/>
          <p:nvPr/>
        </p:nvSpPr>
        <p:spPr>
          <a:xfrm>
            <a:off x="457200" y="4526280"/>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4581144"/>
            <a:ext cx="11064240" cy="566928"/>
          </a:xfrm>
          <a:prstGeom prst="rect">
            <a:avLst/>
          </a:prstGeom>
          <a:noFill/>
        </p:spPr>
        <p:txBody>
          <a:bodyPr wrap="square">
            <a:spAutoFit/>
          </a:bodyPr>
          <a:lstStyle/>
          <a:p>
            <a:pPr algn="l"/>
            <a:r>
              <a:rPr sz="1000" b="0" i="0">
                <a:solidFill>
                  <a:srgbClr val="334155"/>
                </a:solidFill>
                <a:latin typeface="Calibri"/>
              </a:rPr>
              <a:t>Torous, J. et al. (2021). The growing field of digital psychiatry: apps, social media, chatbots, and virtual reality. World Psychiatry, 20(3), 318–335.</a:t>
            </a:r>
          </a:p>
        </p:txBody>
      </p:sp>
      <p:sp>
        <p:nvSpPr>
          <p:cNvPr id="18" name="Rectangle 17"/>
          <p:cNvSpPr/>
          <p:nvPr/>
        </p:nvSpPr>
        <p:spPr>
          <a:xfrm>
            <a:off x="457200" y="5202936"/>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257800"/>
            <a:ext cx="11064240" cy="566928"/>
          </a:xfrm>
          <a:prstGeom prst="rect">
            <a:avLst/>
          </a:prstGeom>
          <a:noFill/>
        </p:spPr>
        <p:txBody>
          <a:bodyPr wrap="square">
            <a:spAutoFit/>
          </a:bodyPr>
          <a:lstStyle/>
          <a:p>
            <a:pPr algn="l"/>
            <a:r>
              <a:rPr sz="1000" b="0" i="0">
                <a:solidFill>
                  <a:srgbClr val="334155"/>
                </a:solidFill>
                <a:latin typeface="Calibri"/>
              </a:rPr>
              <a:t>O'Reilly, M. et al. (2023). Examining the risk and protective associations of social media use and adolescent mental health. npj Mental Health Research.</a:t>
            </a:r>
          </a:p>
        </p:txBody>
      </p:sp>
      <p:sp>
        <p:nvSpPr>
          <p:cNvPr id="20" name="Rectangle 19"/>
          <p:cNvSpPr/>
          <p:nvPr/>
        </p:nvSpPr>
        <p:spPr>
          <a:xfrm>
            <a:off x="457200" y="5879592"/>
            <a:ext cx="63500" cy="6583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5934456"/>
            <a:ext cx="11064240" cy="566928"/>
          </a:xfrm>
          <a:prstGeom prst="rect">
            <a:avLst/>
          </a:prstGeom>
          <a:noFill/>
        </p:spPr>
        <p:txBody>
          <a:bodyPr wrap="square">
            <a:spAutoFit/>
          </a:bodyPr>
          <a:lstStyle/>
          <a:p>
            <a:pPr algn="l"/>
            <a:r>
              <a:rPr sz="1000" b="0" i="0">
                <a:solidFill>
                  <a:srgbClr val="334155"/>
                </a:solidFill>
                <a:latin typeface="Calibri"/>
              </a:rPr>
              <a:t>Thabrew, H. et al. (2022). Digital health interventions for adolescent mental health. Child and Adolescent Mental Health, 27(2), 98–109.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457200" y="411480"/>
            <a:ext cx="137160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FFFFFF"/>
                </a:solidFill>
                <a:latin typeface="Calibri"/>
              </a:rPr>
              <a:t>ACKNOWLEDGEMENT</a:t>
            </a:r>
          </a:p>
        </p:txBody>
      </p:sp>
      <p:sp>
        <p:nvSpPr>
          <p:cNvPr id="3" name="TextBox 2"/>
          <p:cNvSpPr txBox="1"/>
          <p:nvPr/>
        </p:nvSpPr>
        <p:spPr>
          <a:xfrm>
            <a:off x="2011680" y="347472"/>
            <a:ext cx="8961120" cy="502920"/>
          </a:xfrm>
          <a:prstGeom prst="rect">
            <a:avLst/>
          </a:prstGeom>
          <a:noFill/>
        </p:spPr>
        <p:txBody>
          <a:bodyPr wrap="none">
            <a:spAutoFit/>
          </a:bodyPr>
          <a:lstStyle/>
          <a:p>
            <a:r>
              <a:rPr sz="2200" b="1">
                <a:solidFill>
                  <a:srgbClr val="0F172A"/>
                </a:solidFill>
                <a:latin typeface="Calibri"/>
              </a:rPr>
              <a:t>With Sincere </a:t>
            </a:r>
            <a:r>
              <a:rPr sz="2200" b="1">
                <a:solidFill>
                  <a:srgbClr val="4F46E5"/>
                </a:solidFill>
                <a:latin typeface="Calibri"/>
              </a:rPr>
              <a:t>Gratitude</a:t>
            </a:r>
          </a:p>
        </p:txBody>
      </p:sp>
      <p:sp>
        <p:nvSpPr>
          <p:cNvPr id="4" name="Rectangle 3"/>
          <p:cNvSpPr/>
          <p:nvPr/>
        </p:nvSpPr>
        <p:spPr>
          <a:xfrm>
            <a:off x="457200" y="960120"/>
            <a:ext cx="11247120" cy="1905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14</a:t>
            </a:r>
          </a:p>
        </p:txBody>
      </p:sp>
      <p:sp>
        <p:nvSpPr>
          <p:cNvPr id="6" name="Rectangle 5"/>
          <p:cNvSpPr/>
          <p:nvPr/>
        </p:nvSpPr>
        <p:spPr>
          <a:xfrm>
            <a:off x="457200" y="1188720"/>
            <a:ext cx="3566160" cy="2011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71600"/>
            <a:ext cx="3566160" cy="502920"/>
          </a:xfrm>
          <a:prstGeom prst="rect">
            <a:avLst/>
          </a:prstGeom>
          <a:noFill/>
        </p:spPr>
        <p:txBody>
          <a:bodyPr wrap="square">
            <a:spAutoFit/>
          </a:bodyPr>
          <a:lstStyle/>
          <a:p>
            <a:pPr algn="ctr"/>
            <a:r>
              <a:rPr sz="2800" b="0" i="0">
                <a:solidFill>
                  <a:srgbClr val="0F172A"/>
                </a:solidFill>
                <a:latin typeface="Calibri"/>
              </a:rPr>
              <a:t>🙏</a:t>
            </a:r>
          </a:p>
        </p:txBody>
      </p:sp>
      <p:sp>
        <p:nvSpPr>
          <p:cNvPr id="8" name="TextBox 7"/>
          <p:cNvSpPr txBox="1"/>
          <p:nvPr/>
        </p:nvSpPr>
        <p:spPr>
          <a:xfrm>
            <a:off x="457200" y="1938528"/>
            <a:ext cx="3566160" cy="292608"/>
          </a:xfrm>
          <a:prstGeom prst="rect">
            <a:avLst/>
          </a:prstGeom>
          <a:noFill/>
        </p:spPr>
        <p:txBody>
          <a:bodyPr wrap="square">
            <a:spAutoFit/>
          </a:bodyPr>
          <a:lstStyle/>
          <a:p>
            <a:pPr algn="ctr"/>
            <a:r>
              <a:rPr sz="1300" b="1" i="0">
                <a:solidFill>
                  <a:srgbClr val="0F172A"/>
                </a:solidFill>
                <a:latin typeface="Calibri"/>
              </a:rPr>
              <a:t>Almighty God</a:t>
            </a:r>
          </a:p>
        </p:txBody>
      </p:sp>
      <p:sp>
        <p:nvSpPr>
          <p:cNvPr id="9" name="TextBox 8"/>
          <p:cNvSpPr txBox="1"/>
          <p:nvPr/>
        </p:nvSpPr>
        <p:spPr>
          <a:xfrm>
            <a:off x="594360" y="2267712"/>
            <a:ext cx="3291840" cy="777240"/>
          </a:xfrm>
          <a:prstGeom prst="rect">
            <a:avLst/>
          </a:prstGeom>
          <a:noFill/>
        </p:spPr>
        <p:txBody>
          <a:bodyPr wrap="square">
            <a:spAutoFit/>
          </a:bodyPr>
          <a:lstStyle/>
          <a:p>
            <a:pPr algn="ctr"/>
            <a:r>
              <a:rPr sz="950" b="0" i="0">
                <a:solidFill>
                  <a:srgbClr val="334155"/>
                </a:solidFill>
                <a:latin typeface="Calibri"/>
              </a:rPr>
              <a:t>For wisdom, strength, and the grace to complete this project.</a:t>
            </a:r>
          </a:p>
        </p:txBody>
      </p:sp>
      <p:sp>
        <p:nvSpPr>
          <p:cNvPr id="10" name="Rectangle 9"/>
          <p:cNvSpPr/>
          <p:nvPr/>
        </p:nvSpPr>
        <p:spPr>
          <a:xfrm>
            <a:off x="4160520" y="1188720"/>
            <a:ext cx="3566160" cy="2011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60520" y="1371600"/>
            <a:ext cx="3566160" cy="502920"/>
          </a:xfrm>
          <a:prstGeom prst="rect">
            <a:avLst/>
          </a:prstGeom>
          <a:noFill/>
        </p:spPr>
        <p:txBody>
          <a:bodyPr wrap="square">
            <a:spAutoFit/>
          </a:bodyPr>
          <a:lstStyle/>
          <a:p>
            <a:pPr algn="ctr"/>
            <a:r>
              <a:rPr sz="2800" b="0" i="0">
                <a:solidFill>
                  <a:srgbClr val="0F172A"/>
                </a:solidFill>
                <a:latin typeface="Calibri"/>
              </a:rPr>
              <a:t>👨‍🏫</a:t>
            </a:r>
          </a:p>
        </p:txBody>
      </p:sp>
      <p:sp>
        <p:nvSpPr>
          <p:cNvPr id="12" name="TextBox 11"/>
          <p:cNvSpPr txBox="1"/>
          <p:nvPr/>
        </p:nvSpPr>
        <p:spPr>
          <a:xfrm>
            <a:off x="4160520" y="1938528"/>
            <a:ext cx="3566160" cy="292608"/>
          </a:xfrm>
          <a:prstGeom prst="rect">
            <a:avLst/>
          </a:prstGeom>
          <a:noFill/>
        </p:spPr>
        <p:txBody>
          <a:bodyPr wrap="square">
            <a:spAutoFit/>
          </a:bodyPr>
          <a:lstStyle/>
          <a:p>
            <a:pPr algn="ctr"/>
            <a:r>
              <a:rPr sz="1300" b="1" i="0">
                <a:solidFill>
                  <a:srgbClr val="0F172A"/>
                </a:solidFill>
                <a:latin typeface="Calibri"/>
              </a:rPr>
              <a:t>My Supervisor</a:t>
            </a:r>
          </a:p>
        </p:txBody>
      </p:sp>
      <p:sp>
        <p:nvSpPr>
          <p:cNvPr id="13" name="TextBox 12"/>
          <p:cNvSpPr txBox="1"/>
          <p:nvPr/>
        </p:nvSpPr>
        <p:spPr>
          <a:xfrm>
            <a:off x="4297680" y="2267712"/>
            <a:ext cx="3291840" cy="777240"/>
          </a:xfrm>
          <a:prstGeom prst="rect">
            <a:avLst/>
          </a:prstGeom>
          <a:noFill/>
        </p:spPr>
        <p:txBody>
          <a:bodyPr wrap="square">
            <a:spAutoFit/>
          </a:bodyPr>
          <a:lstStyle/>
          <a:p>
            <a:pPr algn="ctr"/>
            <a:r>
              <a:rPr sz="950" b="0" i="0">
                <a:solidFill>
                  <a:srgbClr val="334155"/>
                </a:solidFill>
                <a:latin typeface="Calibri"/>
              </a:rPr>
              <a:t>For patient guidance, technical mentorship, and invaluable feedback throughout this research journey.</a:t>
            </a:r>
          </a:p>
        </p:txBody>
      </p:sp>
      <p:sp>
        <p:nvSpPr>
          <p:cNvPr id="14" name="Rectangle 13"/>
          <p:cNvSpPr/>
          <p:nvPr/>
        </p:nvSpPr>
        <p:spPr>
          <a:xfrm>
            <a:off x="7863840" y="1188720"/>
            <a:ext cx="3566160" cy="2011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63840" y="1371600"/>
            <a:ext cx="3566160" cy="502920"/>
          </a:xfrm>
          <a:prstGeom prst="rect">
            <a:avLst/>
          </a:prstGeom>
          <a:noFill/>
        </p:spPr>
        <p:txBody>
          <a:bodyPr wrap="square">
            <a:spAutoFit/>
          </a:bodyPr>
          <a:lstStyle/>
          <a:p>
            <a:pPr algn="ctr"/>
            <a:r>
              <a:rPr sz="2800" b="0" i="0">
                <a:solidFill>
                  <a:srgbClr val="0F172A"/>
                </a:solidFill>
                <a:latin typeface="Calibri"/>
              </a:rPr>
              <a:t>🏫</a:t>
            </a:r>
          </a:p>
        </p:txBody>
      </p:sp>
      <p:sp>
        <p:nvSpPr>
          <p:cNvPr id="16" name="TextBox 15"/>
          <p:cNvSpPr txBox="1"/>
          <p:nvPr/>
        </p:nvSpPr>
        <p:spPr>
          <a:xfrm>
            <a:off x="7863840" y="1938528"/>
            <a:ext cx="3566160" cy="292608"/>
          </a:xfrm>
          <a:prstGeom prst="rect">
            <a:avLst/>
          </a:prstGeom>
          <a:noFill/>
        </p:spPr>
        <p:txBody>
          <a:bodyPr wrap="square">
            <a:spAutoFit/>
          </a:bodyPr>
          <a:lstStyle/>
          <a:p>
            <a:pPr algn="ctr"/>
            <a:r>
              <a:rPr sz="1300" b="1" i="0">
                <a:solidFill>
                  <a:srgbClr val="0F172A"/>
                </a:solidFill>
                <a:latin typeface="Calibri"/>
              </a:rPr>
              <a:t>Head of Department</a:t>
            </a:r>
          </a:p>
        </p:txBody>
      </p:sp>
      <p:sp>
        <p:nvSpPr>
          <p:cNvPr id="17" name="TextBox 16"/>
          <p:cNvSpPr txBox="1"/>
          <p:nvPr/>
        </p:nvSpPr>
        <p:spPr>
          <a:xfrm>
            <a:off x="8001000" y="2267712"/>
            <a:ext cx="3291840" cy="777240"/>
          </a:xfrm>
          <a:prstGeom prst="rect">
            <a:avLst/>
          </a:prstGeom>
          <a:noFill/>
        </p:spPr>
        <p:txBody>
          <a:bodyPr wrap="square">
            <a:spAutoFit/>
          </a:bodyPr>
          <a:lstStyle/>
          <a:p>
            <a:pPr algn="ctr"/>
            <a:r>
              <a:rPr sz="950" b="0" i="0">
                <a:solidFill>
                  <a:srgbClr val="334155"/>
                </a:solidFill>
                <a:latin typeface="Calibri"/>
              </a:rPr>
              <a:t>For providing the academic structure and resources that enabled this project.</a:t>
            </a:r>
          </a:p>
        </p:txBody>
      </p:sp>
      <p:sp>
        <p:nvSpPr>
          <p:cNvPr id="18" name="Rectangle 17"/>
          <p:cNvSpPr/>
          <p:nvPr/>
        </p:nvSpPr>
        <p:spPr>
          <a:xfrm>
            <a:off x="457200" y="3364992"/>
            <a:ext cx="3566160" cy="2011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547872"/>
            <a:ext cx="3566160" cy="502920"/>
          </a:xfrm>
          <a:prstGeom prst="rect">
            <a:avLst/>
          </a:prstGeom>
          <a:noFill/>
        </p:spPr>
        <p:txBody>
          <a:bodyPr wrap="square">
            <a:spAutoFit/>
          </a:bodyPr>
          <a:lstStyle/>
          <a:p>
            <a:pPr algn="ctr"/>
            <a:r>
              <a:rPr sz="2800" b="0" i="0">
                <a:solidFill>
                  <a:srgbClr val="0F172A"/>
                </a:solidFill>
                <a:latin typeface="Calibri"/>
              </a:rPr>
              <a:t>📚</a:t>
            </a:r>
          </a:p>
        </p:txBody>
      </p:sp>
      <p:sp>
        <p:nvSpPr>
          <p:cNvPr id="20" name="TextBox 19"/>
          <p:cNvSpPr txBox="1"/>
          <p:nvPr/>
        </p:nvSpPr>
        <p:spPr>
          <a:xfrm>
            <a:off x="457200" y="4114800"/>
            <a:ext cx="3566160" cy="292608"/>
          </a:xfrm>
          <a:prstGeom prst="rect">
            <a:avLst/>
          </a:prstGeom>
          <a:noFill/>
        </p:spPr>
        <p:txBody>
          <a:bodyPr wrap="square">
            <a:spAutoFit/>
          </a:bodyPr>
          <a:lstStyle/>
          <a:p>
            <a:pPr algn="ctr"/>
            <a:r>
              <a:rPr sz="1300" b="1" i="0">
                <a:solidFill>
                  <a:srgbClr val="0F172A"/>
                </a:solidFill>
                <a:latin typeface="Calibri"/>
              </a:rPr>
              <a:t>Faculty of Sciences</a:t>
            </a:r>
          </a:p>
        </p:txBody>
      </p:sp>
      <p:sp>
        <p:nvSpPr>
          <p:cNvPr id="21" name="TextBox 20"/>
          <p:cNvSpPr txBox="1"/>
          <p:nvPr/>
        </p:nvSpPr>
        <p:spPr>
          <a:xfrm>
            <a:off x="594360" y="4443984"/>
            <a:ext cx="3291840" cy="777240"/>
          </a:xfrm>
          <a:prstGeom prst="rect">
            <a:avLst/>
          </a:prstGeom>
          <a:noFill/>
        </p:spPr>
        <p:txBody>
          <a:bodyPr wrap="square">
            <a:spAutoFit/>
          </a:bodyPr>
          <a:lstStyle/>
          <a:p>
            <a:pPr algn="ctr"/>
            <a:r>
              <a:rPr sz="950" b="0" i="0">
                <a:solidFill>
                  <a:srgbClr val="334155"/>
                </a:solidFill>
                <a:latin typeface="Calibri"/>
              </a:rPr>
              <a:t>For the academic foundation and institutional support across four years of study.</a:t>
            </a:r>
          </a:p>
        </p:txBody>
      </p:sp>
      <p:sp>
        <p:nvSpPr>
          <p:cNvPr id="22" name="Rectangle 21"/>
          <p:cNvSpPr/>
          <p:nvPr/>
        </p:nvSpPr>
        <p:spPr>
          <a:xfrm>
            <a:off x="4160520" y="3364992"/>
            <a:ext cx="3566160" cy="2011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60520" y="3547872"/>
            <a:ext cx="3566160" cy="502920"/>
          </a:xfrm>
          <a:prstGeom prst="rect">
            <a:avLst/>
          </a:prstGeom>
          <a:noFill/>
        </p:spPr>
        <p:txBody>
          <a:bodyPr wrap="square">
            <a:spAutoFit/>
          </a:bodyPr>
          <a:lstStyle/>
          <a:p>
            <a:pPr algn="ctr"/>
            <a:r>
              <a:rPr sz="2800" b="0" i="0">
                <a:solidFill>
                  <a:srgbClr val="0F172A"/>
                </a:solidFill>
                <a:latin typeface="Calibri"/>
              </a:rPr>
              <a:t>👥</a:t>
            </a:r>
          </a:p>
        </p:txBody>
      </p:sp>
      <p:sp>
        <p:nvSpPr>
          <p:cNvPr id="24" name="TextBox 23"/>
          <p:cNvSpPr txBox="1"/>
          <p:nvPr/>
        </p:nvSpPr>
        <p:spPr>
          <a:xfrm>
            <a:off x="4160520" y="4114800"/>
            <a:ext cx="3566160" cy="292608"/>
          </a:xfrm>
          <a:prstGeom prst="rect">
            <a:avLst/>
          </a:prstGeom>
          <a:noFill/>
        </p:spPr>
        <p:txBody>
          <a:bodyPr wrap="square">
            <a:spAutoFit/>
          </a:bodyPr>
          <a:lstStyle/>
          <a:p>
            <a:pPr algn="ctr"/>
            <a:r>
              <a:rPr sz="1300" b="1" i="0">
                <a:solidFill>
                  <a:srgbClr val="0F172A"/>
                </a:solidFill>
                <a:latin typeface="Calibri"/>
              </a:rPr>
              <a:t>Colleagues &amp; Friends</a:t>
            </a:r>
          </a:p>
        </p:txBody>
      </p:sp>
      <p:sp>
        <p:nvSpPr>
          <p:cNvPr id="25" name="TextBox 24"/>
          <p:cNvSpPr txBox="1"/>
          <p:nvPr/>
        </p:nvSpPr>
        <p:spPr>
          <a:xfrm>
            <a:off x="4297680" y="4443984"/>
            <a:ext cx="3291840" cy="777240"/>
          </a:xfrm>
          <a:prstGeom prst="rect">
            <a:avLst/>
          </a:prstGeom>
          <a:noFill/>
        </p:spPr>
        <p:txBody>
          <a:bodyPr wrap="square">
            <a:spAutoFit/>
          </a:bodyPr>
          <a:lstStyle/>
          <a:p>
            <a:pPr algn="ctr"/>
            <a:r>
              <a:rPr sz="950" b="0" i="0">
                <a:solidFill>
                  <a:srgbClr val="334155"/>
                </a:solidFill>
                <a:latin typeface="Calibri"/>
              </a:rPr>
              <a:t>For the collaboration, encouragement, and moral support throughout the academic year.</a:t>
            </a:r>
          </a:p>
        </p:txBody>
      </p:sp>
      <p:sp>
        <p:nvSpPr>
          <p:cNvPr id="26" name="Rectangle 25"/>
          <p:cNvSpPr/>
          <p:nvPr/>
        </p:nvSpPr>
        <p:spPr>
          <a:xfrm>
            <a:off x="7863840" y="3364992"/>
            <a:ext cx="3566160" cy="20116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63840" y="3547872"/>
            <a:ext cx="3566160" cy="502920"/>
          </a:xfrm>
          <a:prstGeom prst="rect">
            <a:avLst/>
          </a:prstGeom>
          <a:noFill/>
        </p:spPr>
        <p:txBody>
          <a:bodyPr wrap="square">
            <a:spAutoFit/>
          </a:bodyPr>
          <a:lstStyle/>
          <a:p>
            <a:pPr algn="ctr"/>
            <a:r>
              <a:rPr sz="2800" b="0" i="0">
                <a:solidFill>
                  <a:srgbClr val="0F172A"/>
                </a:solidFill>
                <a:latin typeface="Calibri"/>
              </a:rPr>
              <a:t>❤️</a:t>
            </a:r>
          </a:p>
        </p:txBody>
      </p:sp>
      <p:sp>
        <p:nvSpPr>
          <p:cNvPr id="28" name="TextBox 27"/>
          <p:cNvSpPr txBox="1"/>
          <p:nvPr/>
        </p:nvSpPr>
        <p:spPr>
          <a:xfrm>
            <a:off x="7863840" y="4114800"/>
            <a:ext cx="3566160" cy="292608"/>
          </a:xfrm>
          <a:prstGeom prst="rect">
            <a:avLst/>
          </a:prstGeom>
          <a:noFill/>
        </p:spPr>
        <p:txBody>
          <a:bodyPr wrap="square">
            <a:spAutoFit/>
          </a:bodyPr>
          <a:lstStyle/>
          <a:p>
            <a:pPr algn="ctr"/>
            <a:r>
              <a:rPr sz="1300" b="1" i="0">
                <a:solidFill>
                  <a:srgbClr val="0F172A"/>
                </a:solidFill>
                <a:latin typeface="Calibri"/>
              </a:rPr>
              <a:t>Family</a:t>
            </a:r>
          </a:p>
        </p:txBody>
      </p:sp>
      <p:sp>
        <p:nvSpPr>
          <p:cNvPr id="29" name="TextBox 28"/>
          <p:cNvSpPr txBox="1"/>
          <p:nvPr/>
        </p:nvSpPr>
        <p:spPr>
          <a:xfrm>
            <a:off x="8001000" y="4443984"/>
            <a:ext cx="3291840" cy="777240"/>
          </a:xfrm>
          <a:prstGeom prst="rect">
            <a:avLst/>
          </a:prstGeom>
          <a:noFill/>
        </p:spPr>
        <p:txBody>
          <a:bodyPr wrap="square">
            <a:spAutoFit/>
          </a:bodyPr>
          <a:lstStyle/>
          <a:p>
            <a:pPr algn="ctr"/>
            <a:r>
              <a:rPr sz="950" b="0" i="0">
                <a:solidFill>
                  <a:srgbClr val="334155"/>
                </a:solidFill>
                <a:latin typeface="Calibri"/>
              </a:rPr>
              <a:t>For unwavering support, belief, and sacrifice that made this academic journey possible.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11430000" y="137160"/>
            <a:ext cx="640080" cy="274320"/>
          </a:xfrm>
          <a:prstGeom prst="rect">
            <a:avLst/>
          </a:prstGeom>
          <a:noFill/>
        </p:spPr>
        <p:txBody>
          <a:bodyPr wrap="square">
            <a:spAutoFit/>
          </a:bodyPr>
          <a:lstStyle/>
          <a:p>
            <a:pPr algn="l"/>
            <a:r>
              <a:rPr sz="1000" b="1" i="0">
                <a:solidFill>
                  <a:srgbClr val="4F46E5"/>
                </a:solidFill>
                <a:latin typeface="Calibri"/>
              </a:rPr>
              <a:t>15</a:t>
            </a:r>
          </a:p>
        </p:txBody>
      </p:sp>
      <p:sp>
        <p:nvSpPr>
          <p:cNvPr id="3" name="Rectangle 2"/>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828800" y="457200"/>
            <a:ext cx="4572000" cy="45720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80" y="1097280"/>
            <a:ext cx="1828800" cy="731520"/>
          </a:xfrm>
          <a:prstGeom prst="rect">
            <a:avLst/>
          </a:prstGeom>
          <a:noFill/>
        </p:spPr>
        <p:txBody>
          <a:bodyPr wrap="square">
            <a:spAutoFit/>
          </a:bodyPr>
          <a:lstStyle/>
          <a:p>
            <a:pPr algn="ctr"/>
            <a:r>
              <a:rPr sz="3600" b="0" i="0">
                <a:solidFill>
                  <a:srgbClr val="0F172A"/>
                </a:solidFill>
                <a:latin typeface="Calibri"/>
              </a:rPr>
              <a:t>🧠🛡️</a:t>
            </a:r>
          </a:p>
        </p:txBody>
      </p:sp>
      <p:sp>
        <p:nvSpPr>
          <p:cNvPr id="6" name="TextBox 5"/>
          <p:cNvSpPr txBox="1"/>
          <p:nvPr/>
        </p:nvSpPr>
        <p:spPr>
          <a:xfrm>
            <a:off x="1371600" y="1920240"/>
            <a:ext cx="9418320" cy="1097280"/>
          </a:xfrm>
          <a:prstGeom prst="rect">
            <a:avLst/>
          </a:prstGeom>
          <a:noFill/>
        </p:spPr>
        <p:txBody>
          <a:bodyPr wrap="square">
            <a:spAutoFit/>
          </a:bodyPr>
          <a:lstStyle/>
          <a:p>
            <a:pPr algn="ctr"/>
            <a:r>
              <a:rPr sz="5600" b="1" i="0">
                <a:solidFill>
                  <a:srgbClr val="0F172A"/>
                </a:solidFill>
                <a:latin typeface="Calibri"/>
              </a:rPr>
              <a:t>Thank You</a:t>
            </a:r>
          </a:p>
        </p:txBody>
      </p:sp>
      <p:sp>
        <p:nvSpPr>
          <p:cNvPr id="7" name="TextBox 6"/>
          <p:cNvSpPr txBox="1"/>
          <p:nvPr/>
        </p:nvSpPr>
        <p:spPr>
          <a:xfrm>
            <a:off x="1371600" y="3017520"/>
            <a:ext cx="9418320" cy="365760"/>
          </a:xfrm>
          <a:prstGeom prst="rect">
            <a:avLst/>
          </a:prstGeom>
          <a:noFill/>
        </p:spPr>
        <p:txBody>
          <a:bodyPr wrap="square">
            <a:spAutoFit/>
          </a:bodyPr>
          <a:lstStyle/>
          <a:p>
            <a:pPr algn="ctr"/>
            <a:r>
              <a:rPr sz="1600" b="0" i="0">
                <a:solidFill>
                  <a:srgbClr val="64748B"/>
                </a:solidFill>
                <a:latin typeface="Calibri"/>
              </a:rPr>
              <a:t>for your time and attention.</a:t>
            </a:r>
          </a:p>
        </p:txBody>
      </p:sp>
      <p:sp>
        <p:nvSpPr>
          <p:cNvPr id="8" name="Rectangle 7"/>
          <p:cNvSpPr/>
          <p:nvPr/>
        </p:nvSpPr>
        <p:spPr>
          <a:xfrm>
            <a:off x="5394960" y="3493008"/>
            <a:ext cx="1371600" cy="381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28800" y="3657600"/>
            <a:ext cx="8503920" cy="502920"/>
          </a:xfrm>
          <a:prstGeom prst="rect">
            <a:avLst/>
          </a:prstGeom>
          <a:noFill/>
        </p:spPr>
        <p:txBody>
          <a:bodyPr wrap="square">
            <a:spAutoFit/>
          </a:bodyPr>
          <a:lstStyle/>
          <a:p>
            <a:pPr algn="ctr"/>
            <a:r>
              <a:rPr sz="1100" b="0" i="0">
                <a:solidFill>
                  <a:srgbClr val="64748B"/>
                </a:solidFill>
                <a:latin typeface="Calibri"/>
              </a:rPr>
              <a:t>This research was conducted in partial fulfilment of the requirements
for the award of BSc Computer Science.</a:t>
            </a:r>
          </a:p>
        </p:txBody>
      </p:sp>
      <p:sp>
        <p:nvSpPr>
          <p:cNvPr id="10" name="Rectangle 9"/>
          <p:cNvSpPr/>
          <p:nvPr/>
        </p:nvSpPr>
        <p:spPr>
          <a:xfrm>
            <a:off x="2162556" y="4315968"/>
            <a:ext cx="2743200" cy="347472"/>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62556" y="4352544"/>
            <a:ext cx="2743200" cy="274320"/>
          </a:xfrm>
          <a:prstGeom prst="rect">
            <a:avLst/>
          </a:prstGeom>
          <a:noFill/>
        </p:spPr>
        <p:txBody>
          <a:bodyPr wrap="square">
            <a:spAutoFit/>
          </a:bodyPr>
          <a:lstStyle/>
          <a:p>
            <a:pPr algn="ctr"/>
            <a:r>
              <a:rPr sz="1100" b="1" i="0">
                <a:solidFill>
                  <a:srgbClr val="4F46E5"/>
                </a:solidFill>
                <a:latin typeface="Calibri"/>
              </a:rPr>
              <a:t>Adelekan Igbagboyemi Mary</a:t>
            </a:r>
          </a:p>
        </p:txBody>
      </p:sp>
      <p:sp>
        <p:nvSpPr>
          <p:cNvPr id="12" name="Rectangle 11"/>
          <p:cNvSpPr/>
          <p:nvPr/>
        </p:nvSpPr>
        <p:spPr>
          <a:xfrm>
            <a:off x="5180076" y="4315968"/>
            <a:ext cx="2743200" cy="347472"/>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80076" y="4352544"/>
            <a:ext cx="2743200" cy="274320"/>
          </a:xfrm>
          <a:prstGeom prst="rect">
            <a:avLst/>
          </a:prstGeom>
          <a:noFill/>
        </p:spPr>
        <p:txBody>
          <a:bodyPr wrap="square">
            <a:spAutoFit/>
          </a:bodyPr>
          <a:lstStyle/>
          <a:p>
            <a:pPr algn="ctr"/>
            <a:r>
              <a:rPr sz="1100" b="1" i="0">
                <a:solidFill>
                  <a:srgbClr val="4F46E5"/>
                </a:solidFill>
                <a:latin typeface="Calibri"/>
              </a:rPr>
              <a:t>BSc Computer Science · 2026</a:t>
            </a:r>
          </a:p>
        </p:txBody>
      </p:sp>
      <p:sp>
        <p:nvSpPr>
          <p:cNvPr id="14" name="Rectangle 13"/>
          <p:cNvSpPr/>
          <p:nvPr/>
        </p:nvSpPr>
        <p:spPr>
          <a:xfrm>
            <a:off x="8197596" y="4315968"/>
            <a:ext cx="2743200" cy="347472"/>
          </a:xfrm>
          <a:prstGeom prst="rect">
            <a:avLst/>
          </a:prstGeom>
          <a:solidFill>
            <a:srgbClr val="EEF2FF"/>
          </a:solidFill>
          <a:ln w="63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97596" y="4352544"/>
            <a:ext cx="2743200" cy="274320"/>
          </a:xfrm>
          <a:prstGeom prst="rect">
            <a:avLst/>
          </a:prstGeom>
          <a:noFill/>
        </p:spPr>
        <p:txBody>
          <a:bodyPr wrap="square">
            <a:spAutoFit/>
          </a:bodyPr>
          <a:lstStyle/>
          <a:p>
            <a:pPr algn="ctr"/>
            <a:r>
              <a:rPr sz="1100" b="1" i="0">
                <a:solidFill>
                  <a:srgbClr val="4F46E5"/>
                </a:solidFill>
                <a:latin typeface="Calibri"/>
              </a:rPr>
              <a:t>🛡️ MindGuard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TotalTime>
  <Words>1984</Words>
  <Application>Microsoft Office PowerPoint</Application>
  <PresentationFormat>Custom</PresentationFormat>
  <Paragraphs>269</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AdeNike</dc:creator>
  <cp:keywords/>
  <dc:description>generated using python-pptx</dc:description>
  <cp:lastModifiedBy>AdeNike</cp:lastModifiedBy>
  <cp:revision>1</cp:revision>
  <dcterms:created xsi:type="dcterms:W3CDTF">2013-01-27T09:14:16Z</dcterms:created>
  <dcterms:modified xsi:type="dcterms:W3CDTF">2026-06-14T16:37:03Z</dcterms:modified>
  <cp:category/>
</cp:coreProperties>
</file>