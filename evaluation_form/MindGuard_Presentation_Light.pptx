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2" userDrawn="1">
          <p15:clr>
            <a:srgbClr val="A4A3A4"/>
          </p15:clr>
        </p15:guide>
        <p15:guide id="2" pos="28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212"/>
        <p:guide pos="287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12188952" cy="3200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36576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0" y="1481328"/>
            <a:ext cx="1828800" cy="640080"/>
          </a:xfrm>
          <a:prstGeom prst="rect">
            <a:avLst/>
          </a:prstGeom>
          <a:noFill/>
        </p:spPr>
        <p:txBody>
          <a:bodyPr wrap="square">
            <a:spAutoFit/>
          </a:bodyPr>
          <a:lstStyle/>
          <a:p>
            <a:pPr algn="ctr"/>
            <a:r>
              <a:rPr sz="3000" b="0" i="0">
                <a:solidFill>
                  <a:srgbClr val="0F172A"/>
                </a:solidFill>
                <a:latin typeface="Calibri" panose="020F0502020204030204"/>
              </a:rPr>
              <a:t>🧠🛡️</a:t>
            </a:r>
            <a:endParaRPr sz="3000" b="0" i="0">
              <a:solidFill>
                <a:srgbClr val="0F172A"/>
              </a:solidFill>
              <a:latin typeface="Calibri" panose="020F0502020204030204"/>
            </a:endParaRPr>
          </a:p>
        </p:txBody>
      </p:sp>
      <p:sp>
        <p:nvSpPr>
          <p:cNvPr id="7" name="TextBox 6"/>
          <p:cNvSpPr txBox="1"/>
          <p:nvPr/>
        </p:nvSpPr>
        <p:spPr>
          <a:xfrm>
            <a:off x="1371600" y="2240280"/>
            <a:ext cx="9418320" cy="914400"/>
          </a:xfrm>
          <a:prstGeom prst="rect">
            <a:avLst/>
          </a:prstGeom>
          <a:noFill/>
        </p:spPr>
        <p:txBody>
          <a:bodyPr wrap="square">
            <a:spAutoFit/>
          </a:bodyPr>
          <a:lstStyle/>
          <a:p>
            <a:pPr algn="ctr"/>
            <a:r>
              <a:rPr sz="4800" b="1" i="0">
                <a:solidFill>
                  <a:srgbClr val="0F172A"/>
                </a:solidFill>
                <a:latin typeface="Calibri" panose="020F0502020204030204"/>
              </a:rPr>
              <a:t>MindGuard</a:t>
            </a:r>
            <a:endParaRPr sz="4800" b="1" i="0">
              <a:solidFill>
                <a:srgbClr val="0F172A"/>
              </a:solidFill>
              <a:latin typeface="Calibri" panose="020F0502020204030204"/>
            </a:endParaRPr>
          </a:p>
        </p:txBody>
      </p:sp>
      <p:sp>
        <p:nvSpPr>
          <p:cNvPr id="8" name="TextBox 7"/>
          <p:cNvSpPr txBox="1"/>
          <p:nvPr/>
        </p:nvSpPr>
        <p:spPr>
          <a:xfrm>
            <a:off x="1371600" y="3200400"/>
            <a:ext cx="9418320" cy="829945"/>
          </a:xfrm>
          <a:prstGeom prst="rect">
            <a:avLst/>
          </a:prstGeom>
          <a:noFill/>
        </p:spPr>
        <p:txBody>
          <a:bodyPr wrap="square">
            <a:spAutoFit/>
          </a:bodyPr>
          <a:lstStyle/>
          <a:p>
            <a:pPr algn="ctr"/>
            <a:r>
              <a:rPr sz="2400" b="0" i="0">
                <a:solidFill>
                  <a:schemeClr val="tx1"/>
                </a:solidFill>
                <a:latin typeface="Calibri" panose="020F0502020204030204"/>
              </a:rPr>
              <a:t>Development of a Browser Extension for Detecting Depressive Language
in Adolescents in Online Communication Using a RAG-Driven LLM</a:t>
            </a:r>
            <a:endParaRPr sz="2400" b="0" i="0">
              <a:solidFill>
                <a:schemeClr val="tx1"/>
              </a:solidFill>
              <a:latin typeface="Calibri" panose="020F0502020204030204"/>
            </a:endParaRPr>
          </a:p>
        </p:txBody>
      </p:sp>
      <p:sp>
        <p:nvSpPr>
          <p:cNvPr id="10" name="TextBox 9"/>
          <p:cNvSpPr txBox="1"/>
          <p:nvPr/>
        </p:nvSpPr>
        <p:spPr>
          <a:xfrm>
            <a:off x="1068070" y="4160520"/>
            <a:ext cx="9418320" cy="460375"/>
          </a:xfrm>
          <a:prstGeom prst="rect">
            <a:avLst/>
          </a:prstGeom>
          <a:noFill/>
        </p:spPr>
        <p:txBody>
          <a:bodyPr wrap="square">
            <a:spAutoFit/>
          </a:bodyPr>
          <a:lstStyle/>
          <a:p>
            <a:pPr algn="ctr"/>
            <a:r>
              <a:rPr sz="2400" b="1" i="0">
                <a:solidFill>
                  <a:srgbClr val="0F172A"/>
                </a:solidFill>
                <a:latin typeface="Calibri" panose="020F0502020204030204"/>
              </a:rPr>
              <a:t>Adelekan Igbagboyemi Mary</a:t>
            </a:r>
            <a:endParaRPr sz="2400" b="1" i="0">
              <a:solidFill>
                <a:srgbClr val="0F172A"/>
              </a:solidFill>
              <a:latin typeface="Calibri" panose="020F0502020204030204"/>
            </a:endParaRPr>
          </a:p>
        </p:txBody>
      </p:sp>
      <p:sp>
        <p:nvSpPr>
          <p:cNvPr id="11" name="TextBox 10"/>
          <p:cNvSpPr txBox="1"/>
          <p:nvPr/>
        </p:nvSpPr>
        <p:spPr>
          <a:xfrm>
            <a:off x="1371600" y="4535424"/>
            <a:ext cx="9418320" cy="260350"/>
          </a:xfrm>
          <a:prstGeom prst="rect">
            <a:avLst/>
          </a:prstGeom>
          <a:noFill/>
        </p:spPr>
        <p:txBody>
          <a:bodyPr wrap="square">
            <a:spAutoFit/>
          </a:bodyPr>
          <a:lstStyle/>
          <a:p>
            <a:pPr algn="ctr"/>
            <a:r>
              <a:rPr sz="1100" b="0" i="0">
                <a:solidFill>
                  <a:srgbClr val="64748B"/>
                </a:solidFill>
                <a:latin typeface="Calibri" panose="020F0502020204030204"/>
              </a:rPr>
              <a:t>Computer Science  ·  2025/2026</a:t>
            </a:r>
            <a:endParaRPr sz="1100" b="0" i="0">
              <a:solidFill>
                <a:srgbClr val="64748B"/>
              </a:solidFill>
              <a:latin typeface="Calibri" panose="020F0502020204030204"/>
            </a:endParaRPr>
          </a:p>
        </p:txBody>
      </p:sp>
      <p:sp>
        <p:nvSpPr>
          <p:cNvPr id="12" name="TextBox 11"/>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01</a:t>
            </a:r>
            <a:endParaRPr sz="1000" b="1" i="0">
              <a:solidFill>
                <a:srgbClr val="4F46E5"/>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02</a:t>
            </a:r>
            <a:endParaRPr sz="1000" b="1" i="0">
              <a:solidFill>
                <a:srgbClr val="4F46E5"/>
              </a:solidFill>
              <a:latin typeface="Calibri" panose="020F0502020204030204"/>
            </a:endParaRPr>
          </a:p>
        </p:txBody>
      </p:sp>
      <p:sp>
        <p:nvSpPr>
          <p:cNvPr id="6" name="TextBox 5"/>
          <p:cNvSpPr txBox="1"/>
          <p:nvPr/>
        </p:nvSpPr>
        <p:spPr>
          <a:xfrm>
            <a:off x="457200" y="1097280"/>
            <a:ext cx="11247120" cy="368300"/>
          </a:xfrm>
          <a:prstGeom prst="rect">
            <a:avLst/>
          </a:prstGeom>
          <a:noFill/>
        </p:spPr>
        <p:txBody>
          <a:bodyPr wrap="square">
            <a:spAutoFit/>
          </a:bodyPr>
          <a:lstStyle/>
          <a:p>
            <a:pPr algn="l"/>
            <a:r>
              <a:rPr b="1" i="0">
                <a:solidFill>
                  <a:srgbClr val="0F172A"/>
                </a:solidFill>
                <a:latin typeface="Calibri" panose="020F0502020204030204"/>
              </a:rPr>
              <a:t>Sarah is a 15-year-old high school student.</a:t>
            </a:r>
            <a:endParaRPr b="1" i="0">
              <a:solidFill>
                <a:srgbClr val="0F172A"/>
              </a:solidFill>
              <a:latin typeface="Calibri" panose="020F0502020204030204"/>
            </a:endParaRPr>
          </a:p>
        </p:txBody>
      </p:sp>
      <p:sp>
        <p:nvSpPr>
          <p:cNvPr id="7" name="TextBox 6"/>
          <p:cNvSpPr txBox="1"/>
          <p:nvPr/>
        </p:nvSpPr>
        <p:spPr>
          <a:xfrm>
            <a:off x="457200" y="1554480"/>
            <a:ext cx="11247120" cy="645160"/>
          </a:xfrm>
          <a:prstGeom prst="rect">
            <a:avLst/>
          </a:prstGeom>
          <a:noFill/>
        </p:spPr>
        <p:txBody>
          <a:bodyPr wrap="square">
            <a:spAutoFit/>
          </a:bodyPr>
          <a:lstStyle/>
          <a:p>
            <a:pPr algn="l"/>
            <a:r>
              <a:rPr b="0" i="0">
                <a:solidFill>
                  <a:schemeClr val="tx1"/>
                </a:solidFill>
                <a:latin typeface="Calibri" panose="020F0502020204030204"/>
              </a:rPr>
              <a:t>She has been feeling increasingly isolated over the past few weeks. Instead of talking to her parents or teachers, she logs into her social media accounts late at night and writes:</a:t>
            </a:r>
            <a:endParaRPr b="0" i="0">
              <a:solidFill>
                <a:schemeClr val="tx1"/>
              </a:solidFill>
              <a:latin typeface="Calibri" panose="020F0502020204030204"/>
            </a:endParaRPr>
          </a:p>
        </p:txBody>
      </p:sp>
      <p:sp>
        <p:nvSpPr>
          <p:cNvPr id="8" name="Rectangle 7"/>
          <p:cNvSpPr/>
          <p:nvPr/>
        </p:nvSpPr>
        <p:spPr>
          <a:xfrm>
            <a:off x="1828800" y="2377440"/>
            <a:ext cx="8142605" cy="186309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0" y="2560320"/>
            <a:ext cx="365760" cy="3657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2560320"/>
            <a:ext cx="1828800" cy="182880"/>
          </a:xfrm>
          <a:prstGeom prst="rect">
            <a:avLst/>
          </a:prstGeom>
          <a:noFill/>
        </p:spPr>
        <p:txBody>
          <a:bodyPr wrap="square">
            <a:spAutoFit/>
          </a:bodyPr>
          <a:lstStyle/>
          <a:p>
            <a:pPr algn="l"/>
            <a:r>
              <a:rPr sz="1200" b="1" i="0">
                <a:solidFill>
                  <a:srgbClr val="0F172A"/>
                </a:solidFill>
                <a:latin typeface="Calibri" panose="020F0502020204030204"/>
              </a:rPr>
              <a:t>Sarah</a:t>
            </a:r>
            <a:endParaRPr sz="1200" b="1" i="0">
              <a:solidFill>
                <a:srgbClr val="0F172A"/>
              </a:solidFill>
              <a:latin typeface="Calibri" panose="020F0502020204030204"/>
            </a:endParaRPr>
          </a:p>
        </p:txBody>
      </p:sp>
      <p:sp>
        <p:nvSpPr>
          <p:cNvPr id="11" name="TextBox 10"/>
          <p:cNvSpPr txBox="1"/>
          <p:nvPr/>
        </p:nvSpPr>
        <p:spPr>
          <a:xfrm>
            <a:off x="2468880" y="2743200"/>
            <a:ext cx="1828800" cy="182880"/>
          </a:xfrm>
          <a:prstGeom prst="rect">
            <a:avLst/>
          </a:prstGeom>
          <a:noFill/>
        </p:spPr>
        <p:txBody>
          <a:bodyPr wrap="square">
            <a:spAutoFit/>
          </a:bodyPr>
          <a:lstStyle/>
          <a:p>
            <a:pPr algn="l"/>
            <a:r>
              <a:rPr sz="1000" b="0" i="0">
                <a:solidFill>
                  <a:srgbClr val="64748B"/>
                </a:solidFill>
                <a:latin typeface="Calibri" panose="020F0502020204030204"/>
              </a:rPr>
              <a:t>@sarah_smiles · 2 hours ago</a:t>
            </a:r>
            <a:endParaRPr sz="1000" b="0" i="0">
              <a:solidFill>
                <a:srgbClr val="64748B"/>
              </a:solidFill>
              <a:latin typeface="Calibri" panose="020F0502020204030204"/>
            </a:endParaRPr>
          </a:p>
        </p:txBody>
      </p:sp>
      <p:sp>
        <p:nvSpPr>
          <p:cNvPr id="12" name="TextBox 11"/>
          <p:cNvSpPr txBox="1"/>
          <p:nvPr/>
        </p:nvSpPr>
        <p:spPr>
          <a:xfrm>
            <a:off x="2011680" y="3108960"/>
            <a:ext cx="7343140" cy="846455"/>
          </a:xfrm>
          <a:prstGeom prst="rect">
            <a:avLst/>
          </a:prstGeom>
          <a:noFill/>
        </p:spPr>
        <p:txBody>
          <a:bodyPr wrap="square">
            <a:noAutofit/>
          </a:bodyPr>
          <a:lstStyle/>
          <a:p>
            <a:pPr algn="l"/>
            <a:r>
              <a:rPr sz="1400" b="0" i="1">
                <a:solidFill>
                  <a:srgbClr val="0F172A"/>
                </a:solidFill>
                <a:latin typeface="Calibri" panose="020F0502020204030204"/>
              </a:rPr>
              <a:t>"It feels like everyone else has it together but I'm just drowning. Every day is so exhausting and I don't see the point in trying anymore. Nobody would even notice if I just stopped."</a:t>
            </a:r>
            <a:endParaRPr sz="1400" b="0" i="1">
              <a:solidFill>
                <a:srgbClr val="0F172A"/>
              </a:solidFill>
              <a:latin typeface="Calibri" panose="020F0502020204030204"/>
            </a:endParaRPr>
          </a:p>
        </p:txBody>
      </p:sp>
      <p:sp>
        <p:nvSpPr>
          <p:cNvPr id="13" name="Rectangle 12"/>
          <p:cNvSpPr/>
          <p:nvPr/>
        </p:nvSpPr>
        <p:spPr>
          <a:xfrm>
            <a:off x="457200" y="4937760"/>
            <a:ext cx="10002520" cy="1188085"/>
          </a:xfrm>
          <a:prstGeom prst="rect">
            <a:avLst/>
          </a:prstGeom>
          <a:solidFill>
            <a:srgbClr val="FEF2F2"/>
          </a:solidFill>
          <a:ln w="63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029200"/>
            <a:ext cx="10881360" cy="274320"/>
          </a:xfrm>
          <a:prstGeom prst="rect">
            <a:avLst/>
          </a:prstGeom>
          <a:noFill/>
        </p:spPr>
        <p:txBody>
          <a:bodyPr wrap="square">
            <a:spAutoFit/>
          </a:bodyPr>
          <a:lstStyle/>
          <a:p>
            <a:pPr algn="l"/>
            <a:r>
              <a:rPr sz="1200" b="1" i="0">
                <a:solidFill>
                  <a:srgbClr val="DC2626"/>
                </a:solidFill>
                <a:latin typeface="Calibri" panose="020F0502020204030204"/>
              </a:rPr>
              <a:t>The Problem:</a:t>
            </a:r>
            <a:endParaRPr sz="1200" b="1" i="0">
              <a:solidFill>
                <a:srgbClr val="DC2626"/>
              </a:solidFill>
              <a:latin typeface="Calibri" panose="020F0502020204030204"/>
            </a:endParaRPr>
          </a:p>
        </p:txBody>
      </p:sp>
      <p:sp>
        <p:nvSpPr>
          <p:cNvPr id="15" name="TextBox 14"/>
          <p:cNvSpPr txBox="1"/>
          <p:nvPr/>
        </p:nvSpPr>
        <p:spPr>
          <a:xfrm>
            <a:off x="640080" y="5303520"/>
            <a:ext cx="9575165" cy="621030"/>
          </a:xfrm>
          <a:prstGeom prst="rect">
            <a:avLst/>
          </a:prstGeom>
          <a:noFill/>
        </p:spPr>
        <p:txBody>
          <a:bodyPr wrap="square">
            <a:noAutofit/>
          </a:bodyPr>
          <a:lstStyle/>
          <a:p>
            <a:pPr algn="l"/>
            <a:r>
              <a:rPr sz="1200" b="0" i="0">
                <a:solidFill>
                  <a:schemeClr val="tx1"/>
                </a:solidFill>
                <a:latin typeface="Calibri" panose="020F0502020204030204"/>
              </a:rPr>
              <a:t>Her parents are completely unaware. Traditional mental health apps on her phone require her to actively open them and journal her feelings — which she has no motivation to do.
Without passive detection, Sarah's cry for help goes entirely unnoticed.</a:t>
            </a:r>
            <a:endParaRPr sz="1200" b="0" i="0">
              <a:solidFill>
                <a:schemeClr val="tx1"/>
              </a:solidFill>
              <a:latin typeface="Calibri" panose="020F0502020204030204"/>
            </a:endParaRPr>
          </a:p>
        </p:txBody>
      </p:sp>
      <p:sp>
        <p:nvSpPr>
          <p:cNvPr id="3" name="Rectangle 2"/>
          <p:cNvSpPr/>
          <p:nvPr/>
        </p:nvSpPr>
        <p:spPr>
          <a:xfrm>
            <a:off x="457200" y="411480"/>
            <a:ext cx="2018030" cy="255905"/>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SCENARIO</a:t>
            </a:r>
            <a:endParaRPr sz="2000" b="1">
              <a:solidFill>
                <a:srgbClr val="FFFFFF"/>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457200" y="411480"/>
            <a:ext cx="1805305" cy="255905"/>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INTRODUCTION</a:t>
            </a:r>
            <a:endParaRPr sz="2000" b="1">
              <a:solidFill>
                <a:srgbClr val="FFFFFF"/>
              </a:solidFill>
              <a:latin typeface="Calibri" panose="020F0502020204030204"/>
            </a:endParaRP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03</a:t>
            </a:r>
            <a:endParaRPr sz="1000" b="1" i="0">
              <a:solidFill>
                <a:srgbClr val="4F46E5"/>
              </a:solidFill>
              <a:latin typeface="Calibri" panose="020F0502020204030204"/>
            </a:endParaRPr>
          </a:p>
        </p:txBody>
      </p:sp>
      <p:sp>
        <p:nvSpPr>
          <p:cNvPr id="6" name="Rectangle 5"/>
          <p:cNvSpPr/>
          <p:nvPr/>
        </p:nvSpPr>
        <p:spPr>
          <a:xfrm>
            <a:off x="457200" y="1887855"/>
            <a:ext cx="3611880" cy="2194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252728"/>
            <a:ext cx="457200" cy="4114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252728"/>
            <a:ext cx="457200" cy="429895"/>
          </a:xfrm>
          <a:prstGeom prst="rect">
            <a:avLst/>
          </a:prstGeom>
          <a:noFill/>
        </p:spPr>
        <p:txBody>
          <a:bodyPr wrap="square">
            <a:spAutoFit/>
          </a:bodyPr>
          <a:lstStyle/>
          <a:p>
            <a:pPr algn="ctr"/>
            <a:endParaRPr sz="2200" b="0" i="0">
              <a:solidFill>
                <a:srgbClr val="FFFFFF"/>
              </a:solidFill>
              <a:latin typeface="Calibri" panose="020F0502020204030204"/>
            </a:endParaRPr>
          </a:p>
        </p:txBody>
      </p:sp>
      <p:sp>
        <p:nvSpPr>
          <p:cNvPr id="9" name="TextBox 8"/>
          <p:cNvSpPr txBox="1"/>
          <p:nvPr/>
        </p:nvSpPr>
        <p:spPr>
          <a:xfrm>
            <a:off x="594360" y="2158238"/>
            <a:ext cx="3337560" cy="337185"/>
          </a:xfrm>
          <a:prstGeom prst="rect">
            <a:avLst/>
          </a:prstGeom>
          <a:noFill/>
        </p:spPr>
        <p:txBody>
          <a:bodyPr wrap="square">
            <a:spAutoFit/>
          </a:bodyPr>
          <a:lstStyle/>
          <a:p>
            <a:pPr algn="l"/>
            <a:r>
              <a:rPr sz="1600" b="1" i="0">
                <a:solidFill>
                  <a:srgbClr val="0F172A"/>
                </a:solidFill>
                <a:latin typeface="Calibri" panose="020F0502020204030204"/>
              </a:rPr>
              <a:t>Global Mental Health Crisis</a:t>
            </a:r>
            <a:endParaRPr sz="1600" b="1" i="0">
              <a:solidFill>
                <a:srgbClr val="0F172A"/>
              </a:solidFill>
              <a:latin typeface="Calibri" panose="020F0502020204030204"/>
            </a:endParaRPr>
          </a:p>
        </p:txBody>
      </p:sp>
      <p:sp>
        <p:nvSpPr>
          <p:cNvPr id="10" name="TextBox 9"/>
          <p:cNvSpPr txBox="1"/>
          <p:nvPr/>
        </p:nvSpPr>
        <p:spPr>
          <a:xfrm>
            <a:off x="594360" y="2555748"/>
            <a:ext cx="3337560" cy="1168400"/>
          </a:xfrm>
          <a:prstGeom prst="rect">
            <a:avLst/>
          </a:prstGeom>
          <a:noFill/>
        </p:spPr>
        <p:txBody>
          <a:bodyPr wrap="square">
            <a:spAutoFit/>
          </a:bodyPr>
          <a:lstStyle/>
          <a:p>
            <a:pPr algn="l"/>
            <a:r>
              <a:rPr sz="1400">
                <a:solidFill>
                  <a:schemeClr val="tx1"/>
                </a:solidFill>
                <a:latin typeface="Calibri" panose="020F0502020204030204"/>
              </a:rPr>
              <a:t>Depression affects 280 million people worldwide. Adolescents are disproportionately impacted — 1 in 7 aged 10–19 experience a mental disorder, yet less than 20% receive adequate care.</a:t>
            </a:r>
            <a:endParaRPr sz="1400">
              <a:solidFill>
                <a:schemeClr val="tx1"/>
              </a:solidFill>
              <a:latin typeface="Calibri" panose="020F0502020204030204"/>
            </a:endParaRPr>
          </a:p>
        </p:txBody>
      </p:sp>
      <p:sp>
        <p:nvSpPr>
          <p:cNvPr id="11" name="Rectangle 10"/>
          <p:cNvSpPr/>
          <p:nvPr/>
        </p:nvSpPr>
        <p:spPr>
          <a:xfrm>
            <a:off x="4210812" y="1887855"/>
            <a:ext cx="3611880" cy="2194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6552" y="1252728"/>
            <a:ext cx="457200" cy="4114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1252728"/>
            <a:ext cx="457200" cy="411480"/>
          </a:xfrm>
          <a:prstGeom prst="rect">
            <a:avLst/>
          </a:prstGeom>
          <a:noFill/>
        </p:spPr>
        <p:txBody>
          <a:bodyPr wrap="square">
            <a:spAutoFit/>
          </a:bodyPr>
          <a:lstStyle/>
          <a:p>
            <a:pPr algn="ctr"/>
            <a:r>
              <a:rPr sz="2200" b="0" i="0">
                <a:solidFill>
                  <a:srgbClr val="FFFFFF"/>
                </a:solidFill>
                <a:latin typeface="Calibri" panose="020F0502020204030204"/>
              </a:rPr>
              <a:t>📱</a:t>
            </a:r>
            <a:endParaRPr sz="2200" b="0" i="0">
              <a:solidFill>
                <a:srgbClr val="FFFFFF"/>
              </a:solidFill>
              <a:latin typeface="Calibri" panose="020F0502020204030204"/>
            </a:endParaRPr>
          </a:p>
        </p:txBody>
      </p:sp>
      <p:sp>
        <p:nvSpPr>
          <p:cNvPr id="14" name="TextBox 13"/>
          <p:cNvSpPr txBox="1"/>
          <p:nvPr/>
        </p:nvSpPr>
        <p:spPr>
          <a:xfrm>
            <a:off x="4252595" y="2158365"/>
            <a:ext cx="3529965" cy="337185"/>
          </a:xfrm>
          <a:prstGeom prst="rect">
            <a:avLst/>
          </a:prstGeom>
          <a:noFill/>
        </p:spPr>
        <p:txBody>
          <a:bodyPr wrap="square">
            <a:spAutoFit/>
          </a:bodyPr>
          <a:lstStyle/>
          <a:p>
            <a:pPr algn="l"/>
            <a:r>
              <a:rPr sz="1600" b="1" i="0">
                <a:solidFill>
                  <a:srgbClr val="0F172A"/>
                </a:solidFill>
                <a:latin typeface="Calibri" panose="020F0502020204030204"/>
              </a:rPr>
              <a:t>Adolescents &amp; Online Communication</a:t>
            </a:r>
            <a:endParaRPr sz="1600" b="1" i="0">
              <a:solidFill>
                <a:srgbClr val="0F172A"/>
              </a:solidFill>
              <a:latin typeface="Calibri" panose="020F0502020204030204"/>
            </a:endParaRPr>
          </a:p>
        </p:txBody>
      </p:sp>
      <p:sp>
        <p:nvSpPr>
          <p:cNvPr id="15" name="TextBox 14"/>
          <p:cNvSpPr txBox="1"/>
          <p:nvPr/>
        </p:nvSpPr>
        <p:spPr>
          <a:xfrm>
            <a:off x="4210812" y="2598928"/>
            <a:ext cx="3337560" cy="1168400"/>
          </a:xfrm>
          <a:prstGeom prst="rect">
            <a:avLst/>
          </a:prstGeom>
          <a:noFill/>
        </p:spPr>
        <p:txBody>
          <a:bodyPr wrap="square">
            <a:spAutoFit/>
          </a:bodyPr>
          <a:lstStyle/>
          <a:p>
            <a:pPr algn="l"/>
            <a:r>
              <a:rPr sz="1400">
                <a:solidFill>
                  <a:schemeClr val="tx1"/>
                </a:solidFill>
                <a:latin typeface="Calibri" panose="020F0502020204030204"/>
              </a:rPr>
              <a:t>Adolescents spend 7+ hours/day online. They frequently express emotional distress through written online text — often their primary and most candid outlet for self-expression.</a:t>
            </a:r>
            <a:endParaRPr sz="1400">
              <a:solidFill>
                <a:schemeClr val="tx1"/>
              </a:solidFill>
              <a:latin typeface="Calibri" panose="020F0502020204030204"/>
            </a:endParaRPr>
          </a:p>
        </p:txBody>
      </p:sp>
      <p:sp>
        <p:nvSpPr>
          <p:cNvPr id="16" name="Rectangle 15"/>
          <p:cNvSpPr/>
          <p:nvPr/>
        </p:nvSpPr>
        <p:spPr>
          <a:xfrm>
            <a:off x="8152383" y="1895475"/>
            <a:ext cx="3611880" cy="2194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38743" y="1252728"/>
            <a:ext cx="457200" cy="4114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3" y="1252728"/>
            <a:ext cx="457200" cy="411480"/>
          </a:xfrm>
          <a:prstGeom prst="rect">
            <a:avLst/>
          </a:prstGeom>
          <a:noFill/>
        </p:spPr>
        <p:txBody>
          <a:bodyPr wrap="square">
            <a:spAutoFit/>
          </a:bodyPr>
          <a:lstStyle/>
          <a:p>
            <a:pPr algn="ctr"/>
            <a:r>
              <a:rPr sz="2200" b="0" i="0">
                <a:solidFill>
                  <a:srgbClr val="FFFFFF"/>
                </a:solidFill>
                <a:latin typeface="Calibri" panose="020F0502020204030204"/>
              </a:rPr>
              <a:t>⚠️</a:t>
            </a:r>
            <a:endParaRPr sz="2200" b="0" i="0">
              <a:solidFill>
                <a:srgbClr val="FFFFFF"/>
              </a:solidFill>
              <a:latin typeface="Calibri" panose="020F0502020204030204"/>
            </a:endParaRPr>
          </a:p>
        </p:txBody>
      </p:sp>
      <p:sp>
        <p:nvSpPr>
          <p:cNvPr id="19" name="TextBox 18"/>
          <p:cNvSpPr txBox="1"/>
          <p:nvPr/>
        </p:nvSpPr>
        <p:spPr>
          <a:xfrm>
            <a:off x="8238743" y="2158238"/>
            <a:ext cx="3337560" cy="337185"/>
          </a:xfrm>
          <a:prstGeom prst="rect">
            <a:avLst/>
          </a:prstGeom>
          <a:noFill/>
        </p:spPr>
        <p:txBody>
          <a:bodyPr wrap="square">
            <a:spAutoFit/>
          </a:bodyPr>
          <a:lstStyle/>
          <a:p>
            <a:pPr algn="l"/>
            <a:r>
              <a:rPr sz="1600" b="1" i="0">
                <a:solidFill>
                  <a:srgbClr val="0F172A"/>
                </a:solidFill>
                <a:latin typeface="Calibri" panose="020F0502020204030204"/>
              </a:rPr>
              <a:t>The Intervention Gap</a:t>
            </a:r>
            <a:endParaRPr sz="1600" b="1" i="0">
              <a:solidFill>
                <a:srgbClr val="0F172A"/>
              </a:solidFill>
              <a:latin typeface="Calibri" panose="020F0502020204030204"/>
            </a:endParaRPr>
          </a:p>
        </p:txBody>
      </p:sp>
      <p:sp>
        <p:nvSpPr>
          <p:cNvPr id="20" name="TextBox 19"/>
          <p:cNvSpPr txBox="1"/>
          <p:nvPr/>
        </p:nvSpPr>
        <p:spPr>
          <a:xfrm>
            <a:off x="8289543" y="2494153"/>
            <a:ext cx="3337560" cy="1383665"/>
          </a:xfrm>
          <a:prstGeom prst="rect">
            <a:avLst/>
          </a:prstGeom>
          <a:noFill/>
        </p:spPr>
        <p:txBody>
          <a:bodyPr wrap="square">
            <a:spAutoFit/>
          </a:bodyPr>
          <a:lstStyle/>
          <a:p>
            <a:pPr algn="l"/>
            <a:r>
              <a:rPr sz="1400">
                <a:solidFill>
                  <a:schemeClr val="tx1"/>
                </a:solidFill>
                <a:latin typeface="Calibri" panose="020F0502020204030204"/>
              </a:rPr>
              <a:t>Existing tools rely on active user engagement — journaling apps, chatbots — but at-risk adolescents disengage when most distressed. Early detection requires passive, non-intrusive monitoring.</a:t>
            </a:r>
            <a:endParaRPr sz="1400">
              <a:solidFill>
                <a:schemeClr val="tx1"/>
              </a:solidFill>
              <a:latin typeface="Calibri" panose="020F0502020204030204"/>
            </a:endParaRPr>
          </a:p>
        </p:txBody>
      </p:sp>
      <p:sp>
        <p:nvSpPr>
          <p:cNvPr id="21" name="Rectangle 20"/>
          <p:cNvSpPr/>
          <p:nvPr/>
        </p:nvSpPr>
        <p:spPr>
          <a:xfrm>
            <a:off x="457200" y="5152263"/>
            <a:ext cx="1444752" cy="411480"/>
          </a:xfrm>
          <a:prstGeom prst="rect">
            <a:avLst/>
          </a:prstGeom>
          <a:solidFill>
            <a:srgbClr val="FFFF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p>
        </p:txBody>
      </p:sp>
      <p:sp>
        <p:nvSpPr>
          <p:cNvPr id="22" name="TextBox 21"/>
          <p:cNvSpPr txBox="1"/>
          <p:nvPr/>
        </p:nvSpPr>
        <p:spPr>
          <a:xfrm>
            <a:off x="399415" y="5195570"/>
            <a:ext cx="1444625" cy="425450"/>
          </a:xfrm>
          <a:prstGeom prst="rect">
            <a:avLst/>
          </a:prstGeom>
          <a:noFill/>
        </p:spPr>
        <p:txBody>
          <a:bodyPr wrap="square">
            <a:noAutofit/>
          </a:bodyPr>
          <a:lstStyle/>
          <a:p>
            <a:pPr algn="ctr"/>
            <a:r>
              <a:rPr sz="1200" b="0" i="0">
                <a:solidFill>
                  <a:srgbClr val="334155"/>
                </a:solidFill>
                <a:latin typeface="Calibri" panose="020F0502020204030204"/>
              </a:rPr>
              <a:t>👤 Writes Online</a:t>
            </a:r>
            <a:endParaRPr sz="1200" b="0" i="0">
              <a:solidFill>
                <a:srgbClr val="334155"/>
              </a:solidFill>
              <a:latin typeface="Calibri" panose="020F0502020204030204"/>
            </a:endParaRPr>
          </a:p>
        </p:txBody>
      </p:sp>
      <p:sp>
        <p:nvSpPr>
          <p:cNvPr id="23" name="TextBox 22"/>
          <p:cNvSpPr txBox="1"/>
          <p:nvPr/>
        </p:nvSpPr>
        <p:spPr>
          <a:xfrm>
            <a:off x="1988185" y="5195697"/>
            <a:ext cx="274320" cy="320040"/>
          </a:xfrm>
          <a:prstGeom prst="rect">
            <a:avLst/>
          </a:prstGeom>
          <a:noFill/>
        </p:spPr>
        <p:txBody>
          <a:bodyPr wrap="square">
            <a:spAutoFit/>
          </a:bodyPr>
          <a:lstStyle/>
          <a:p>
            <a:pPr algn="ctr"/>
            <a:r>
              <a:rPr sz="1400" b="1" i="0">
                <a:solidFill>
                  <a:srgbClr val="4F46E5"/>
                </a:solidFill>
                <a:latin typeface="Calibri" panose="020F0502020204030204"/>
              </a:rPr>
              <a:t>→</a:t>
            </a:r>
            <a:endParaRPr sz="1400" b="1" i="0">
              <a:solidFill>
                <a:srgbClr val="4F46E5"/>
              </a:solidFill>
              <a:latin typeface="Calibri" panose="020F0502020204030204"/>
            </a:endParaRPr>
          </a:p>
        </p:txBody>
      </p:sp>
      <p:sp>
        <p:nvSpPr>
          <p:cNvPr id="24" name="Rectangle 23"/>
          <p:cNvSpPr/>
          <p:nvPr/>
        </p:nvSpPr>
        <p:spPr>
          <a:xfrm>
            <a:off x="2231263" y="5152263"/>
            <a:ext cx="1444752" cy="411480"/>
          </a:xfrm>
          <a:prstGeom prst="rect">
            <a:avLst/>
          </a:prstGeom>
          <a:solidFill>
            <a:srgbClr val="FFFF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25853" y="5233797"/>
            <a:ext cx="1444752" cy="275590"/>
          </a:xfrm>
          <a:prstGeom prst="rect">
            <a:avLst/>
          </a:prstGeom>
          <a:noFill/>
        </p:spPr>
        <p:txBody>
          <a:bodyPr wrap="square">
            <a:spAutoFit/>
          </a:bodyPr>
          <a:lstStyle/>
          <a:p>
            <a:pPr algn="ctr"/>
            <a:r>
              <a:rPr sz="1200" b="0" i="0">
                <a:solidFill>
                  <a:srgbClr val="334155"/>
                </a:solidFill>
                <a:latin typeface="Calibri" panose="020F0502020204030204"/>
              </a:rPr>
              <a:t>🔍 Passive Capture</a:t>
            </a:r>
            <a:endParaRPr sz="1200" b="0" i="0">
              <a:solidFill>
                <a:srgbClr val="334155"/>
              </a:solidFill>
              <a:latin typeface="Calibri" panose="020F0502020204030204"/>
            </a:endParaRPr>
          </a:p>
        </p:txBody>
      </p:sp>
      <p:sp>
        <p:nvSpPr>
          <p:cNvPr id="26" name="TextBox 25"/>
          <p:cNvSpPr txBox="1"/>
          <p:nvPr/>
        </p:nvSpPr>
        <p:spPr>
          <a:xfrm>
            <a:off x="3794760" y="5195570"/>
            <a:ext cx="274320" cy="368300"/>
          </a:xfrm>
          <a:prstGeom prst="rect">
            <a:avLst/>
          </a:prstGeom>
          <a:noFill/>
        </p:spPr>
        <p:txBody>
          <a:bodyPr wrap="square">
            <a:noAutofit/>
          </a:bodyPr>
          <a:lstStyle/>
          <a:p>
            <a:pPr algn="ctr"/>
            <a:r>
              <a:rPr sz="1400" b="1" i="0">
                <a:solidFill>
                  <a:srgbClr val="4F46E5"/>
                </a:solidFill>
                <a:latin typeface="Calibri" panose="020F0502020204030204"/>
              </a:rPr>
              <a:t>→</a:t>
            </a:r>
            <a:endParaRPr sz="1400" b="1" i="0">
              <a:solidFill>
                <a:srgbClr val="4F46E5"/>
              </a:solidFill>
              <a:latin typeface="Calibri" panose="020F0502020204030204"/>
            </a:endParaRPr>
          </a:p>
        </p:txBody>
      </p:sp>
      <p:sp>
        <p:nvSpPr>
          <p:cNvPr id="27" name="Rectangle 26"/>
          <p:cNvSpPr/>
          <p:nvPr/>
        </p:nvSpPr>
        <p:spPr>
          <a:xfrm>
            <a:off x="4067556" y="5152263"/>
            <a:ext cx="1444752" cy="411480"/>
          </a:xfrm>
          <a:prstGeom prst="rect">
            <a:avLst/>
          </a:prstGeom>
          <a:solidFill>
            <a:srgbClr val="FFFF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52291" y="5243957"/>
            <a:ext cx="1444752" cy="275590"/>
          </a:xfrm>
          <a:prstGeom prst="rect">
            <a:avLst/>
          </a:prstGeom>
          <a:noFill/>
        </p:spPr>
        <p:txBody>
          <a:bodyPr wrap="square">
            <a:spAutoFit/>
          </a:bodyPr>
          <a:lstStyle/>
          <a:p>
            <a:pPr algn="ctr"/>
            <a:r>
              <a:rPr sz="1200" b="0" i="0">
                <a:solidFill>
                  <a:srgbClr val="334155"/>
                </a:solidFill>
                <a:latin typeface="Calibri" panose="020F0502020204030204"/>
              </a:rPr>
              <a:t>🤖 AI Analysis</a:t>
            </a:r>
            <a:endParaRPr sz="1200" b="0" i="0">
              <a:solidFill>
                <a:srgbClr val="334155"/>
              </a:solidFill>
              <a:latin typeface="Calibri" panose="020F0502020204030204"/>
            </a:endParaRPr>
          </a:p>
        </p:txBody>
      </p:sp>
      <p:sp>
        <p:nvSpPr>
          <p:cNvPr id="29" name="TextBox 28"/>
          <p:cNvSpPr txBox="1"/>
          <p:nvPr/>
        </p:nvSpPr>
        <p:spPr>
          <a:xfrm>
            <a:off x="5669661" y="5209032"/>
            <a:ext cx="274320" cy="306705"/>
          </a:xfrm>
          <a:prstGeom prst="rect">
            <a:avLst/>
          </a:prstGeom>
          <a:noFill/>
        </p:spPr>
        <p:txBody>
          <a:bodyPr wrap="square">
            <a:spAutoFit/>
          </a:bodyPr>
          <a:lstStyle/>
          <a:p>
            <a:pPr algn="ctr"/>
            <a:r>
              <a:rPr sz="1400" b="1" i="0">
                <a:solidFill>
                  <a:srgbClr val="4F46E5"/>
                </a:solidFill>
                <a:latin typeface="Calibri" panose="020F0502020204030204"/>
              </a:rPr>
              <a:t>→</a:t>
            </a:r>
            <a:endParaRPr sz="1400" b="1" i="0">
              <a:solidFill>
                <a:srgbClr val="4F46E5"/>
              </a:solidFill>
              <a:latin typeface="Calibri" panose="020F0502020204030204"/>
            </a:endParaRPr>
          </a:p>
        </p:txBody>
      </p:sp>
      <p:sp>
        <p:nvSpPr>
          <p:cNvPr id="30" name="Rectangle 29"/>
          <p:cNvSpPr/>
          <p:nvPr/>
        </p:nvSpPr>
        <p:spPr>
          <a:xfrm>
            <a:off x="5930265" y="5152390"/>
            <a:ext cx="1387475" cy="401320"/>
          </a:xfrm>
          <a:prstGeom prst="rect">
            <a:avLst/>
          </a:prstGeom>
          <a:solidFill>
            <a:srgbClr val="FFFF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04484" y="5209667"/>
            <a:ext cx="1444752" cy="275590"/>
          </a:xfrm>
          <a:prstGeom prst="rect">
            <a:avLst/>
          </a:prstGeom>
          <a:noFill/>
        </p:spPr>
        <p:txBody>
          <a:bodyPr wrap="square">
            <a:spAutoFit/>
          </a:bodyPr>
          <a:lstStyle/>
          <a:p>
            <a:pPr algn="ctr"/>
            <a:r>
              <a:rPr sz="1200" b="0" i="0">
                <a:solidFill>
                  <a:srgbClr val="334155"/>
                </a:solidFill>
                <a:latin typeface="Calibri" panose="020F0502020204030204"/>
              </a:rPr>
              <a:t>🔔 Guardian Alert</a:t>
            </a:r>
            <a:endParaRPr sz="1200" b="0" i="0">
              <a:solidFill>
                <a:srgbClr val="334155"/>
              </a:solidFill>
              <a:latin typeface="Calibri" panose="020F0502020204030204"/>
            </a:endParaRPr>
          </a:p>
        </p:txBody>
      </p:sp>
      <p:sp>
        <p:nvSpPr>
          <p:cNvPr id="32" name="TextBox 31"/>
          <p:cNvSpPr txBox="1"/>
          <p:nvPr/>
        </p:nvSpPr>
        <p:spPr>
          <a:xfrm>
            <a:off x="7407275" y="5152390"/>
            <a:ext cx="274320" cy="377190"/>
          </a:xfrm>
          <a:prstGeom prst="rect">
            <a:avLst/>
          </a:prstGeom>
          <a:noFill/>
        </p:spPr>
        <p:txBody>
          <a:bodyPr wrap="square">
            <a:noAutofit/>
          </a:bodyPr>
          <a:lstStyle/>
          <a:p>
            <a:pPr algn="ctr"/>
            <a:r>
              <a:rPr sz="1400" b="1" i="0">
                <a:solidFill>
                  <a:srgbClr val="4F46E5"/>
                </a:solidFill>
                <a:latin typeface="Calibri" panose="020F0502020204030204"/>
              </a:rPr>
              <a:t>→</a:t>
            </a:r>
            <a:endParaRPr sz="1400" b="1" i="0">
              <a:solidFill>
                <a:srgbClr val="4F46E5"/>
              </a:solidFill>
              <a:latin typeface="Calibri" panose="020F0502020204030204"/>
            </a:endParaRPr>
          </a:p>
        </p:txBody>
      </p:sp>
      <p:sp>
        <p:nvSpPr>
          <p:cNvPr id="33" name="Rectangle 32"/>
          <p:cNvSpPr/>
          <p:nvPr/>
        </p:nvSpPr>
        <p:spPr>
          <a:xfrm>
            <a:off x="7678547" y="5142103"/>
            <a:ext cx="1444752" cy="411480"/>
          </a:xfrm>
          <a:prstGeom prst="rect">
            <a:avLst/>
          </a:prstGeom>
          <a:solidFill>
            <a:srgbClr val="FFFF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45197" y="5195697"/>
            <a:ext cx="1444752" cy="275590"/>
          </a:xfrm>
          <a:prstGeom prst="rect">
            <a:avLst/>
          </a:prstGeom>
          <a:noFill/>
        </p:spPr>
        <p:txBody>
          <a:bodyPr wrap="square">
            <a:spAutoFit/>
          </a:bodyPr>
          <a:lstStyle/>
          <a:p>
            <a:pPr algn="ctr"/>
            <a:r>
              <a:rPr sz="1200" b="0" i="0">
                <a:solidFill>
                  <a:srgbClr val="334155"/>
                </a:solidFill>
                <a:latin typeface="Calibri" panose="020F0502020204030204"/>
              </a:rPr>
              <a:t>💚 Intervention</a:t>
            </a:r>
            <a:endParaRPr sz="1200" b="0" i="0">
              <a:solidFill>
                <a:srgbClr val="334155"/>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457200" y="411480"/>
            <a:ext cx="2493010" cy="255905"/>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LITERATURE REVIEW</a:t>
            </a:r>
            <a:endParaRPr sz="2000" b="1">
              <a:solidFill>
                <a:srgbClr val="FFFFFF"/>
              </a:solidFill>
              <a:latin typeface="Calibri" panose="020F0502020204030204"/>
            </a:endParaRP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04</a:t>
            </a:r>
            <a:endParaRPr sz="1000" b="1" i="0">
              <a:solidFill>
                <a:srgbClr val="4F46E5"/>
              </a:solidFill>
              <a:latin typeface="Calibri" panose="020F0502020204030204"/>
            </a:endParaRPr>
          </a:p>
        </p:txBody>
      </p:sp>
      <p:sp>
        <p:nvSpPr>
          <p:cNvPr id="6" name="Rectangle 5"/>
          <p:cNvSpPr/>
          <p:nvPr/>
        </p:nvSpPr>
        <p:spPr>
          <a:xfrm>
            <a:off x="457200" y="1115568"/>
            <a:ext cx="1828800" cy="365760"/>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170432"/>
            <a:ext cx="1719072" cy="337185"/>
          </a:xfrm>
          <a:prstGeom prst="rect">
            <a:avLst/>
          </a:prstGeom>
          <a:noFill/>
        </p:spPr>
        <p:txBody>
          <a:bodyPr wrap="square">
            <a:spAutoFit/>
          </a:bodyPr>
          <a:lstStyle/>
          <a:p>
            <a:pPr algn="l"/>
            <a:r>
              <a:rPr sz="1600" b="1" i="0">
                <a:solidFill>
                  <a:srgbClr val="4F46E5"/>
                </a:solidFill>
                <a:latin typeface="Calibri" panose="020F0502020204030204"/>
              </a:rPr>
              <a:t>Author(s) &amp; Year</a:t>
            </a:r>
            <a:endParaRPr sz="1600" b="1" i="0">
              <a:solidFill>
                <a:srgbClr val="4F46E5"/>
              </a:solidFill>
              <a:latin typeface="Calibri" panose="020F0502020204030204"/>
            </a:endParaRPr>
          </a:p>
        </p:txBody>
      </p:sp>
      <p:sp>
        <p:nvSpPr>
          <p:cNvPr id="8" name="Rectangle 7"/>
          <p:cNvSpPr/>
          <p:nvPr/>
        </p:nvSpPr>
        <p:spPr>
          <a:xfrm>
            <a:off x="2286000" y="1115568"/>
            <a:ext cx="2377440" cy="365760"/>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40864" y="1170432"/>
            <a:ext cx="2267712" cy="337185"/>
          </a:xfrm>
          <a:prstGeom prst="rect">
            <a:avLst/>
          </a:prstGeom>
          <a:noFill/>
        </p:spPr>
        <p:txBody>
          <a:bodyPr wrap="square">
            <a:spAutoFit/>
          </a:bodyPr>
          <a:lstStyle/>
          <a:p>
            <a:pPr algn="l"/>
            <a:r>
              <a:rPr sz="1600" b="1" i="0">
                <a:solidFill>
                  <a:srgbClr val="4F46E5"/>
                </a:solidFill>
                <a:latin typeface="Calibri" panose="020F0502020204030204"/>
              </a:rPr>
              <a:t>Problem Considered</a:t>
            </a:r>
            <a:endParaRPr sz="1600" b="1" i="0">
              <a:solidFill>
                <a:srgbClr val="4F46E5"/>
              </a:solidFill>
              <a:latin typeface="Calibri" panose="020F0502020204030204"/>
            </a:endParaRPr>
          </a:p>
        </p:txBody>
      </p:sp>
      <p:sp>
        <p:nvSpPr>
          <p:cNvPr id="10" name="Rectangle 9"/>
          <p:cNvSpPr/>
          <p:nvPr/>
        </p:nvSpPr>
        <p:spPr>
          <a:xfrm>
            <a:off x="4663440" y="1115568"/>
            <a:ext cx="2377440" cy="365760"/>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18304" y="1170432"/>
            <a:ext cx="2267712" cy="337185"/>
          </a:xfrm>
          <a:prstGeom prst="rect">
            <a:avLst/>
          </a:prstGeom>
          <a:noFill/>
        </p:spPr>
        <p:txBody>
          <a:bodyPr wrap="square">
            <a:spAutoFit/>
          </a:bodyPr>
          <a:lstStyle/>
          <a:p>
            <a:pPr algn="l"/>
            <a:r>
              <a:rPr sz="1600" b="1" i="0">
                <a:solidFill>
                  <a:srgbClr val="4F46E5"/>
                </a:solidFill>
                <a:latin typeface="Calibri" panose="020F0502020204030204"/>
              </a:rPr>
              <a:t>Method Used</a:t>
            </a:r>
            <a:endParaRPr sz="1600" b="1" i="0">
              <a:solidFill>
                <a:srgbClr val="4F46E5"/>
              </a:solidFill>
              <a:latin typeface="Calibri" panose="020F0502020204030204"/>
            </a:endParaRPr>
          </a:p>
        </p:txBody>
      </p:sp>
      <p:sp>
        <p:nvSpPr>
          <p:cNvPr id="12" name="Rectangle 11"/>
          <p:cNvSpPr/>
          <p:nvPr/>
        </p:nvSpPr>
        <p:spPr>
          <a:xfrm>
            <a:off x="7040880" y="1115568"/>
            <a:ext cx="2377440" cy="365760"/>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95744" y="1170432"/>
            <a:ext cx="2267712" cy="337185"/>
          </a:xfrm>
          <a:prstGeom prst="rect">
            <a:avLst/>
          </a:prstGeom>
          <a:noFill/>
        </p:spPr>
        <p:txBody>
          <a:bodyPr wrap="square">
            <a:spAutoFit/>
          </a:bodyPr>
          <a:lstStyle/>
          <a:p>
            <a:pPr algn="l"/>
            <a:r>
              <a:rPr sz="1600" b="1" i="0">
                <a:solidFill>
                  <a:srgbClr val="4F46E5"/>
                </a:solidFill>
                <a:latin typeface="Calibri" panose="020F0502020204030204"/>
              </a:rPr>
              <a:t>Gap Identified</a:t>
            </a:r>
            <a:endParaRPr sz="1600" b="1" i="0">
              <a:solidFill>
                <a:srgbClr val="4F46E5"/>
              </a:solidFill>
              <a:latin typeface="Calibri" panose="020F0502020204030204"/>
            </a:endParaRPr>
          </a:p>
        </p:txBody>
      </p:sp>
      <p:sp>
        <p:nvSpPr>
          <p:cNvPr id="14" name="Rectangle 13"/>
          <p:cNvSpPr/>
          <p:nvPr/>
        </p:nvSpPr>
        <p:spPr>
          <a:xfrm>
            <a:off x="9418320" y="1115568"/>
            <a:ext cx="2286000" cy="365760"/>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2605" y="1143000"/>
            <a:ext cx="2790825" cy="364490"/>
          </a:xfrm>
          <a:prstGeom prst="rect">
            <a:avLst/>
          </a:prstGeom>
          <a:noFill/>
        </p:spPr>
        <p:txBody>
          <a:bodyPr wrap="square">
            <a:noAutofit/>
          </a:bodyPr>
          <a:lstStyle/>
          <a:p>
            <a:pPr algn="l"/>
            <a:r>
              <a:rPr lang="en-US" sz="1600" b="1" i="0">
                <a:solidFill>
                  <a:srgbClr val="4F46E5"/>
                </a:solidFill>
                <a:latin typeface="Calibri" panose="020F0502020204030204"/>
              </a:rPr>
              <a:t>Opportunities</a:t>
            </a:r>
            <a:endParaRPr lang="en-US" sz="1600" b="1" i="0">
              <a:solidFill>
                <a:srgbClr val="4F46E5"/>
              </a:solidFill>
              <a:latin typeface="Calibri" panose="020F0502020204030204"/>
            </a:endParaRPr>
          </a:p>
        </p:txBody>
      </p:sp>
      <p:sp>
        <p:nvSpPr>
          <p:cNvPr id="16" name="Rectangle 15"/>
          <p:cNvSpPr/>
          <p:nvPr/>
        </p:nvSpPr>
        <p:spPr>
          <a:xfrm>
            <a:off x="457200" y="1481328"/>
            <a:ext cx="182880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 y="1536192"/>
            <a:ext cx="1700784" cy="306705"/>
          </a:xfrm>
          <a:prstGeom prst="rect">
            <a:avLst/>
          </a:prstGeom>
          <a:noFill/>
        </p:spPr>
        <p:txBody>
          <a:bodyPr wrap="square">
            <a:spAutoFit/>
          </a:bodyPr>
          <a:lstStyle/>
          <a:p>
            <a:pPr algn="l"/>
            <a:r>
              <a:rPr sz="1400" b="0" i="0">
                <a:solidFill>
                  <a:schemeClr val="tx1"/>
                </a:solidFill>
                <a:latin typeface="Calibri" panose="020F0502020204030204"/>
              </a:rPr>
              <a:t>Q. Guo et al. (2024)</a:t>
            </a:r>
            <a:endParaRPr sz="1400" b="0" i="0">
              <a:solidFill>
                <a:schemeClr val="tx1"/>
              </a:solidFill>
              <a:latin typeface="Calibri" panose="020F0502020204030204"/>
            </a:endParaRPr>
          </a:p>
        </p:txBody>
      </p:sp>
      <p:sp>
        <p:nvSpPr>
          <p:cNvPr id="18" name="Rectangle 17"/>
          <p:cNvSpPr/>
          <p:nvPr/>
        </p:nvSpPr>
        <p:spPr>
          <a:xfrm>
            <a:off x="2286000" y="148132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0008" y="1536192"/>
            <a:ext cx="2249424" cy="521970"/>
          </a:xfrm>
          <a:prstGeom prst="rect">
            <a:avLst/>
          </a:prstGeom>
          <a:noFill/>
        </p:spPr>
        <p:txBody>
          <a:bodyPr wrap="square">
            <a:spAutoFit/>
          </a:bodyPr>
          <a:lstStyle/>
          <a:p>
            <a:pPr algn="l"/>
            <a:r>
              <a:rPr sz="1400" b="0" i="0">
                <a:solidFill>
                  <a:schemeClr val="tx1"/>
                </a:solidFill>
                <a:latin typeface="Calibri" panose="020F0502020204030204"/>
              </a:rPr>
              <a:t>Suicidal ideation detection in social media</a:t>
            </a:r>
            <a:endParaRPr sz="1400" b="0" i="0">
              <a:solidFill>
                <a:schemeClr val="tx1"/>
              </a:solidFill>
              <a:latin typeface="Calibri" panose="020F0502020204030204"/>
            </a:endParaRPr>
          </a:p>
        </p:txBody>
      </p:sp>
      <p:sp>
        <p:nvSpPr>
          <p:cNvPr id="20" name="Rectangle 19"/>
          <p:cNvSpPr/>
          <p:nvPr/>
        </p:nvSpPr>
        <p:spPr>
          <a:xfrm>
            <a:off x="4663440" y="148132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27448" y="1536192"/>
            <a:ext cx="2249424" cy="521970"/>
          </a:xfrm>
          <a:prstGeom prst="rect">
            <a:avLst/>
          </a:prstGeom>
          <a:noFill/>
        </p:spPr>
        <p:txBody>
          <a:bodyPr wrap="square">
            <a:spAutoFit/>
          </a:bodyPr>
          <a:lstStyle/>
          <a:p>
            <a:pPr algn="l"/>
            <a:r>
              <a:rPr sz="1400" b="0" i="0">
                <a:solidFill>
                  <a:schemeClr val="tx1"/>
                </a:solidFill>
                <a:latin typeface="Calibri" panose="020F0502020204030204"/>
              </a:rPr>
              <a:t>BERT-based classification on Reddit</a:t>
            </a:r>
            <a:endParaRPr sz="1400" b="0" i="0">
              <a:solidFill>
                <a:schemeClr val="tx1"/>
              </a:solidFill>
              <a:latin typeface="Calibri" panose="020F0502020204030204"/>
            </a:endParaRPr>
          </a:p>
        </p:txBody>
      </p:sp>
      <p:sp>
        <p:nvSpPr>
          <p:cNvPr id="22" name="Rectangle 21"/>
          <p:cNvSpPr/>
          <p:nvPr/>
        </p:nvSpPr>
        <p:spPr>
          <a:xfrm>
            <a:off x="7040880" y="148132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04888" y="1536192"/>
            <a:ext cx="2249424" cy="521970"/>
          </a:xfrm>
          <a:prstGeom prst="rect">
            <a:avLst/>
          </a:prstGeom>
          <a:noFill/>
        </p:spPr>
        <p:txBody>
          <a:bodyPr wrap="square">
            <a:spAutoFit/>
          </a:bodyPr>
          <a:lstStyle/>
          <a:p>
            <a:pPr algn="l"/>
            <a:r>
              <a:rPr sz="1400" b="0" i="0">
                <a:solidFill>
                  <a:schemeClr val="tx1"/>
                </a:solidFill>
                <a:latin typeface="Calibri" panose="020F0502020204030204"/>
              </a:rPr>
              <a:t>Not age-targeted; no guardian alerts</a:t>
            </a:r>
            <a:endParaRPr sz="1400" b="0" i="0">
              <a:solidFill>
                <a:schemeClr val="tx1"/>
              </a:solidFill>
              <a:latin typeface="Calibri" panose="020F0502020204030204"/>
            </a:endParaRPr>
          </a:p>
        </p:txBody>
      </p:sp>
      <p:sp>
        <p:nvSpPr>
          <p:cNvPr id="24" name="Rectangle 23"/>
          <p:cNvSpPr/>
          <p:nvPr/>
        </p:nvSpPr>
        <p:spPr>
          <a:xfrm>
            <a:off x="9418320" y="1481328"/>
            <a:ext cx="228600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82328" y="1536192"/>
            <a:ext cx="2157984" cy="306705"/>
          </a:xfrm>
          <a:prstGeom prst="rect">
            <a:avLst/>
          </a:prstGeom>
          <a:noFill/>
        </p:spPr>
        <p:txBody>
          <a:bodyPr wrap="square">
            <a:spAutoFit/>
          </a:bodyPr>
          <a:lstStyle/>
          <a:p>
            <a:pPr algn="l"/>
            <a:r>
              <a:rPr sz="1400" b="0" i="0">
                <a:solidFill>
                  <a:srgbClr val="059669"/>
                </a:solidFill>
                <a:latin typeface="Calibri" panose="020F0502020204030204"/>
              </a:rPr>
              <a:t>✔ Age-targeted + Alerts</a:t>
            </a:r>
            <a:endParaRPr sz="1400" b="0" i="0">
              <a:solidFill>
                <a:srgbClr val="059669"/>
              </a:solidFill>
              <a:latin typeface="Calibri" panose="020F0502020204030204"/>
            </a:endParaRPr>
          </a:p>
        </p:txBody>
      </p:sp>
      <p:sp>
        <p:nvSpPr>
          <p:cNvPr id="26" name="Rectangle 25"/>
          <p:cNvSpPr/>
          <p:nvPr/>
        </p:nvSpPr>
        <p:spPr>
          <a:xfrm>
            <a:off x="457200" y="2350008"/>
            <a:ext cx="182880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2404872"/>
            <a:ext cx="1700784" cy="521970"/>
          </a:xfrm>
          <a:prstGeom prst="rect">
            <a:avLst/>
          </a:prstGeom>
          <a:noFill/>
        </p:spPr>
        <p:txBody>
          <a:bodyPr wrap="square">
            <a:spAutoFit/>
          </a:bodyPr>
          <a:lstStyle/>
          <a:p>
            <a:pPr algn="l"/>
            <a:r>
              <a:rPr sz="1400" b="0" i="0">
                <a:solidFill>
                  <a:schemeClr val="tx1"/>
                </a:solidFill>
                <a:latin typeface="Calibri" panose="020F0502020204030204"/>
              </a:rPr>
              <a:t>Ilapaka &amp; Ghosh (2025</a:t>
            </a:r>
            <a:r>
              <a:rPr lang="en-US" sz="1400" b="0" i="0">
                <a:solidFill>
                  <a:schemeClr val="tx1"/>
                </a:solidFill>
                <a:latin typeface="Calibri" panose="020F0502020204030204"/>
              </a:rPr>
              <a:t>)</a:t>
            </a:r>
            <a:endParaRPr lang="en-US" sz="1400" b="0" i="0">
              <a:solidFill>
                <a:schemeClr val="tx1"/>
              </a:solidFill>
              <a:latin typeface="Calibri" panose="020F0502020204030204"/>
            </a:endParaRPr>
          </a:p>
        </p:txBody>
      </p:sp>
      <p:sp>
        <p:nvSpPr>
          <p:cNvPr id="28" name="Rectangle 27"/>
          <p:cNvSpPr/>
          <p:nvPr/>
        </p:nvSpPr>
        <p:spPr>
          <a:xfrm>
            <a:off x="2286000" y="2350008"/>
            <a:ext cx="237744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50008" y="2404872"/>
            <a:ext cx="2249424" cy="521970"/>
          </a:xfrm>
          <a:prstGeom prst="rect">
            <a:avLst/>
          </a:prstGeom>
          <a:noFill/>
        </p:spPr>
        <p:txBody>
          <a:bodyPr wrap="square">
            <a:spAutoFit/>
          </a:bodyPr>
          <a:lstStyle/>
          <a:p>
            <a:pPr algn="l"/>
            <a:r>
              <a:rPr sz="1400" b="0" i="0">
                <a:solidFill>
                  <a:schemeClr val="tx1"/>
                </a:solidFill>
                <a:latin typeface="Calibri" panose="020F0502020204030204"/>
              </a:rPr>
              <a:t>AI chatbot for depression support</a:t>
            </a:r>
            <a:endParaRPr sz="1400" b="0" i="0">
              <a:solidFill>
                <a:schemeClr val="tx1"/>
              </a:solidFill>
              <a:latin typeface="Calibri" panose="020F0502020204030204"/>
            </a:endParaRPr>
          </a:p>
        </p:txBody>
      </p:sp>
      <p:sp>
        <p:nvSpPr>
          <p:cNvPr id="30" name="Rectangle 29"/>
          <p:cNvSpPr/>
          <p:nvPr/>
        </p:nvSpPr>
        <p:spPr>
          <a:xfrm>
            <a:off x="4663440" y="2350008"/>
            <a:ext cx="237744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27448" y="2404872"/>
            <a:ext cx="2249424" cy="521970"/>
          </a:xfrm>
          <a:prstGeom prst="rect">
            <a:avLst/>
          </a:prstGeom>
          <a:noFill/>
        </p:spPr>
        <p:txBody>
          <a:bodyPr wrap="square">
            <a:spAutoFit/>
          </a:bodyPr>
          <a:lstStyle/>
          <a:p>
            <a:pPr algn="l"/>
            <a:r>
              <a:rPr sz="1400" b="0" i="0">
                <a:solidFill>
                  <a:schemeClr val="tx1"/>
                </a:solidFill>
                <a:latin typeface="Calibri" panose="020F0502020204030204"/>
              </a:rPr>
              <a:t>FAISS + RAG + active dialogue</a:t>
            </a:r>
            <a:endParaRPr sz="1400" b="0" i="0">
              <a:solidFill>
                <a:schemeClr val="tx1"/>
              </a:solidFill>
              <a:latin typeface="Calibri" panose="020F0502020204030204"/>
            </a:endParaRPr>
          </a:p>
        </p:txBody>
      </p:sp>
      <p:sp>
        <p:nvSpPr>
          <p:cNvPr id="32" name="Rectangle 31"/>
          <p:cNvSpPr/>
          <p:nvPr/>
        </p:nvSpPr>
        <p:spPr>
          <a:xfrm>
            <a:off x="7040880" y="2350008"/>
            <a:ext cx="237744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04888" y="2404872"/>
            <a:ext cx="2249424" cy="521970"/>
          </a:xfrm>
          <a:prstGeom prst="rect">
            <a:avLst/>
          </a:prstGeom>
          <a:noFill/>
        </p:spPr>
        <p:txBody>
          <a:bodyPr wrap="square">
            <a:spAutoFit/>
          </a:bodyPr>
          <a:lstStyle/>
          <a:p>
            <a:pPr algn="l"/>
            <a:r>
              <a:rPr sz="1400" b="0" i="0">
                <a:solidFill>
                  <a:schemeClr val="tx1"/>
                </a:solidFill>
                <a:latin typeface="Calibri" panose="020F0502020204030204"/>
              </a:rPr>
              <a:t>Requires active user initiation</a:t>
            </a:r>
            <a:endParaRPr sz="1400" b="0" i="0">
              <a:solidFill>
                <a:schemeClr val="tx1"/>
              </a:solidFill>
              <a:latin typeface="Calibri" panose="020F0502020204030204"/>
            </a:endParaRPr>
          </a:p>
        </p:txBody>
      </p:sp>
      <p:sp>
        <p:nvSpPr>
          <p:cNvPr id="34" name="Rectangle 33"/>
          <p:cNvSpPr/>
          <p:nvPr/>
        </p:nvSpPr>
        <p:spPr>
          <a:xfrm>
            <a:off x="9418320" y="2350008"/>
            <a:ext cx="228600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82328" y="2404872"/>
            <a:ext cx="2157984" cy="306705"/>
          </a:xfrm>
          <a:prstGeom prst="rect">
            <a:avLst/>
          </a:prstGeom>
          <a:noFill/>
        </p:spPr>
        <p:txBody>
          <a:bodyPr wrap="square">
            <a:spAutoFit/>
          </a:bodyPr>
          <a:lstStyle/>
          <a:p>
            <a:pPr algn="l"/>
            <a:r>
              <a:rPr sz="1400" b="0" i="0">
                <a:solidFill>
                  <a:srgbClr val="059669"/>
                </a:solidFill>
                <a:latin typeface="Calibri" panose="020F0502020204030204"/>
              </a:rPr>
              <a:t>✔ Passive monitoring</a:t>
            </a:r>
            <a:endParaRPr sz="1400" b="0" i="0">
              <a:solidFill>
                <a:srgbClr val="059669"/>
              </a:solidFill>
              <a:latin typeface="Calibri" panose="020F0502020204030204"/>
            </a:endParaRPr>
          </a:p>
        </p:txBody>
      </p:sp>
      <p:sp>
        <p:nvSpPr>
          <p:cNvPr id="36" name="Rectangle 35"/>
          <p:cNvSpPr/>
          <p:nvPr/>
        </p:nvSpPr>
        <p:spPr>
          <a:xfrm>
            <a:off x="457200" y="3218688"/>
            <a:ext cx="182880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208" y="3273552"/>
            <a:ext cx="1700784" cy="306705"/>
          </a:xfrm>
          <a:prstGeom prst="rect">
            <a:avLst/>
          </a:prstGeom>
          <a:noFill/>
        </p:spPr>
        <p:txBody>
          <a:bodyPr wrap="square">
            <a:spAutoFit/>
          </a:bodyPr>
          <a:lstStyle/>
          <a:p>
            <a:pPr algn="l"/>
            <a:r>
              <a:rPr sz="1400" b="0" i="0">
                <a:solidFill>
                  <a:schemeClr val="tx1"/>
                </a:solidFill>
                <a:latin typeface="Calibri" panose="020F0502020204030204"/>
              </a:rPr>
              <a:t>Zhang et al. (2023)</a:t>
            </a:r>
            <a:endParaRPr sz="1400" b="0" i="0">
              <a:solidFill>
                <a:schemeClr val="tx1"/>
              </a:solidFill>
              <a:latin typeface="Calibri" panose="020F0502020204030204"/>
            </a:endParaRPr>
          </a:p>
        </p:txBody>
      </p:sp>
      <p:sp>
        <p:nvSpPr>
          <p:cNvPr id="38" name="Rectangle 37"/>
          <p:cNvSpPr/>
          <p:nvPr/>
        </p:nvSpPr>
        <p:spPr>
          <a:xfrm>
            <a:off x="2286000" y="321868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350008" y="3273552"/>
            <a:ext cx="2249424" cy="521970"/>
          </a:xfrm>
          <a:prstGeom prst="rect">
            <a:avLst/>
          </a:prstGeom>
          <a:noFill/>
        </p:spPr>
        <p:txBody>
          <a:bodyPr wrap="square">
            <a:spAutoFit/>
          </a:bodyPr>
          <a:lstStyle/>
          <a:p>
            <a:pPr algn="l"/>
            <a:r>
              <a:rPr sz="1400" b="0" i="0">
                <a:solidFill>
                  <a:schemeClr val="tx1"/>
                </a:solidFill>
                <a:latin typeface="Calibri" panose="020F0502020204030204"/>
              </a:rPr>
              <a:t>LLM emotional support for mental health</a:t>
            </a:r>
            <a:endParaRPr sz="1400" b="0" i="0">
              <a:solidFill>
                <a:schemeClr val="tx1"/>
              </a:solidFill>
              <a:latin typeface="Calibri" panose="020F0502020204030204"/>
            </a:endParaRPr>
          </a:p>
        </p:txBody>
      </p:sp>
      <p:sp>
        <p:nvSpPr>
          <p:cNvPr id="40" name="Rectangle 39"/>
          <p:cNvSpPr/>
          <p:nvPr/>
        </p:nvSpPr>
        <p:spPr>
          <a:xfrm>
            <a:off x="4663440" y="321868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27448" y="3273552"/>
            <a:ext cx="2249424" cy="521970"/>
          </a:xfrm>
          <a:prstGeom prst="rect">
            <a:avLst/>
          </a:prstGeom>
          <a:noFill/>
        </p:spPr>
        <p:txBody>
          <a:bodyPr wrap="square">
            <a:spAutoFit/>
          </a:bodyPr>
          <a:lstStyle/>
          <a:p>
            <a:pPr algn="l"/>
            <a:r>
              <a:rPr sz="1400" b="0" i="0">
                <a:solidFill>
                  <a:schemeClr val="tx1"/>
                </a:solidFill>
                <a:latin typeface="Calibri" panose="020F0502020204030204"/>
              </a:rPr>
              <a:t>Fine-tuned LLM; overall F1 = 0.68</a:t>
            </a:r>
            <a:endParaRPr sz="1400" b="0" i="0">
              <a:solidFill>
                <a:schemeClr val="tx1"/>
              </a:solidFill>
              <a:latin typeface="Calibri" panose="020F0502020204030204"/>
            </a:endParaRPr>
          </a:p>
        </p:txBody>
      </p:sp>
      <p:sp>
        <p:nvSpPr>
          <p:cNvPr id="42" name="Rectangle 41"/>
          <p:cNvSpPr/>
          <p:nvPr/>
        </p:nvSpPr>
        <p:spPr>
          <a:xfrm>
            <a:off x="7040880" y="321868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04888" y="3273552"/>
            <a:ext cx="2249424" cy="521970"/>
          </a:xfrm>
          <a:prstGeom prst="rect">
            <a:avLst/>
          </a:prstGeom>
          <a:noFill/>
        </p:spPr>
        <p:txBody>
          <a:bodyPr wrap="square">
            <a:spAutoFit/>
          </a:bodyPr>
          <a:lstStyle/>
          <a:p>
            <a:pPr algn="l"/>
            <a:r>
              <a:rPr sz="1400" b="0" i="0">
                <a:solidFill>
                  <a:schemeClr val="tx1"/>
                </a:solidFill>
                <a:latin typeface="Calibri" panose="020F0502020204030204"/>
              </a:rPr>
              <a:t>No guardian escalation; low F1</a:t>
            </a:r>
            <a:endParaRPr sz="1400" b="0" i="0">
              <a:solidFill>
                <a:schemeClr val="tx1"/>
              </a:solidFill>
              <a:latin typeface="Calibri" panose="020F0502020204030204"/>
            </a:endParaRPr>
          </a:p>
        </p:txBody>
      </p:sp>
      <p:sp>
        <p:nvSpPr>
          <p:cNvPr id="44" name="Rectangle 43"/>
          <p:cNvSpPr/>
          <p:nvPr/>
        </p:nvSpPr>
        <p:spPr>
          <a:xfrm>
            <a:off x="9418320" y="3218688"/>
            <a:ext cx="228600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82328" y="3273552"/>
            <a:ext cx="2157984" cy="521970"/>
          </a:xfrm>
          <a:prstGeom prst="rect">
            <a:avLst/>
          </a:prstGeom>
          <a:noFill/>
        </p:spPr>
        <p:txBody>
          <a:bodyPr wrap="square">
            <a:spAutoFit/>
          </a:bodyPr>
          <a:lstStyle/>
          <a:p>
            <a:pPr algn="l"/>
            <a:r>
              <a:rPr sz="1400" b="0" i="0">
                <a:solidFill>
                  <a:srgbClr val="059669"/>
                </a:solidFill>
                <a:latin typeface="Calibri" panose="020F0502020204030204"/>
              </a:rPr>
              <a:t>✔ Guardian dashboard + 94.1% High-Risk F1</a:t>
            </a:r>
            <a:endParaRPr sz="1400" b="0" i="0">
              <a:solidFill>
                <a:srgbClr val="059669"/>
              </a:solidFill>
              <a:latin typeface="Calibri" panose="020F0502020204030204"/>
            </a:endParaRPr>
          </a:p>
        </p:txBody>
      </p:sp>
      <p:sp>
        <p:nvSpPr>
          <p:cNvPr id="46" name="Rectangle 45"/>
          <p:cNvSpPr/>
          <p:nvPr/>
        </p:nvSpPr>
        <p:spPr>
          <a:xfrm>
            <a:off x="457200" y="4087368"/>
            <a:ext cx="182880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1208" y="4142232"/>
            <a:ext cx="1700784" cy="521970"/>
          </a:xfrm>
          <a:prstGeom prst="rect">
            <a:avLst/>
          </a:prstGeom>
          <a:noFill/>
        </p:spPr>
        <p:txBody>
          <a:bodyPr wrap="square">
            <a:spAutoFit/>
          </a:bodyPr>
          <a:lstStyle/>
          <a:p>
            <a:pPr algn="l"/>
            <a:r>
              <a:rPr sz="1400" b="0" i="0">
                <a:solidFill>
                  <a:schemeClr val="tx1"/>
                </a:solidFill>
                <a:latin typeface="Calibri" panose="020F0502020204030204"/>
              </a:rPr>
              <a:t>Fitzpatrick et al. (2022</a:t>
            </a:r>
            <a:r>
              <a:rPr lang="en-US" sz="1400" b="0" i="0">
                <a:solidFill>
                  <a:schemeClr val="tx1"/>
                </a:solidFill>
                <a:latin typeface="Calibri" panose="020F0502020204030204"/>
              </a:rPr>
              <a:t>)</a:t>
            </a:r>
            <a:endParaRPr lang="en-US" sz="1400" b="0" i="0">
              <a:solidFill>
                <a:schemeClr val="tx1"/>
              </a:solidFill>
              <a:latin typeface="Calibri" panose="020F0502020204030204"/>
            </a:endParaRPr>
          </a:p>
        </p:txBody>
      </p:sp>
      <p:sp>
        <p:nvSpPr>
          <p:cNvPr id="48" name="Rectangle 47"/>
          <p:cNvSpPr/>
          <p:nvPr/>
        </p:nvSpPr>
        <p:spPr>
          <a:xfrm>
            <a:off x="2286000" y="4087368"/>
            <a:ext cx="237744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50008" y="4142232"/>
            <a:ext cx="2249424" cy="521970"/>
          </a:xfrm>
          <a:prstGeom prst="rect">
            <a:avLst/>
          </a:prstGeom>
          <a:noFill/>
        </p:spPr>
        <p:txBody>
          <a:bodyPr wrap="square">
            <a:spAutoFit/>
          </a:bodyPr>
          <a:lstStyle/>
          <a:p>
            <a:pPr algn="l"/>
            <a:r>
              <a:rPr sz="1400" b="0" i="0">
                <a:solidFill>
                  <a:schemeClr val="tx1"/>
                </a:solidFill>
                <a:latin typeface="Calibri" panose="020F0502020204030204"/>
              </a:rPr>
              <a:t>Automated CBT chatbot for depression</a:t>
            </a:r>
            <a:endParaRPr sz="1400" b="0" i="0">
              <a:solidFill>
                <a:schemeClr val="tx1"/>
              </a:solidFill>
              <a:latin typeface="Calibri" panose="020F0502020204030204"/>
            </a:endParaRPr>
          </a:p>
        </p:txBody>
      </p:sp>
      <p:sp>
        <p:nvSpPr>
          <p:cNvPr id="50" name="Rectangle 49"/>
          <p:cNvSpPr/>
          <p:nvPr/>
        </p:nvSpPr>
        <p:spPr>
          <a:xfrm>
            <a:off x="4663440" y="4087368"/>
            <a:ext cx="237744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27448" y="4142232"/>
            <a:ext cx="2249424" cy="521970"/>
          </a:xfrm>
          <a:prstGeom prst="rect">
            <a:avLst/>
          </a:prstGeom>
          <a:noFill/>
        </p:spPr>
        <p:txBody>
          <a:bodyPr wrap="square">
            <a:spAutoFit/>
          </a:bodyPr>
          <a:lstStyle/>
          <a:p>
            <a:pPr algn="l"/>
            <a:r>
              <a:rPr sz="1400" b="0" i="0">
                <a:solidFill>
                  <a:schemeClr val="tx1"/>
                </a:solidFill>
                <a:latin typeface="Calibri" panose="020F0502020204030204"/>
              </a:rPr>
              <a:t>Rule-based NLP; brief daily conversations</a:t>
            </a:r>
            <a:endParaRPr sz="1400" b="0" i="0">
              <a:solidFill>
                <a:schemeClr val="tx1"/>
              </a:solidFill>
              <a:latin typeface="Calibri" panose="020F0502020204030204"/>
            </a:endParaRPr>
          </a:p>
        </p:txBody>
      </p:sp>
      <p:sp>
        <p:nvSpPr>
          <p:cNvPr id="52" name="Rectangle 51"/>
          <p:cNvSpPr/>
          <p:nvPr/>
        </p:nvSpPr>
        <p:spPr>
          <a:xfrm>
            <a:off x="7040880" y="4087368"/>
            <a:ext cx="237744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04888" y="4142232"/>
            <a:ext cx="2249424" cy="737235"/>
          </a:xfrm>
          <a:prstGeom prst="rect">
            <a:avLst/>
          </a:prstGeom>
          <a:noFill/>
        </p:spPr>
        <p:txBody>
          <a:bodyPr wrap="square">
            <a:spAutoFit/>
          </a:bodyPr>
          <a:lstStyle/>
          <a:p>
            <a:pPr algn="l"/>
            <a:r>
              <a:rPr sz="1400" b="0" i="0">
                <a:solidFill>
                  <a:schemeClr val="tx1"/>
                </a:solidFill>
                <a:latin typeface="Calibri" panose="020F0502020204030204"/>
              </a:rPr>
              <a:t>Requires active engagement; no passive mode</a:t>
            </a:r>
            <a:endParaRPr sz="1400" b="0" i="0">
              <a:solidFill>
                <a:schemeClr val="tx1"/>
              </a:solidFill>
              <a:latin typeface="Calibri" panose="020F0502020204030204"/>
            </a:endParaRPr>
          </a:p>
        </p:txBody>
      </p:sp>
      <p:sp>
        <p:nvSpPr>
          <p:cNvPr id="54" name="Rectangle 53"/>
          <p:cNvSpPr/>
          <p:nvPr/>
        </p:nvSpPr>
        <p:spPr>
          <a:xfrm>
            <a:off x="9418320" y="4087368"/>
            <a:ext cx="228600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82328" y="4142232"/>
            <a:ext cx="2157984" cy="521970"/>
          </a:xfrm>
          <a:prstGeom prst="rect">
            <a:avLst/>
          </a:prstGeom>
          <a:noFill/>
        </p:spPr>
        <p:txBody>
          <a:bodyPr wrap="square">
            <a:spAutoFit/>
          </a:bodyPr>
          <a:lstStyle/>
          <a:p>
            <a:pPr algn="l"/>
            <a:r>
              <a:rPr sz="1400" b="0" i="0">
                <a:solidFill>
                  <a:srgbClr val="059669"/>
                </a:solidFill>
                <a:latin typeface="Calibri" panose="020F0502020204030204"/>
              </a:rPr>
              <a:t>✔ Zero user effort required</a:t>
            </a:r>
            <a:endParaRPr sz="1400" b="0" i="0">
              <a:solidFill>
                <a:srgbClr val="059669"/>
              </a:solidFill>
              <a:latin typeface="Calibri" panose="020F0502020204030204"/>
            </a:endParaRPr>
          </a:p>
        </p:txBody>
      </p:sp>
      <p:sp>
        <p:nvSpPr>
          <p:cNvPr id="56" name="Rectangle 55"/>
          <p:cNvSpPr/>
          <p:nvPr/>
        </p:nvSpPr>
        <p:spPr>
          <a:xfrm>
            <a:off x="457200" y="4956048"/>
            <a:ext cx="182880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21208" y="5010912"/>
            <a:ext cx="1700784" cy="306705"/>
          </a:xfrm>
          <a:prstGeom prst="rect">
            <a:avLst/>
          </a:prstGeom>
          <a:noFill/>
        </p:spPr>
        <p:txBody>
          <a:bodyPr wrap="square">
            <a:spAutoFit/>
          </a:bodyPr>
          <a:lstStyle/>
          <a:p>
            <a:pPr algn="l"/>
            <a:r>
              <a:rPr sz="1400" b="0" i="0">
                <a:solidFill>
                  <a:schemeClr val="tx1"/>
                </a:solidFill>
                <a:latin typeface="Calibri" panose="020F0502020204030204"/>
              </a:rPr>
              <a:t>Hollis et al. (2021)</a:t>
            </a:r>
            <a:endParaRPr sz="1400" b="0" i="0">
              <a:solidFill>
                <a:schemeClr val="tx1"/>
              </a:solidFill>
              <a:latin typeface="Calibri" panose="020F0502020204030204"/>
            </a:endParaRPr>
          </a:p>
        </p:txBody>
      </p:sp>
      <p:sp>
        <p:nvSpPr>
          <p:cNvPr id="58" name="Rectangle 57"/>
          <p:cNvSpPr/>
          <p:nvPr/>
        </p:nvSpPr>
        <p:spPr>
          <a:xfrm>
            <a:off x="2286000" y="495604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50008" y="5010912"/>
            <a:ext cx="2249424" cy="521970"/>
          </a:xfrm>
          <a:prstGeom prst="rect">
            <a:avLst/>
          </a:prstGeom>
          <a:noFill/>
        </p:spPr>
        <p:txBody>
          <a:bodyPr wrap="square">
            <a:spAutoFit/>
          </a:bodyPr>
          <a:lstStyle/>
          <a:p>
            <a:pPr algn="l"/>
            <a:r>
              <a:rPr sz="1400" b="0" i="0">
                <a:solidFill>
                  <a:schemeClr val="tx1"/>
                </a:solidFill>
                <a:latin typeface="Calibri" panose="020F0502020204030204"/>
              </a:rPr>
              <a:t>Digital mental health for young people: review</a:t>
            </a:r>
            <a:endParaRPr sz="1400" b="0" i="0">
              <a:solidFill>
                <a:schemeClr val="tx1"/>
              </a:solidFill>
              <a:latin typeface="Calibri" panose="020F0502020204030204"/>
            </a:endParaRPr>
          </a:p>
        </p:txBody>
      </p:sp>
      <p:sp>
        <p:nvSpPr>
          <p:cNvPr id="60" name="Rectangle 59"/>
          <p:cNvSpPr/>
          <p:nvPr/>
        </p:nvSpPr>
        <p:spPr>
          <a:xfrm>
            <a:off x="4663440" y="495604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27448" y="5010912"/>
            <a:ext cx="2249424" cy="521970"/>
          </a:xfrm>
          <a:prstGeom prst="rect">
            <a:avLst/>
          </a:prstGeom>
          <a:noFill/>
        </p:spPr>
        <p:txBody>
          <a:bodyPr wrap="square">
            <a:spAutoFit/>
          </a:bodyPr>
          <a:lstStyle/>
          <a:p>
            <a:pPr algn="l"/>
            <a:r>
              <a:rPr sz="1400" b="0" i="0">
                <a:solidFill>
                  <a:schemeClr val="tx1"/>
                </a:solidFill>
                <a:latin typeface="Calibri" panose="020F0502020204030204"/>
              </a:rPr>
              <a:t>Systematic review; evidence synthesis</a:t>
            </a:r>
            <a:endParaRPr sz="1400" b="0" i="0">
              <a:solidFill>
                <a:schemeClr val="tx1"/>
              </a:solidFill>
              <a:latin typeface="Calibri" panose="020F0502020204030204"/>
            </a:endParaRPr>
          </a:p>
        </p:txBody>
      </p:sp>
      <p:sp>
        <p:nvSpPr>
          <p:cNvPr id="62" name="Rectangle 61"/>
          <p:cNvSpPr/>
          <p:nvPr/>
        </p:nvSpPr>
        <p:spPr>
          <a:xfrm>
            <a:off x="7040880" y="495604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104888" y="5010912"/>
            <a:ext cx="2249424" cy="521970"/>
          </a:xfrm>
          <a:prstGeom prst="rect">
            <a:avLst/>
          </a:prstGeom>
          <a:noFill/>
        </p:spPr>
        <p:txBody>
          <a:bodyPr wrap="square">
            <a:spAutoFit/>
          </a:bodyPr>
          <a:lstStyle/>
          <a:p>
            <a:pPr algn="l"/>
            <a:r>
              <a:rPr sz="1400" b="0" i="0">
                <a:solidFill>
                  <a:schemeClr val="tx1"/>
                </a:solidFill>
                <a:latin typeface="Calibri" panose="020F0502020204030204"/>
              </a:rPr>
              <a:t>Gap in passive real-time browser tools for teens</a:t>
            </a:r>
            <a:endParaRPr sz="1400" b="0" i="0">
              <a:solidFill>
                <a:schemeClr val="tx1"/>
              </a:solidFill>
              <a:latin typeface="Calibri" panose="020F0502020204030204"/>
            </a:endParaRPr>
          </a:p>
        </p:txBody>
      </p:sp>
      <p:sp>
        <p:nvSpPr>
          <p:cNvPr id="64" name="Rectangle 63"/>
          <p:cNvSpPr/>
          <p:nvPr/>
        </p:nvSpPr>
        <p:spPr>
          <a:xfrm>
            <a:off x="9418320" y="4956048"/>
            <a:ext cx="228600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482328" y="5010912"/>
            <a:ext cx="2157984" cy="521970"/>
          </a:xfrm>
          <a:prstGeom prst="rect">
            <a:avLst/>
          </a:prstGeom>
          <a:noFill/>
        </p:spPr>
        <p:txBody>
          <a:bodyPr wrap="square">
            <a:spAutoFit/>
          </a:bodyPr>
          <a:lstStyle/>
          <a:p>
            <a:pPr algn="l"/>
            <a:r>
              <a:rPr sz="1400" b="0" i="0">
                <a:solidFill>
                  <a:srgbClr val="059669"/>
                </a:solidFill>
                <a:latin typeface="Calibri" panose="020F0502020204030204"/>
              </a:rPr>
              <a:t>✔ Browser extension solution</a:t>
            </a:r>
            <a:endParaRPr sz="1400" b="0" i="0">
              <a:solidFill>
                <a:srgbClr val="059669"/>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457200" y="411480"/>
            <a:ext cx="3049270" cy="255905"/>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STATEMENT OF </a:t>
            </a:r>
            <a:r>
              <a:rPr lang="en-US" sz="2000" b="1">
                <a:solidFill>
                  <a:srgbClr val="FFFFFF"/>
                </a:solidFill>
                <a:latin typeface="Calibri" panose="020F0502020204030204"/>
              </a:rPr>
              <a:t>THE </a:t>
            </a:r>
            <a:r>
              <a:rPr sz="2000" b="1">
                <a:solidFill>
                  <a:srgbClr val="FFFFFF"/>
                </a:solidFill>
                <a:latin typeface="Calibri" panose="020F0502020204030204"/>
              </a:rPr>
              <a:t>PROBLEM</a:t>
            </a:r>
            <a:endParaRPr sz="2000" b="1">
              <a:solidFill>
                <a:srgbClr val="FFFFFF"/>
              </a:solidFill>
              <a:latin typeface="Calibri" panose="020F0502020204030204"/>
            </a:endParaRP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05</a:t>
            </a:r>
            <a:endParaRPr sz="1000" b="1" i="0">
              <a:solidFill>
                <a:srgbClr val="4F46E5"/>
              </a:solidFill>
              <a:latin typeface="Calibri" panose="020F0502020204030204"/>
            </a:endParaRPr>
          </a:p>
        </p:txBody>
      </p:sp>
      <p:sp>
        <p:nvSpPr>
          <p:cNvPr id="6" name="Rectangle 5"/>
          <p:cNvSpPr/>
          <p:nvPr/>
        </p:nvSpPr>
        <p:spPr>
          <a:xfrm>
            <a:off x="457200" y="1188720"/>
            <a:ext cx="11247120" cy="117043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188720"/>
            <a:ext cx="50800" cy="1170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536192"/>
            <a:ext cx="320040" cy="320040"/>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36192"/>
            <a:ext cx="320040" cy="337185"/>
          </a:xfrm>
          <a:prstGeom prst="rect">
            <a:avLst/>
          </a:prstGeom>
          <a:noFill/>
        </p:spPr>
        <p:txBody>
          <a:bodyPr wrap="square">
            <a:spAutoFit/>
          </a:bodyPr>
          <a:lstStyle/>
          <a:p>
            <a:pPr algn="ctr"/>
            <a:r>
              <a:rPr sz="1600" b="1" i="0">
                <a:solidFill>
                  <a:srgbClr val="4F46E5"/>
                </a:solidFill>
                <a:latin typeface="Calibri" panose="020F0502020204030204"/>
              </a:rPr>
              <a:t>1</a:t>
            </a:r>
            <a:endParaRPr sz="1600" b="1" i="0">
              <a:solidFill>
                <a:srgbClr val="4F46E5"/>
              </a:solidFill>
              <a:latin typeface="Calibri" panose="020F0502020204030204"/>
            </a:endParaRPr>
          </a:p>
        </p:txBody>
      </p:sp>
      <p:sp>
        <p:nvSpPr>
          <p:cNvPr id="10" name="TextBox 9"/>
          <p:cNvSpPr txBox="1"/>
          <p:nvPr/>
        </p:nvSpPr>
        <p:spPr>
          <a:xfrm>
            <a:off x="1051560" y="1280160"/>
            <a:ext cx="10424160" cy="337185"/>
          </a:xfrm>
          <a:prstGeom prst="rect">
            <a:avLst/>
          </a:prstGeom>
          <a:noFill/>
        </p:spPr>
        <p:txBody>
          <a:bodyPr wrap="square">
            <a:spAutoFit/>
          </a:bodyPr>
          <a:lstStyle/>
          <a:p>
            <a:pPr algn="l"/>
            <a:r>
              <a:rPr sz="1600" b="1" i="0">
                <a:solidFill>
                  <a:srgbClr val="0F172A"/>
                </a:solidFill>
                <a:latin typeface="Calibri" panose="020F0502020204030204"/>
              </a:rPr>
              <a:t>Active-Engagement Dependency</a:t>
            </a:r>
            <a:endParaRPr sz="1600" b="1" i="0">
              <a:solidFill>
                <a:srgbClr val="0F172A"/>
              </a:solidFill>
              <a:latin typeface="Calibri" panose="020F0502020204030204"/>
            </a:endParaRPr>
          </a:p>
        </p:txBody>
      </p:sp>
      <p:sp>
        <p:nvSpPr>
          <p:cNvPr id="11" name="TextBox 10"/>
          <p:cNvSpPr txBox="1"/>
          <p:nvPr/>
        </p:nvSpPr>
        <p:spPr>
          <a:xfrm>
            <a:off x="1051560" y="1572768"/>
            <a:ext cx="10058400" cy="521970"/>
          </a:xfrm>
          <a:prstGeom prst="rect">
            <a:avLst/>
          </a:prstGeom>
          <a:noFill/>
        </p:spPr>
        <p:txBody>
          <a:bodyPr wrap="square">
            <a:spAutoFit/>
          </a:bodyPr>
          <a:lstStyle/>
          <a:p>
            <a:pPr algn="l"/>
            <a:r>
              <a:rPr sz="1400" b="0" i="0">
                <a:solidFill>
                  <a:schemeClr val="tx1"/>
                </a:solidFill>
                <a:latin typeface="Calibri" panose="020F0502020204030204"/>
              </a:rPr>
              <a:t>Existing digital mental health tools work only if the user chooses to engage. Adolescents experiencing depressive episodes are the least likely to do so — the very moment help is needed most.</a:t>
            </a:r>
            <a:endParaRPr sz="1400" b="0" i="0">
              <a:solidFill>
                <a:schemeClr val="tx1"/>
              </a:solidFill>
              <a:latin typeface="Calibri" panose="020F0502020204030204"/>
            </a:endParaRPr>
          </a:p>
        </p:txBody>
      </p:sp>
      <p:sp>
        <p:nvSpPr>
          <p:cNvPr id="12" name="TextBox 11"/>
          <p:cNvSpPr txBox="1"/>
          <p:nvPr/>
        </p:nvSpPr>
        <p:spPr>
          <a:xfrm>
            <a:off x="1051560" y="2057400"/>
            <a:ext cx="10058400" cy="306705"/>
          </a:xfrm>
          <a:prstGeom prst="rect">
            <a:avLst/>
          </a:prstGeom>
          <a:noFill/>
        </p:spPr>
        <p:txBody>
          <a:bodyPr wrap="square">
            <a:spAutoFit/>
          </a:bodyPr>
          <a:lstStyle/>
          <a:p>
            <a:pPr algn="l"/>
            <a:r>
              <a:rPr sz="1400" b="0" i="1">
                <a:solidFill>
                  <a:srgbClr val="4F46E5"/>
                </a:solidFill>
                <a:latin typeface="Calibri" panose="020F0502020204030204"/>
              </a:rPr>
              <a:t>(Q. Guo et al., 2024; Hollis et al., 2021)</a:t>
            </a:r>
            <a:endParaRPr sz="1400" b="0" i="1">
              <a:solidFill>
                <a:srgbClr val="4F46E5"/>
              </a:solidFill>
              <a:latin typeface="Calibri" panose="020F0502020204030204"/>
            </a:endParaRPr>
          </a:p>
        </p:txBody>
      </p:sp>
      <p:sp>
        <p:nvSpPr>
          <p:cNvPr id="13" name="Rectangle 12"/>
          <p:cNvSpPr/>
          <p:nvPr/>
        </p:nvSpPr>
        <p:spPr>
          <a:xfrm>
            <a:off x="457200" y="2414016"/>
            <a:ext cx="11247120" cy="117043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414016"/>
            <a:ext cx="50800" cy="1170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2761488"/>
            <a:ext cx="320040" cy="320040"/>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761488"/>
            <a:ext cx="320040" cy="337185"/>
          </a:xfrm>
          <a:prstGeom prst="rect">
            <a:avLst/>
          </a:prstGeom>
          <a:noFill/>
        </p:spPr>
        <p:txBody>
          <a:bodyPr wrap="square">
            <a:spAutoFit/>
          </a:bodyPr>
          <a:lstStyle/>
          <a:p>
            <a:pPr algn="ctr"/>
            <a:r>
              <a:rPr sz="1600" b="1" i="0">
                <a:solidFill>
                  <a:srgbClr val="4F46E5"/>
                </a:solidFill>
                <a:latin typeface="Calibri" panose="020F0502020204030204"/>
              </a:rPr>
              <a:t>2</a:t>
            </a:r>
            <a:endParaRPr sz="1600" b="1" i="0">
              <a:solidFill>
                <a:srgbClr val="4F46E5"/>
              </a:solidFill>
              <a:latin typeface="Calibri" panose="020F0502020204030204"/>
            </a:endParaRPr>
          </a:p>
        </p:txBody>
      </p:sp>
      <p:sp>
        <p:nvSpPr>
          <p:cNvPr id="17" name="TextBox 16"/>
          <p:cNvSpPr txBox="1"/>
          <p:nvPr/>
        </p:nvSpPr>
        <p:spPr>
          <a:xfrm>
            <a:off x="1051560" y="2505456"/>
            <a:ext cx="10424160" cy="337185"/>
          </a:xfrm>
          <a:prstGeom prst="rect">
            <a:avLst/>
          </a:prstGeom>
          <a:noFill/>
        </p:spPr>
        <p:txBody>
          <a:bodyPr wrap="square">
            <a:spAutoFit/>
          </a:bodyPr>
          <a:lstStyle/>
          <a:p>
            <a:pPr algn="l"/>
            <a:r>
              <a:rPr sz="1600" b="1" i="0">
                <a:solidFill>
                  <a:srgbClr val="0F172A"/>
                </a:solidFill>
                <a:latin typeface="Calibri" panose="020F0502020204030204"/>
              </a:rPr>
              <a:t>Passive Expression Goes Undetected</a:t>
            </a:r>
            <a:endParaRPr sz="1600" b="1" i="0">
              <a:solidFill>
                <a:srgbClr val="0F172A"/>
              </a:solidFill>
              <a:latin typeface="Calibri" panose="020F0502020204030204"/>
            </a:endParaRPr>
          </a:p>
        </p:txBody>
      </p:sp>
      <p:sp>
        <p:nvSpPr>
          <p:cNvPr id="18" name="TextBox 17"/>
          <p:cNvSpPr txBox="1"/>
          <p:nvPr/>
        </p:nvSpPr>
        <p:spPr>
          <a:xfrm>
            <a:off x="1051560" y="2798064"/>
            <a:ext cx="10058400" cy="521970"/>
          </a:xfrm>
          <a:prstGeom prst="rect">
            <a:avLst/>
          </a:prstGeom>
          <a:noFill/>
        </p:spPr>
        <p:txBody>
          <a:bodyPr wrap="square">
            <a:spAutoFit/>
          </a:bodyPr>
          <a:lstStyle/>
          <a:p>
            <a:pPr algn="l"/>
            <a:r>
              <a:rPr sz="1400" b="0" i="0">
                <a:solidFill>
                  <a:schemeClr val="tx1"/>
                </a:solidFill>
                <a:latin typeface="Calibri" panose="020F0502020204030204"/>
              </a:rPr>
              <a:t>Adolescents express distress passively through everyday online writing. No browser-based tool exists to passively capture and analyse this real-time signal without user effort.</a:t>
            </a:r>
            <a:endParaRPr sz="1400" b="0" i="0">
              <a:solidFill>
                <a:schemeClr val="tx1"/>
              </a:solidFill>
              <a:latin typeface="Calibri" panose="020F0502020204030204"/>
            </a:endParaRPr>
          </a:p>
        </p:txBody>
      </p:sp>
      <p:sp>
        <p:nvSpPr>
          <p:cNvPr id="19" name="TextBox 18"/>
          <p:cNvSpPr txBox="1"/>
          <p:nvPr/>
        </p:nvSpPr>
        <p:spPr>
          <a:xfrm>
            <a:off x="1051560" y="3282696"/>
            <a:ext cx="10058400" cy="306705"/>
          </a:xfrm>
          <a:prstGeom prst="rect">
            <a:avLst/>
          </a:prstGeom>
          <a:noFill/>
        </p:spPr>
        <p:txBody>
          <a:bodyPr wrap="square">
            <a:spAutoFit/>
          </a:bodyPr>
          <a:lstStyle/>
          <a:p>
            <a:pPr algn="l"/>
            <a:r>
              <a:rPr sz="1400" b="0" i="1">
                <a:solidFill>
                  <a:srgbClr val="4F46E5"/>
                </a:solidFill>
                <a:latin typeface="Calibri" panose="020F0502020204030204"/>
              </a:rPr>
              <a:t>(O'Reilly et al., 2023; Torous et al., 2021)</a:t>
            </a:r>
            <a:endParaRPr sz="1400" b="0" i="1">
              <a:solidFill>
                <a:srgbClr val="4F46E5"/>
              </a:solidFill>
              <a:latin typeface="Calibri" panose="020F0502020204030204"/>
            </a:endParaRPr>
          </a:p>
        </p:txBody>
      </p:sp>
      <p:sp>
        <p:nvSpPr>
          <p:cNvPr id="20" name="Rectangle 19"/>
          <p:cNvSpPr/>
          <p:nvPr/>
        </p:nvSpPr>
        <p:spPr>
          <a:xfrm>
            <a:off x="457200" y="3639312"/>
            <a:ext cx="11247120" cy="117043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639312"/>
            <a:ext cx="50800" cy="1170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3986784"/>
            <a:ext cx="320040" cy="320040"/>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86784"/>
            <a:ext cx="320040" cy="337185"/>
          </a:xfrm>
          <a:prstGeom prst="rect">
            <a:avLst/>
          </a:prstGeom>
          <a:noFill/>
        </p:spPr>
        <p:txBody>
          <a:bodyPr wrap="square">
            <a:spAutoFit/>
          </a:bodyPr>
          <a:lstStyle/>
          <a:p>
            <a:pPr algn="ctr"/>
            <a:r>
              <a:rPr sz="1600" b="1" i="0">
                <a:solidFill>
                  <a:srgbClr val="4F46E5"/>
                </a:solidFill>
                <a:latin typeface="Calibri" panose="020F0502020204030204"/>
              </a:rPr>
              <a:t>3</a:t>
            </a:r>
            <a:endParaRPr sz="1600" b="1" i="0">
              <a:solidFill>
                <a:srgbClr val="4F46E5"/>
              </a:solidFill>
              <a:latin typeface="Calibri" panose="020F0502020204030204"/>
            </a:endParaRPr>
          </a:p>
        </p:txBody>
      </p:sp>
      <p:sp>
        <p:nvSpPr>
          <p:cNvPr id="24" name="TextBox 23"/>
          <p:cNvSpPr txBox="1"/>
          <p:nvPr/>
        </p:nvSpPr>
        <p:spPr>
          <a:xfrm>
            <a:off x="1051560" y="3730752"/>
            <a:ext cx="10424160" cy="337185"/>
          </a:xfrm>
          <a:prstGeom prst="rect">
            <a:avLst/>
          </a:prstGeom>
          <a:noFill/>
        </p:spPr>
        <p:txBody>
          <a:bodyPr wrap="square">
            <a:spAutoFit/>
          </a:bodyPr>
          <a:lstStyle/>
          <a:p>
            <a:pPr algn="l"/>
            <a:r>
              <a:rPr sz="1600" b="1" i="0">
                <a:solidFill>
                  <a:srgbClr val="0F172A"/>
                </a:solidFill>
                <a:latin typeface="Calibri" panose="020F0502020204030204"/>
              </a:rPr>
              <a:t>No Guardian Escalation Framework</a:t>
            </a:r>
            <a:endParaRPr sz="1600" b="1" i="0">
              <a:solidFill>
                <a:srgbClr val="0F172A"/>
              </a:solidFill>
              <a:latin typeface="Calibri" panose="020F0502020204030204"/>
            </a:endParaRPr>
          </a:p>
        </p:txBody>
      </p:sp>
      <p:sp>
        <p:nvSpPr>
          <p:cNvPr id="25" name="TextBox 24"/>
          <p:cNvSpPr txBox="1"/>
          <p:nvPr/>
        </p:nvSpPr>
        <p:spPr>
          <a:xfrm>
            <a:off x="1051560" y="4023360"/>
            <a:ext cx="10058400" cy="521970"/>
          </a:xfrm>
          <a:prstGeom prst="rect">
            <a:avLst/>
          </a:prstGeom>
          <a:noFill/>
        </p:spPr>
        <p:txBody>
          <a:bodyPr wrap="square">
            <a:spAutoFit/>
          </a:bodyPr>
          <a:lstStyle/>
          <a:p>
            <a:pPr algn="l"/>
            <a:r>
              <a:rPr sz="1400" b="0" i="0">
                <a:solidFill>
                  <a:schemeClr val="tx1"/>
                </a:solidFill>
                <a:latin typeface="Calibri" panose="020F0502020204030204"/>
              </a:rPr>
              <a:t>State-of-the-art detection models lack an integrated guardian notification system. Detection alone does not bridge the gap between identifying risk and real-world intervention</a:t>
            </a:r>
            <a:r>
              <a:rPr sz="1050" b="0" i="0">
                <a:solidFill>
                  <a:schemeClr val="tx1"/>
                </a:solidFill>
                <a:latin typeface="Calibri" panose="020F0502020204030204"/>
              </a:rPr>
              <a:t>.</a:t>
            </a:r>
            <a:endParaRPr sz="1050" b="0" i="0">
              <a:solidFill>
                <a:schemeClr val="tx1"/>
              </a:solidFill>
              <a:latin typeface="Calibri" panose="020F0502020204030204"/>
            </a:endParaRPr>
          </a:p>
        </p:txBody>
      </p:sp>
      <p:sp>
        <p:nvSpPr>
          <p:cNvPr id="26" name="TextBox 25"/>
          <p:cNvSpPr txBox="1"/>
          <p:nvPr/>
        </p:nvSpPr>
        <p:spPr>
          <a:xfrm>
            <a:off x="1051560" y="4507992"/>
            <a:ext cx="10058400" cy="306705"/>
          </a:xfrm>
          <a:prstGeom prst="rect">
            <a:avLst/>
          </a:prstGeom>
          <a:noFill/>
        </p:spPr>
        <p:txBody>
          <a:bodyPr wrap="square">
            <a:spAutoFit/>
          </a:bodyPr>
          <a:lstStyle/>
          <a:p>
            <a:pPr algn="l"/>
            <a:r>
              <a:rPr sz="1400" b="0" i="1">
                <a:solidFill>
                  <a:srgbClr val="4F46E5"/>
                </a:solidFill>
                <a:latin typeface="Calibri" panose="020F0502020204030204"/>
              </a:rPr>
              <a:t>(Zhang et al., 2023)</a:t>
            </a:r>
            <a:endParaRPr sz="1400" b="0" i="1">
              <a:solidFill>
                <a:srgbClr val="4F46E5"/>
              </a:solidFill>
              <a:latin typeface="Calibri" panose="020F0502020204030204"/>
            </a:endParaRPr>
          </a:p>
        </p:txBody>
      </p:sp>
      <p:sp>
        <p:nvSpPr>
          <p:cNvPr id="27" name="Rectangle 26"/>
          <p:cNvSpPr/>
          <p:nvPr/>
        </p:nvSpPr>
        <p:spPr>
          <a:xfrm>
            <a:off x="457200" y="4864608"/>
            <a:ext cx="11247120" cy="117043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4864608"/>
            <a:ext cx="50800" cy="1170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 y="5212080"/>
            <a:ext cx="320040" cy="320040"/>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5212080"/>
            <a:ext cx="320040" cy="337185"/>
          </a:xfrm>
          <a:prstGeom prst="rect">
            <a:avLst/>
          </a:prstGeom>
          <a:noFill/>
        </p:spPr>
        <p:txBody>
          <a:bodyPr wrap="square">
            <a:spAutoFit/>
          </a:bodyPr>
          <a:lstStyle/>
          <a:p>
            <a:pPr algn="ctr"/>
            <a:r>
              <a:rPr sz="1600" b="1" i="0">
                <a:solidFill>
                  <a:srgbClr val="4F46E5"/>
                </a:solidFill>
                <a:latin typeface="Calibri" panose="020F0502020204030204"/>
              </a:rPr>
              <a:t>4</a:t>
            </a:r>
            <a:endParaRPr sz="1600" b="1" i="0">
              <a:solidFill>
                <a:srgbClr val="4F46E5"/>
              </a:solidFill>
              <a:latin typeface="Calibri" panose="020F0502020204030204"/>
            </a:endParaRPr>
          </a:p>
        </p:txBody>
      </p:sp>
      <p:sp>
        <p:nvSpPr>
          <p:cNvPr id="31" name="TextBox 30"/>
          <p:cNvSpPr txBox="1"/>
          <p:nvPr/>
        </p:nvSpPr>
        <p:spPr>
          <a:xfrm>
            <a:off x="1051560" y="4956048"/>
            <a:ext cx="10424160" cy="337185"/>
          </a:xfrm>
          <a:prstGeom prst="rect">
            <a:avLst/>
          </a:prstGeom>
          <a:noFill/>
        </p:spPr>
        <p:txBody>
          <a:bodyPr wrap="square">
            <a:spAutoFit/>
          </a:bodyPr>
          <a:lstStyle/>
          <a:p>
            <a:pPr algn="l"/>
            <a:r>
              <a:rPr sz="1600" b="1" i="0">
                <a:solidFill>
                  <a:srgbClr val="0F172A"/>
                </a:solidFill>
                <a:latin typeface="Calibri" panose="020F0502020204030204"/>
              </a:rPr>
              <a:t>Not Designed for Adolescents</a:t>
            </a:r>
            <a:endParaRPr sz="1600" b="1" i="0">
              <a:solidFill>
                <a:srgbClr val="0F172A"/>
              </a:solidFill>
              <a:latin typeface="Calibri" panose="020F0502020204030204"/>
            </a:endParaRPr>
          </a:p>
        </p:txBody>
      </p:sp>
      <p:sp>
        <p:nvSpPr>
          <p:cNvPr id="32" name="TextBox 31"/>
          <p:cNvSpPr txBox="1"/>
          <p:nvPr/>
        </p:nvSpPr>
        <p:spPr>
          <a:xfrm>
            <a:off x="1051560" y="5248656"/>
            <a:ext cx="10058400" cy="521970"/>
          </a:xfrm>
          <a:prstGeom prst="rect">
            <a:avLst/>
          </a:prstGeom>
          <a:noFill/>
        </p:spPr>
        <p:txBody>
          <a:bodyPr wrap="square">
            <a:spAutoFit/>
          </a:bodyPr>
          <a:lstStyle/>
          <a:p>
            <a:pPr algn="l"/>
            <a:r>
              <a:rPr sz="1400" b="0" i="0">
                <a:solidFill>
                  <a:schemeClr val="tx1"/>
                </a:solidFill>
                <a:latin typeface="Calibri" panose="020F0502020204030204"/>
              </a:rPr>
              <a:t>Current tools ignore the informal, colloquial, and coded language unique to teenage online communication, reducing detection reliability for the most vulnerable demographic</a:t>
            </a:r>
            <a:r>
              <a:rPr lang="en-US" sz="1400" b="0" i="0">
                <a:solidFill>
                  <a:schemeClr val="tx1"/>
                </a:solidFill>
                <a:latin typeface="Calibri" panose="020F0502020204030204"/>
              </a:rPr>
              <a:t>.</a:t>
            </a:r>
            <a:endParaRPr lang="en-US" sz="1400" b="0" i="0">
              <a:solidFill>
                <a:schemeClr val="tx1"/>
              </a:solidFill>
              <a:latin typeface="Calibri" panose="020F0502020204030204"/>
            </a:endParaRPr>
          </a:p>
        </p:txBody>
      </p:sp>
      <p:sp>
        <p:nvSpPr>
          <p:cNvPr id="33" name="TextBox 32"/>
          <p:cNvSpPr txBox="1"/>
          <p:nvPr/>
        </p:nvSpPr>
        <p:spPr>
          <a:xfrm>
            <a:off x="1051560" y="5733288"/>
            <a:ext cx="10058400" cy="306705"/>
          </a:xfrm>
          <a:prstGeom prst="rect">
            <a:avLst/>
          </a:prstGeom>
          <a:noFill/>
        </p:spPr>
        <p:txBody>
          <a:bodyPr wrap="square">
            <a:spAutoFit/>
          </a:bodyPr>
          <a:lstStyle/>
          <a:p>
            <a:pPr algn="l"/>
            <a:r>
              <a:rPr lang="en-US" sz="1400" b="0" i="1">
                <a:solidFill>
                  <a:srgbClr val="4F46E5"/>
                </a:solidFill>
                <a:latin typeface="Calibri" panose="020F0502020204030204"/>
              </a:rPr>
              <a:t>(</a:t>
            </a:r>
            <a:r>
              <a:rPr sz="1400" b="0" i="1">
                <a:solidFill>
                  <a:srgbClr val="4F46E5"/>
                </a:solidFill>
                <a:latin typeface="Calibri" panose="020F0502020204030204"/>
              </a:rPr>
              <a:t>Thabrew et al., 2022)</a:t>
            </a:r>
            <a:endParaRPr sz="1400" b="0" i="1">
              <a:solidFill>
                <a:srgbClr val="4F46E5"/>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AIM</a:t>
            </a:r>
            <a:endParaRPr sz="2000" b="1">
              <a:solidFill>
                <a:srgbClr val="FFFFFF"/>
              </a:solidFill>
              <a:latin typeface="Calibri" panose="020F0502020204030204"/>
            </a:endParaRP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06</a:t>
            </a:r>
            <a:endParaRPr sz="1000" b="1" i="0">
              <a:solidFill>
                <a:srgbClr val="4F46E5"/>
              </a:solidFill>
              <a:latin typeface="Calibri" panose="020F0502020204030204"/>
            </a:endParaRPr>
          </a:p>
        </p:txBody>
      </p:sp>
      <p:sp>
        <p:nvSpPr>
          <p:cNvPr id="6" name="Rectangle 5"/>
          <p:cNvSpPr/>
          <p:nvPr/>
        </p:nvSpPr>
        <p:spPr>
          <a:xfrm>
            <a:off x="1371600" y="1371600"/>
            <a:ext cx="9418320" cy="2926080"/>
          </a:xfrm>
          <a:prstGeom prst="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1508760"/>
            <a:ext cx="1005840" cy="640080"/>
          </a:xfrm>
          <a:prstGeom prst="rect">
            <a:avLst/>
          </a:prstGeom>
          <a:noFill/>
        </p:spPr>
        <p:txBody>
          <a:bodyPr wrap="square">
            <a:spAutoFit/>
          </a:bodyPr>
          <a:lstStyle/>
          <a:p>
            <a:pPr algn="ctr"/>
            <a:r>
              <a:rPr sz="3200" b="0" i="0">
                <a:solidFill>
                  <a:srgbClr val="0F172A"/>
                </a:solidFill>
                <a:latin typeface="Calibri" panose="020F0502020204030204"/>
              </a:rPr>
              <a:t>🎯</a:t>
            </a:r>
            <a:endParaRPr sz="3200" b="0" i="0">
              <a:solidFill>
                <a:srgbClr val="0F172A"/>
              </a:solidFill>
              <a:latin typeface="Calibri" panose="020F0502020204030204"/>
            </a:endParaRPr>
          </a:p>
        </p:txBody>
      </p:sp>
      <p:sp>
        <p:nvSpPr>
          <p:cNvPr id="8" name="TextBox 7"/>
          <p:cNvSpPr txBox="1"/>
          <p:nvPr/>
        </p:nvSpPr>
        <p:spPr>
          <a:xfrm>
            <a:off x="1737360" y="2240280"/>
            <a:ext cx="8686800" cy="645160"/>
          </a:xfrm>
          <a:prstGeom prst="rect">
            <a:avLst/>
          </a:prstGeom>
          <a:noFill/>
        </p:spPr>
        <p:txBody>
          <a:bodyPr wrap="square">
            <a:spAutoFit/>
          </a:bodyPr>
          <a:lstStyle/>
          <a:p>
            <a:pPr algn="ctr"/>
            <a:r>
              <a:rPr b="0" i="0">
                <a:solidFill>
                  <a:schemeClr val="tx1"/>
                </a:solidFill>
                <a:latin typeface="Calibri" panose="020F0502020204030204"/>
              </a:rPr>
              <a:t>To develop a browser extension that passively monitors online text for depressive language patterns in adolescents, using a RAG-driven Large Language Model</a:t>
            </a:r>
            <a:r>
              <a:rPr lang="en-US" b="0" i="0">
                <a:solidFill>
                  <a:schemeClr val="tx1"/>
                </a:solidFill>
                <a:latin typeface="Calibri" panose="020F0502020204030204"/>
              </a:rPr>
              <a:t>.</a:t>
            </a:r>
            <a:endParaRPr lang="en-US" b="0" i="0">
              <a:solidFill>
                <a:schemeClr val="tx1"/>
              </a:solidFill>
              <a:latin typeface="Calibri" panose="020F0502020204030204"/>
            </a:endParaRPr>
          </a:p>
        </p:txBody>
      </p:sp>
      <p:sp>
        <p:nvSpPr>
          <p:cNvPr id="9" name="Rectangle 8"/>
          <p:cNvSpPr/>
          <p:nvPr/>
        </p:nvSpPr>
        <p:spPr>
          <a:xfrm>
            <a:off x="1522476" y="4498848"/>
            <a:ext cx="2377440"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2476" y="4526280"/>
            <a:ext cx="2377440" cy="275590"/>
          </a:xfrm>
          <a:prstGeom prst="rect">
            <a:avLst/>
          </a:prstGeom>
          <a:noFill/>
        </p:spPr>
        <p:txBody>
          <a:bodyPr wrap="square">
            <a:spAutoFit/>
          </a:bodyPr>
          <a:lstStyle/>
          <a:p>
            <a:pPr algn="ctr"/>
            <a:r>
              <a:rPr sz="1200" b="1" i="0">
                <a:solidFill>
                  <a:srgbClr val="4F46E5"/>
                </a:solidFill>
                <a:latin typeface="Calibri" panose="020F0502020204030204"/>
              </a:rPr>
              <a:t>🔍  Passive Monitoring</a:t>
            </a:r>
            <a:endParaRPr sz="1200" b="1" i="0">
              <a:solidFill>
                <a:srgbClr val="4F46E5"/>
              </a:solidFill>
              <a:latin typeface="Calibri" panose="020F0502020204030204"/>
            </a:endParaRPr>
          </a:p>
        </p:txBody>
      </p:sp>
      <p:sp>
        <p:nvSpPr>
          <p:cNvPr id="11" name="Rectangle 10"/>
          <p:cNvSpPr/>
          <p:nvPr/>
        </p:nvSpPr>
        <p:spPr>
          <a:xfrm>
            <a:off x="4082796" y="4498848"/>
            <a:ext cx="2377440"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82796" y="4526280"/>
            <a:ext cx="2377440" cy="275590"/>
          </a:xfrm>
          <a:prstGeom prst="rect">
            <a:avLst/>
          </a:prstGeom>
          <a:noFill/>
        </p:spPr>
        <p:txBody>
          <a:bodyPr wrap="square">
            <a:spAutoFit/>
          </a:bodyPr>
          <a:lstStyle/>
          <a:p>
            <a:pPr algn="ctr"/>
            <a:r>
              <a:rPr sz="1200" b="1" i="0">
                <a:solidFill>
                  <a:srgbClr val="4F46E5"/>
                </a:solidFill>
                <a:latin typeface="Calibri" panose="020F0502020204030204"/>
              </a:rPr>
              <a:t>🤖  RAG + LLM</a:t>
            </a:r>
            <a:endParaRPr sz="1200" b="1" i="0">
              <a:solidFill>
                <a:srgbClr val="4F46E5"/>
              </a:solidFill>
              <a:latin typeface="Calibri" panose="020F0502020204030204"/>
            </a:endParaRPr>
          </a:p>
        </p:txBody>
      </p:sp>
      <p:sp>
        <p:nvSpPr>
          <p:cNvPr id="13" name="Rectangle 12"/>
          <p:cNvSpPr/>
          <p:nvPr/>
        </p:nvSpPr>
        <p:spPr>
          <a:xfrm>
            <a:off x="6643116" y="4498848"/>
            <a:ext cx="2377440"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3116" y="4526280"/>
            <a:ext cx="2377440" cy="275590"/>
          </a:xfrm>
          <a:prstGeom prst="rect">
            <a:avLst/>
          </a:prstGeom>
          <a:noFill/>
        </p:spPr>
        <p:txBody>
          <a:bodyPr wrap="square">
            <a:spAutoFit/>
          </a:bodyPr>
          <a:lstStyle/>
          <a:p>
            <a:pPr algn="ctr"/>
            <a:r>
              <a:rPr sz="1200" b="1" i="0">
                <a:solidFill>
                  <a:srgbClr val="4F46E5"/>
                </a:solidFill>
                <a:latin typeface="Calibri" panose="020F0502020204030204"/>
              </a:rPr>
              <a:t>🛡️  Risk Classification</a:t>
            </a:r>
            <a:endParaRPr sz="1200" b="1" i="0">
              <a:solidFill>
                <a:srgbClr val="4F46E5"/>
              </a:solidFill>
              <a:latin typeface="Calibri" panose="020F0502020204030204"/>
            </a:endParaRPr>
          </a:p>
        </p:txBody>
      </p:sp>
      <p:sp>
        <p:nvSpPr>
          <p:cNvPr id="15" name="Rectangle 14"/>
          <p:cNvSpPr/>
          <p:nvPr/>
        </p:nvSpPr>
        <p:spPr>
          <a:xfrm>
            <a:off x="9203436" y="4498848"/>
            <a:ext cx="2377440"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03436" y="4526280"/>
            <a:ext cx="2377440" cy="275590"/>
          </a:xfrm>
          <a:prstGeom prst="rect">
            <a:avLst/>
          </a:prstGeom>
          <a:noFill/>
        </p:spPr>
        <p:txBody>
          <a:bodyPr wrap="square">
            <a:spAutoFit/>
          </a:bodyPr>
          <a:lstStyle/>
          <a:p>
            <a:pPr algn="ctr"/>
            <a:r>
              <a:rPr sz="1200" b="1" i="0">
                <a:solidFill>
                  <a:srgbClr val="4F46E5"/>
                </a:solidFill>
                <a:latin typeface="Calibri" panose="020F0502020204030204"/>
              </a:rPr>
              <a:t>🔔  Guardian Alerts</a:t>
            </a:r>
            <a:endParaRPr sz="1200" b="1" i="0">
              <a:solidFill>
                <a:srgbClr val="4F46E5"/>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457200" y="411480"/>
            <a:ext cx="2087245" cy="255905"/>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OBJECTIVES</a:t>
            </a:r>
            <a:endParaRPr sz="2000" b="1">
              <a:solidFill>
                <a:srgbClr val="FFFFFF"/>
              </a:solidFill>
              <a:latin typeface="Calibri" panose="020F0502020204030204"/>
            </a:endParaRP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07</a:t>
            </a:r>
            <a:endParaRPr sz="1000" b="1" i="0">
              <a:solidFill>
                <a:srgbClr val="4F46E5"/>
              </a:solidFill>
              <a:latin typeface="Calibri" panose="020F0502020204030204"/>
            </a:endParaRPr>
          </a:p>
        </p:txBody>
      </p:sp>
      <p:sp>
        <p:nvSpPr>
          <p:cNvPr id="6" name="Rectangle 5"/>
          <p:cNvSpPr/>
          <p:nvPr/>
        </p:nvSpPr>
        <p:spPr>
          <a:xfrm>
            <a:off x="457200" y="1170432"/>
            <a:ext cx="112471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170432"/>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90472"/>
            <a:ext cx="384048"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490472"/>
            <a:ext cx="384048" cy="245110"/>
          </a:xfrm>
          <a:prstGeom prst="rect">
            <a:avLst/>
          </a:prstGeom>
          <a:noFill/>
        </p:spPr>
        <p:txBody>
          <a:bodyPr wrap="square">
            <a:spAutoFit/>
          </a:bodyPr>
          <a:lstStyle/>
          <a:p>
            <a:pPr algn="ctr"/>
            <a:r>
              <a:rPr sz="1000" b="1" i="0">
                <a:solidFill>
                  <a:srgbClr val="4F46E5"/>
                </a:solidFill>
                <a:latin typeface="Calibri" panose="020F0502020204030204"/>
              </a:rPr>
              <a:t>I</a:t>
            </a:r>
            <a:endParaRPr sz="1000" b="1" i="0">
              <a:solidFill>
                <a:srgbClr val="4F46E5"/>
              </a:solidFill>
              <a:latin typeface="Calibri" panose="020F0502020204030204"/>
            </a:endParaRPr>
          </a:p>
        </p:txBody>
      </p:sp>
      <p:sp>
        <p:nvSpPr>
          <p:cNvPr id="10" name="TextBox 9"/>
          <p:cNvSpPr txBox="1"/>
          <p:nvPr/>
        </p:nvSpPr>
        <p:spPr>
          <a:xfrm>
            <a:off x="1115568" y="1280160"/>
            <a:ext cx="10241280" cy="337185"/>
          </a:xfrm>
          <a:prstGeom prst="rect">
            <a:avLst/>
          </a:prstGeom>
          <a:noFill/>
        </p:spPr>
        <p:txBody>
          <a:bodyPr wrap="square">
            <a:spAutoFit/>
          </a:bodyPr>
          <a:lstStyle/>
          <a:p>
            <a:pPr algn="l"/>
            <a:r>
              <a:rPr sz="1600" b="1" i="0">
                <a:solidFill>
                  <a:srgbClr val="0F172A"/>
                </a:solidFill>
                <a:latin typeface="Calibri" panose="020F0502020204030204"/>
              </a:rPr>
              <a:t>Collect &amp; Pre-process Dataset</a:t>
            </a:r>
            <a:endParaRPr sz="1600" b="1" i="0">
              <a:solidFill>
                <a:srgbClr val="0F172A"/>
              </a:solidFill>
              <a:latin typeface="Calibri" panose="020F0502020204030204"/>
            </a:endParaRPr>
          </a:p>
        </p:txBody>
      </p:sp>
      <p:sp>
        <p:nvSpPr>
          <p:cNvPr id="11" name="TextBox 10"/>
          <p:cNvSpPr txBox="1"/>
          <p:nvPr/>
        </p:nvSpPr>
        <p:spPr>
          <a:xfrm>
            <a:off x="1115568" y="1554480"/>
            <a:ext cx="10241280" cy="521970"/>
          </a:xfrm>
          <a:prstGeom prst="rect">
            <a:avLst/>
          </a:prstGeom>
          <a:noFill/>
        </p:spPr>
        <p:txBody>
          <a:bodyPr wrap="square">
            <a:spAutoFit/>
          </a:bodyPr>
          <a:lstStyle/>
          <a:p>
            <a:pPr algn="l"/>
            <a:r>
              <a:rPr sz="1400" b="0" i="0">
                <a:solidFill>
                  <a:schemeClr val="tx1"/>
                </a:solidFill>
                <a:latin typeface="Calibri" panose="020F0502020204030204"/>
              </a:rPr>
              <a:t>Collect and pre-process a suitable dataset of depressive and non-depressive text samples representative of adolescent online communication (Dreaddit dataset — 2,838 samples)</a:t>
            </a:r>
            <a:r>
              <a:rPr sz="1050" b="0" i="0">
                <a:solidFill>
                  <a:schemeClr val="tx1"/>
                </a:solidFill>
                <a:latin typeface="Calibri" panose="020F0502020204030204"/>
              </a:rPr>
              <a:t>.</a:t>
            </a:r>
            <a:endParaRPr sz="1050" b="0" i="0">
              <a:solidFill>
                <a:schemeClr val="tx1"/>
              </a:solidFill>
              <a:latin typeface="Calibri" panose="020F0502020204030204"/>
            </a:endParaRPr>
          </a:p>
        </p:txBody>
      </p:sp>
      <p:sp>
        <p:nvSpPr>
          <p:cNvPr id="12" name="Rectangle 11"/>
          <p:cNvSpPr/>
          <p:nvPr/>
        </p:nvSpPr>
        <p:spPr>
          <a:xfrm>
            <a:off x="457200" y="2414016"/>
            <a:ext cx="112471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414016"/>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2734056"/>
            <a:ext cx="384048"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734056"/>
            <a:ext cx="384048" cy="337185"/>
          </a:xfrm>
          <a:prstGeom prst="rect">
            <a:avLst/>
          </a:prstGeom>
          <a:noFill/>
        </p:spPr>
        <p:txBody>
          <a:bodyPr wrap="square">
            <a:spAutoFit/>
          </a:bodyPr>
          <a:lstStyle/>
          <a:p>
            <a:pPr algn="ctr"/>
            <a:r>
              <a:rPr sz="1600" b="1" i="0">
                <a:solidFill>
                  <a:srgbClr val="4F46E5"/>
                </a:solidFill>
                <a:latin typeface="Calibri" panose="020F0502020204030204"/>
              </a:rPr>
              <a:t>II</a:t>
            </a:r>
            <a:endParaRPr sz="1600" b="1" i="0">
              <a:solidFill>
                <a:srgbClr val="4F46E5"/>
              </a:solidFill>
              <a:latin typeface="Calibri" panose="020F0502020204030204"/>
            </a:endParaRPr>
          </a:p>
        </p:txBody>
      </p:sp>
      <p:sp>
        <p:nvSpPr>
          <p:cNvPr id="16" name="TextBox 15"/>
          <p:cNvSpPr txBox="1"/>
          <p:nvPr/>
        </p:nvSpPr>
        <p:spPr>
          <a:xfrm>
            <a:off x="1115568" y="2523744"/>
            <a:ext cx="10241280" cy="337185"/>
          </a:xfrm>
          <a:prstGeom prst="rect">
            <a:avLst/>
          </a:prstGeom>
          <a:noFill/>
        </p:spPr>
        <p:txBody>
          <a:bodyPr wrap="square">
            <a:spAutoFit/>
          </a:bodyPr>
          <a:lstStyle/>
          <a:p>
            <a:pPr algn="l"/>
            <a:r>
              <a:rPr sz="1600" b="1" i="0">
                <a:solidFill>
                  <a:srgbClr val="0F172A"/>
                </a:solidFill>
                <a:latin typeface="Calibri" panose="020F0502020204030204"/>
              </a:rPr>
              <a:t>Develop Risk Model</a:t>
            </a:r>
            <a:endParaRPr sz="1600" b="1" i="0">
              <a:solidFill>
                <a:srgbClr val="0F172A"/>
              </a:solidFill>
              <a:latin typeface="Calibri" panose="020F0502020204030204"/>
            </a:endParaRPr>
          </a:p>
        </p:txBody>
      </p:sp>
      <p:sp>
        <p:nvSpPr>
          <p:cNvPr id="17" name="TextBox 16"/>
          <p:cNvSpPr txBox="1"/>
          <p:nvPr/>
        </p:nvSpPr>
        <p:spPr>
          <a:xfrm>
            <a:off x="1115568" y="2798064"/>
            <a:ext cx="10241280" cy="521970"/>
          </a:xfrm>
          <a:prstGeom prst="rect">
            <a:avLst/>
          </a:prstGeom>
          <a:noFill/>
        </p:spPr>
        <p:txBody>
          <a:bodyPr wrap="square">
            <a:spAutoFit/>
          </a:bodyPr>
          <a:lstStyle/>
          <a:p>
            <a:pPr algn="l"/>
            <a:r>
              <a:rPr lang="en-US" sz="1400" b="0" i="0">
                <a:solidFill>
                  <a:schemeClr val="tx1"/>
                </a:solidFill>
                <a:latin typeface="Calibri" panose="020F0502020204030204"/>
              </a:rPr>
              <a:t>D</a:t>
            </a:r>
            <a:r>
              <a:rPr sz="1400" b="0" i="0">
                <a:solidFill>
                  <a:schemeClr val="tx1"/>
                </a:solidFill>
                <a:latin typeface="Calibri" panose="020F0502020204030204"/>
              </a:rPr>
              <a:t>evelop a trained risk classification model and evaluate the accuracy and reliability of the model's risk predictions using a hybrid NLP + RAG pipeline.</a:t>
            </a:r>
            <a:endParaRPr sz="1400" b="0" i="0">
              <a:solidFill>
                <a:schemeClr val="tx1"/>
              </a:solidFill>
              <a:latin typeface="Calibri" panose="020F0502020204030204"/>
            </a:endParaRPr>
          </a:p>
        </p:txBody>
      </p:sp>
      <p:sp>
        <p:nvSpPr>
          <p:cNvPr id="18" name="Rectangle 17"/>
          <p:cNvSpPr/>
          <p:nvPr/>
        </p:nvSpPr>
        <p:spPr>
          <a:xfrm>
            <a:off x="457200" y="3657600"/>
            <a:ext cx="112471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657600"/>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4360" y="3977640"/>
            <a:ext cx="384048"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977640"/>
            <a:ext cx="384048" cy="337185"/>
          </a:xfrm>
          <a:prstGeom prst="rect">
            <a:avLst/>
          </a:prstGeom>
          <a:noFill/>
        </p:spPr>
        <p:txBody>
          <a:bodyPr wrap="square">
            <a:spAutoFit/>
          </a:bodyPr>
          <a:lstStyle/>
          <a:p>
            <a:pPr algn="ctr"/>
            <a:r>
              <a:rPr sz="1600" b="1" i="0">
                <a:solidFill>
                  <a:srgbClr val="4F46E5"/>
                </a:solidFill>
                <a:latin typeface="Calibri" panose="020F0502020204030204"/>
              </a:rPr>
              <a:t>III</a:t>
            </a:r>
            <a:endParaRPr sz="1600" b="1" i="0">
              <a:solidFill>
                <a:srgbClr val="4F46E5"/>
              </a:solidFill>
              <a:latin typeface="Calibri" panose="020F0502020204030204"/>
            </a:endParaRPr>
          </a:p>
        </p:txBody>
      </p:sp>
      <p:sp>
        <p:nvSpPr>
          <p:cNvPr id="22" name="TextBox 21"/>
          <p:cNvSpPr txBox="1"/>
          <p:nvPr/>
        </p:nvSpPr>
        <p:spPr>
          <a:xfrm>
            <a:off x="1115568" y="3767328"/>
            <a:ext cx="10241280" cy="337185"/>
          </a:xfrm>
          <a:prstGeom prst="rect">
            <a:avLst/>
          </a:prstGeom>
          <a:noFill/>
        </p:spPr>
        <p:txBody>
          <a:bodyPr wrap="square">
            <a:spAutoFit/>
          </a:bodyPr>
          <a:lstStyle/>
          <a:p>
            <a:pPr algn="l"/>
            <a:r>
              <a:rPr sz="1600" b="1" i="0">
                <a:solidFill>
                  <a:srgbClr val="0F172A"/>
                </a:solidFill>
                <a:latin typeface="Calibri" panose="020F0502020204030204"/>
              </a:rPr>
              <a:t>Implement </a:t>
            </a:r>
            <a:r>
              <a:rPr lang="en-US" sz="1600" b="1" i="0">
                <a:solidFill>
                  <a:srgbClr val="0F172A"/>
                </a:solidFill>
                <a:latin typeface="Calibri" panose="020F0502020204030204"/>
              </a:rPr>
              <a:t>Model</a:t>
            </a:r>
            <a:r>
              <a:rPr sz="1600" b="1" i="0">
                <a:solidFill>
                  <a:srgbClr val="0F172A"/>
                </a:solidFill>
                <a:latin typeface="Calibri" panose="020F0502020204030204"/>
              </a:rPr>
              <a:t> Architecture</a:t>
            </a:r>
            <a:endParaRPr sz="1600" b="1" i="0">
              <a:solidFill>
                <a:srgbClr val="0F172A"/>
              </a:solidFill>
              <a:latin typeface="Calibri" panose="020F0502020204030204"/>
            </a:endParaRPr>
          </a:p>
        </p:txBody>
      </p:sp>
      <p:sp>
        <p:nvSpPr>
          <p:cNvPr id="23" name="TextBox 22"/>
          <p:cNvSpPr txBox="1"/>
          <p:nvPr/>
        </p:nvSpPr>
        <p:spPr>
          <a:xfrm>
            <a:off x="1115568" y="4041648"/>
            <a:ext cx="10241280" cy="521970"/>
          </a:xfrm>
          <a:prstGeom prst="rect">
            <a:avLst/>
          </a:prstGeom>
          <a:noFill/>
        </p:spPr>
        <p:txBody>
          <a:bodyPr wrap="square">
            <a:spAutoFit/>
          </a:bodyPr>
          <a:lstStyle/>
          <a:p>
            <a:pPr algn="l"/>
            <a:r>
              <a:rPr sz="1400" b="0" i="0">
                <a:solidFill>
                  <a:schemeClr val="tx1"/>
                </a:solidFill>
                <a:latin typeface="Calibri" panose="020F0502020204030204"/>
              </a:rPr>
              <a:t>Implement the model within a browser extension architecture, incorporating a secure guardian notification framework and consent management system.</a:t>
            </a:r>
            <a:endParaRPr sz="1400" b="0" i="0">
              <a:solidFill>
                <a:schemeClr val="tx1"/>
              </a:solidFill>
              <a:latin typeface="Calibri" panose="020F0502020204030204"/>
            </a:endParaRPr>
          </a:p>
        </p:txBody>
      </p:sp>
      <p:sp>
        <p:nvSpPr>
          <p:cNvPr id="24" name="Rectangle 23"/>
          <p:cNvSpPr/>
          <p:nvPr/>
        </p:nvSpPr>
        <p:spPr>
          <a:xfrm>
            <a:off x="457200" y="4901184"/>
            <a:ext cx="112471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901184"/>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 y="5221224"/>
            <a:ext cx="384048"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221224"/>
            <a:ext cx="384048" cy="337185"/>
          </a:xfrm>
          <a:prstGeom prst="rect">
            <a:avLst/>
          </a:prstGeom>
          <a:noFill/>
        </p:spPr>
        <p:txBody>
          <a:bodyPr wrap="square">
            <a:spAutoFit/>
          </a:bodyPr>
          <a:lstStyle/>
          <a:p>
            <a:pPr algn="ctr"/>
            <a:r>
              <a:rPr sz="1600" b="1" i="0">
                <a:solidFill>
                  <a:srgbClr val="4F46E5"/>
                </a:solidFill>
                <a:latin typeface="Calibri" panose="020F0502020204030204"/>
              </a:rPr>
              <a:t>IV</a:t>
            </a:r>
            <a:endParaRPr sz="1600" b="1" i="0">
              <a:solidFill>
                <a:srgbClr val="4F46E5"/>
              </a:solidFill>
              <a:latin typeface="Calibri" panose="020F0502020204030204"/>
            </a:endParaRPr>
          </a:p>
        </p:txBody>
      </p:sp>
      <p:sp>
        <p:nvSpPr>
          <p:cNvPr id="28" name="TextBox 27"/>
          <p:cNvSpPr txBox="1"/>
          <p:nvPr/>
        </p:nvSpPr>
        <p:spPr>
          <a:xfrm>
            <a:off x="1115568" y="5010912"/>
            <a:ext cx="10241280" cy="337185"/>
          </a:xfrm>
          <a:prstGeom prst="rect">
            <a:avLst/>
          </a:prstGeom>
          <a:noFill/>
        </p:spPr>
        <p:txBody>
          <a:bodyPr wrap="square">
            <a:spAutoFit/>
          </a:bodyPr>
          <a:lstStyle/>
          <a:p>
            <a:pPr algn="l"/>
            <a:r>
              <a:rPr sz="1600" b="1" i="0">
                <a:solidFill>
                  <a:srgbClr val="0F172A"/>
                </a:solidFill>
                <a:latin typeface="Calibri" panose="020F0502020204030204"/>
              </a:rPr>
              <a:t>Evaluate Usability</a:t>
            </a:r>
            <a:endParaRPr sz="1600" b="1" i="0">
              <a:solidFill>
                <a:srgbClr val="0F172A"/>
              </a:solidFill>
              <a:latin typeface="Calibri" panose="020F0502020204030204"/>
            </a:endParaRPr>
          </a:p>
        </p:txBody>
      </p:sp>
      <p:sp>
        <p:nvSpPr>
          <p:cNvPr id="29" name="TextBox 28"/>
          <p:cNvSpPr txBox="1"/>
          <p:nvPr/>
        </p:nvSpPr>
        <p:spPr>
          <a:xfrm>
            <a:off x="1115568" y="5285232"/>
            <a:ext cx="10241280" cy="306705"/>
          </a:xfrm>
          <a:prstGeom prst="rect">
            <a:avLst/>
          </a:prstGeom>
          <a:noFill/>
        </p:spPr>
        <p:txBody>
          <a:bodyPr wrap="square">
            <a:spAutoFit/>
          </a:bodyPr>
          <a:lstStyle/>
          <a:p>
            <a:pPr algn="l"/>
            <a:r>
              <a:rPr sz="1400" b="0" i="0">
                <a:solidFill>
                  <a:schemeClr val="tx1"/>
                </a:solidFill>
                <a:latin typeface="Calibri" panose="020F0502020204030204"/>
              </a:rPr>
              <a:t>Evaluate the usability of the system interface using the System Usability Scale (SUS) with 24 participants from the target demographic.</a:t>
            </a:r>
            <a:endParaRPr sz="1400" b="0" i="0">
              <a:solidFill>
                <a:schemeClr val="tx1"/>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457200" y="411480"/>
            <a:ext cx="2311400" cy="255905"/>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METHODOLOGY</a:t>
            </a:r>
            <a:endParaRPr sz="2000" b="1">
              <a:solidFill>
                <a:srgbClr val="FFFFFF"/>
              </a:solidFill>
              <a:latin typeface="Calibri" panose="020F0502020204030204"/>
            </a:endParaRP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08</a:t>
            </a:r>
            <a:endParaRPr sz="1000" b="1" i="0">
              <a:solidFill>
                <a:srgbClr val="4F46E5"/>
              </a:solidFill>
              <a:latin typeface="Calibri" panose="020F0502020204030204"/>
            </a:endParaRPr>
          </a:p>
        </p:txBody>
      </p:sp>
      <p:sp>
        <p:nvSpPr>
          <p:cNvPr id="6" name="Rectangle 5"/>
          <p:cNvSpPr/>
          <p:nvPr/>
        </p:nvSpPr>
        <p:spPr>
          <a:xfrm>
            <a:off x="457200" y="1115568"/>
            <a:ext cx="5303520" cy="274320"/>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18870"/>
            <a:ext cx="5303520" cy="461010"/>
          </a:xfrm>
          <a:prstGeom prst="rect">
            <a:avLst/>
          </a:prstGeom>
          <a:noFill/>
        </p:spPr>
        <p:txBody>
          <a:bodyPr wrap="square">
            <a:noAutofit/>
          </a:bodyPr>
          <a:lstStyle/>
          <a:p>
            <a:pPr algn="ctr"/>
            <a:r>
              <a:rPr sz="1600" b="1" i="0">
                <a:solidFill>
                  <a:srgbClr val="4F46E5"/>
                </a:solidFill>
                <a:latin typeface="Calibri" panose="020F0502020204030204"/>
              </a:rPr>
              <a:t>OBJECTIVE</a:t>
            </a:r>
            <a:endParaRPr sz="1600" b="1" i="0">
              <a:solidFill>
                <a:srgbClr val="4F46E5"/>
              </a:solidFill>
              <a:latin typeface="Calibri" panose="020F0502020204030204"/>
            </a:endParaRPr>
          </a:p>
        </p:txBody>
      </p:sp>
      <p:sp>
        <p:nvSpPr>
          <p:cNvPr id="8" name="Rectangle 7"/>
          <p:cNvSpPr/>
          <p:nvPr/>
        </p:nvSpPr>
        <p:spPr>
          <a:xfrm>
            <a:off x="5943600" y="1115568"/>
            <a:ext cx="5760720" cy="274320"/>
          </a:xfrm>
          <a:prstGeom prst="rect">
            <a:avLst/>
          </a:prstGeom>
          <a:solidFill>
            <a:srgbClr val="ECFDF5"/>
          </a:solidFill>
          <a:ln w="381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0" y="1133856"/>
            <a:ext cx="5760720" cy="337185"/>
          </a:xfrm>
          <a:prstGeom prst="rect">
            <a:avLst/>
          </a:prstGeom>
          <a:noFill/>
        </p:spPr>
        <p:txBody>
          <a:bodyPr wrap="square">
            <a:spAutoFit/>
          </a:bodyPr>
          <a:lstStyle/>
          <a:p>
            <a:pPr algn="ctr"/>
            <a:r>
              <a:rPr sz="1600" b="1" i="0">
                <a:solidFill>
                  <a:srgbClr val="059669"/>
                </a:solidFill>
                <a:latin typeface="Calibri" panose="020F0502020204030204"/>
              </a:rPr>
              <a:t>METHOD USED</a:t>
            </a:r>
            <a:endParaRPr sz="1600" b="1" i="0">
              <a:solidFill>
                <a:srgbClr val="059669"/>
              </a:solidFill>
              <a:latin typeface="Calibri" panose="020F0502020204030204"/>
            </a:endParaRPr>
          </a:p>
        </p:txBody>
      </p:sp>
      <p:sp>
        <p:nvSpPr>
          <p:cNvPr id="10" name="Rectangle 9"/>
          <p:cNvSpPr/>
          <p:nvPr/>
        </p:nvSpPr>
        <p:spPr>
          <a:xfrm>
            <a:off x="457200" y="1481328"/>
            <a:ext cx="5303520" cy="10972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554480"/>
            <a:ext cx="5029200" cy="306705"/>
          </a:xfrm>
          <a:prstGeom prst="rect">
            <a:avLst/>
          </a:prstGeom>
          <a:noFill/>
        </p:spPr>
        <p:txBody>
          <a:bodyPr wrap="square">
            <a:spAutoFit/>
          </a:bodyPr>
          <a:lstStyle/>
          <a:p>
            <a:pPr algn="l"/>
            <a:r>
              <a:rPr sz="1400" b="1" i="0">
                <a:solidFill>
                  <a:srgbClr val="4F46E5"/>
                </a:solidFill>
                <a:latin typeface="Calibri" panose="020F0502020204030204"/>
              </a:rPr>
              <a:t>Obj I — Dataset</a:t>
            </a:r>
            <a:endParaRPr sz="1400" b="1" i="0">
              <a:solidFill>
                <a:srgbClr val="4F46E5"/>
              </a:solidFill>
              <a:latin typeface="Calibri" panose="020F0502020204030204"/>
            </a:endParaRPr>
          </a:p>
        </p:txBody>
      </p:sp>
      <p:sp>
        <p:nvSpPr>
          <p:cNvPr id="12" name="TextBox 11"/>
          <p:cNvSpPr txBox="1"/>
          <p:nvPr/>
        </p:nvSpPr>
        <p:spPr>
          <a:xfrm>
            <a:off x="594360" y="1792224"/>
            <a:ext cx="4937760" cy="521970"/>
          </a:xfrm>
          <a:prstGeom prst="rect">
            <a:avLst/>
          </a:prstGeom>
          <a:noFill/>
        </p:spPr>
        <p:txBody>
          <a:bodyPr wrap="square">
            <a:spAutoFit/>
          </a:bodyPr>
          <a:lstStyle/>
          <a:p>
            <a:pPr algn="l"/>
            <a:r>
              <a:rPr sz="1400" b="0" i="0">
                <a:solidFill>
                  <a:schemeClr val="tx1"/>
                </a:solidFill>
                <a:latin typeface="Calibri" panose="020F0502020204030204"/>
              </a:rPr>
              <a:t>Dreaddit Reddit dataset · 2,838 samples · Colloquial adolescent-style text</a:t>
            </a:r>
            <a:endParaRPr sz="1400" b="0" i="0">
              <a:solidFill>
                <a:schemeClr val="tx1"/>
              </a:solidFill>
              <a:latin typeface="Calibri" panose="020F0502020204030204"/>
            </a:endParaRPr>
          </a:p>
        </p:txBody>
      </p:sp>
      <p:sp>
        <p:nvSpPr>
          <p:cNvPr id="13" name="TextBox 12"/>
          <p:cNvSpPr txBox="1"/>
          <p:nvPr/>
        </p:nvSpPr>
        <p:spPr>
          <a:xfrm>
            <a:off x="5623560" y="1865376"/>
            <a:ext cx="274320" cy="329184"/>
          </a:xfrm>
          <a:prstGeom prst="rect">
            <a:avLst/>
          </a:prstGeom>
          <a:noFill/>
        </p:spPr>
        <p:txBody>
          <a:bodyPr wrap="square">
            <a:spAutoFit/>
          </a:bodyPr>
          <a:lstStyle/>
          <a:p>
            <a:pPr algn="ctr"/>
            <a:r>
              <a:rPr sz="1800" b="1" i="0">
                <a:solidFill>
                  <a:srgbClr val="4F46E5"/>
                </a:solidFill>
                <a:latin typeface="Calibri" panose="020F0502020204030204"/>
              </a:rPr>
              <a:t>→</a:t>
            </a:r>
            <a:endParaRPr sz="1800" b="1" i="0">
              <a:solidFill>
                <a:srgbClr val="4F46E5"/>
              </a:solidFill>
              <a:latin typeface="Calibri" panose="020F0502020204030204"/>
            </a:endParaRPr>
          </a:p>
        </p:txBody>
      </p:sp>
      <p:sp>
        <p:nvSpPr>
          <p:cNvPr id="14" name="Rectangle 13"/>
          <p:cNvSpPr/>
          <p:nvPr/>
        </p:nvSpPr>
        <p:spPr>
          <a:xfrm>
            <a:off x="5943600" y="1481328"/>
            <a:ext cx="5760720" cy="10972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80760" y="1572768"/>
            <a:ext cx="5486400" cy="521970"/>
          </a:xfrm>
          <a:prstGeom prst="rect">
            <a:avLst/>
          </a:prstGeom>
          <a:noFill/>
        </p:spPr>
        <p:txBody>
          <a:bodyPr wrap="square">
            <a:spAutoFit/>
          </a:bodyPr>
          <a:lstStyle/>
          <a:p>
            <a:pPr algn="l"/>
            <a:r>
              <a:rPr sz="1400" b="0" i="0">
                <a:solidFill>
                  <a:schemeClr val="tx1"/>
                </a:solidFill>
                <a:latin typeface="Calibri" panose="020F0502020204030204"/>
              </a:rPr>
              <a:t>Text cleaning, stopword removal, lemmatisation. FAISS embedding index built using sentence-transformer embeddings (all-MiniLM-L6-v2).</a:t>
            </a:r>
            <a:endParaRPr sz="1400" b="0" i="0">
              <a:solidFill>
                <a:schemeClr val="tx1"/>
              </a:solidFill>
              <a:latin typeface="Calibri" panose="020F0502020204030204"/>
            </a:endParaRPr>
          </a:p>
        </p:txBody>
      </p:sp>
      <p:sp>
        <p:nvSpPr>
          <p:cNvPr id="16" name="Rectangle 15"/>
          <p:cNvSpPr/>
          <p:nvPr/>
        </p:nvSpPr>
        <p:spPr>
          <a:xfrm>
            <a:off x="457200" y="2624328"/>
            <a:ext cx="5303520" cy="10972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697480"/>
            <a:ext cx="5029200" cy="306705"/>
          </a:xfrm>
          <a:prstGeom prst="rect">
            <a:avLst/>
          </a:prstGeom>
          <a:noFill/>
        </p:spPr>
        <p:txBody>
          <a:bodyPr wrap="square">
            <a:spAutoFit/>
          </a:bodyPr>
          <a:lstStyle/>
          <a:p>
            <a:pPr algn="l"/>
            <a:r>
              <a:rPr sz="1400" b="1" i="0">
                <a:solidFill>
                  <a:srgbClr val="4F46E5"/>
                </a:solidFill>
                <a:latin typeface="Calibri" panose="020F0502020204030204"/>
              </a:rPr>
              <a:t>Obj II — Risk Model</a:t>
            </a:r>
            <a:endParaRPr sz="1400" b="1" i="0">
              <a:solidFill>
                <a:srgbClr val="4F46E5"/>
              </a:solidFill>
              <a:latin typeface="Calibri" panose="020F0502020204030204"/>
            </a:endParaRPr>
          </a:p>
        </p:txBody>
      </p:sp>
      <p:sp>
        <p:nvSpPr>
          <p:cNvPr id="18" name="TextBox 17"/>
          <p:cNvSpPr txBox="1"/>
          <p:nvPr/>
        </p:nvSpPr>
        <p:spPr>
          <a:xfrm>
            <a:off x="594360" y="2935224"/>
            <a:ext cx="4937760" cy="521970"/>
          </a:xfrm>
          <a:prstGeom prst="rect">
            <a:avLst/>
          </a:prstGeom>
          <a:noFill/>
        </p:spPr>
        <p:txBody>
          <a:bodyPr wrap="square">
            <a:spAutoFit/>
          </a:bodyPr>
          <a:lstStyle/>
          <a:p>
            <a:pPr algn="l"/>
            <a:r>
              <a:rPr sz="1400" b="0" i="0">
                <a:solidFill>
                  <a:schemeClr val="tx1"/>
                </a:solidFill>
                <a:latin typeface="Calibri" panose="020F0502020204030204"/>
              </a:rPr>
              <a:t>3-class Risk Engine: Low / Moderate / High. Hybrid NLP scoring + RAG retrieval</a:t>
            </a:r>
            <a:r>
              <a:rPr sz="1000" b="0" i="0">
                <a:solidFill>
                  <a:srgbClr val="334155"/>
                </a:solidFill>
                <a:latin typeface="Calibri" panose="020F0502020204030204"/>
              </a:rPr>
              <a:t>.</a:t>
            </a:r>
            <a:endParaRPr sz="1000" b="0" i="0">
              <a:solidFill>
                <a:srgbClr val="334155"/>
              </a:solidFill>
              <a:latin typeface="Calibri" panose="020F0502020204030204"/>
            </a:endParaRPr>
          </a:p>
        </p:txBody>
      </p:sp>
      <p:sp>
        <p:nvSpPr>
          <p:cNvPr id="19" name="TextBox 18"/>
          <p:cNvSpPr txBox="1"/>
          <p:nvPr/>
        </p:nvSpPr>
        <p:spPr>
          <a:xfrm>
            <a:off x="5623560" y="3008376"/>
            <a:ext cx="274320" cy="329184"/>
          </a:xfrm>
          <a:prstGeom prst="rect">
            <a:avLst/>
          </a:prstGeom>
          <a:noFill/>
        </p:spPr>
        <p:txBody>
          <a:bodyPr wrap="square">
            <a:spAutoFit/>
          </a:bodyPr>
          <a:lstStyle/>
          <a:p>
            <a:pPr algn="ctr"/>
            <a:r>
              <a:rPr sz="1800" b="1" i="0">
                <a:solidFill>
                  <a:srgbClr val="4F46E5"/>
                </a:solidFill>
                <a:latin typeface="Calibri" panose="020F0502020204030204"/>
              </a:rPr>
              <a:t>→</a:t>
            </a:r>
            <a:endParaRPr sz="1800" b="1" i="0">
              <a:solidFill>
                <a:srgbClr val="4F46E5"/>
              </a:solidFill>
              <a:latin typeface="Calibri" panose="020F0502020204030204"/>
            </a:endParaRPr>
          </a:p>
        </p:txBody>
      </p:sp>
      <p:sp>
        <p:nvSpPr>
          <p:cNvPr id="20" name="Rectangle 19"/>
          <p:cNvSpPr/>
          <p:nvPr/>
        </p:nvSpPr>
        <p:spPr>
          <a:xfrm>
            <a:off x="5943600" y="2624328"/>
            <a:ext cx="5760720" cy="10972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0760" y="2715768"/>
            <a:ext cx="5486400" cy="737235"/>
          </a:xfrm>
          <a:prstGeom prst="rect">
            <a:avLst/>
          </a:prstGeom>
          <a:noFill/>
        </p:spPr>
        <p:txBody>
          <a:bodyPr wrap="square">
            <a:spAutoFit/>
          </a:bodyPr>
          <a:lstStyle/>
          <a:p>
            <a:pPr algn="l"/>
            <a:r>
              <a:rPr sz="1400" b="0" i="0">
                <a:solidFill>
                  <a:schemeClr val="tx1"/>
                </a:solidFill>
                <a:latin typeface="Calibri" panose="020F0502020204030204"/>
              </a:rPr>
              <a:t>RAG Pipeline: FAISS vector search retrieves semantically similar cases → Gemini 1.5 Flash reasons over context → produces risk level + explanation. 14-day temporal window (DSM-5 aligned).</a:t>
            </a:r>
            <a:endParaRPr sz="1400" b="0" i="0">
              <a:solidFill>
                <a:schemeClr val="tx1"/>
              </a:solidFill>
              <a:latin typeface="Calibri" panose="020F0502020204030204"/>
            </a:endParaRPr>
          </a:p>
        </p:txBody>
      </p:sp>
      <p:sp>
        <p:nvSpPr>
          <p:cNvPr id="22" name="Rectangle 21"/>
          <p:cNvSpPr/>
          <p:nvPr/>
        </p:nvSpPr>
        <p:spPr>
          <a:xfrm>
            <a:off x="457200" y="3767328"/>
            <a:ext cx="5303520" cy="10972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840480"/>
            <a:ext cx="5029200" cy="306705"/>
          </a:xfrm>
          <a:prstGeom prst="rect">
            <a:avLst/>
          </a:prstGeom>
          <a:noFill/>
        </p:spPr>
        <p:txBody>
          <a:bodyPr wrap="square">
            <a:spAutoFit/>
          </a:bodyPr>
          <a:lstStyle/>
          <a:p>
            <a:pPr algn="l"/>
            <a:r>
              <a:rPr sz="1400" b="1" i="0">
                <a:solidFill>
                  <a:srgbClr val="4F46E5"/>
                </a:solidFill>
                <a:latin typeface="Calibri" panose="020F0502020204030204"/>
              </a:rPr>
              <a:t>Obj III — System</a:t>
            </a:r>
            <a:endParaRPr sz="1400" b="1" i="0">
              <a:solidFill>
                <a:srgbClr val="4F46E5"/>
              </a:solidFill>
              <a:latin typeface="Calibri" panose="020F0502020204030204"/>
            </a:endParaRPr>
          </a:p>
        </p:txBody>
      </p:sp>
      <p:sp>
        <p:nvSpPr>
          <p:cNvPr id="24" name="TextBox 23"/>
          <p:cNvSpPr txBox="1"/>
          <p:nvPr/>
        </p:nvSpPr>
        <p:spPr>
          <a:xfrm>
            <a:off x="594360" y="4078224"/>
            <a:ext cx="4937760" cy="521970"/>
          </a:xfrm>
          <a:prstGeom prst="rect">
            <a:avLst/>
          </a:prstGeom>
          <a:noFill/>
        </p:spPr>
        <p:txBody>
          <a:bodyPr wrap="square">
            <a:spAutoFit/>
          </a:bodyPr>
          <a:lstStyle/>
          <a:p>
            <a:pPr algn="l"/>
            <a:r>
              <a:rPr sz="1400" b="0" i="0">
                <a:solidFill>
                  <a:schemeClr val="tx1"/>
                </a:solidFill>
                <a:latin typeface="Calibri" panose="020F0502020204030204"/>
              </a:rPr>
              <a:t>Browser extension (JS), FastAPI backend, Guardian dashboard (HTML/JS).</a:t>
            </a:r>
            <a:endParaRPr sz="1400" b="0" i="0">
              <a:solidFill>
                <a:schemeClr val="tx1"/>
              </a:solidFill>
              <a:latin typeface="Calibri" panose="020F0502020204030204"/>
            </a:endParaRPr>
          </a:p>
        </p:txBody>
      </p:sp>
      <p:sp>
        <p:nvSpPr>
          <p:cNvPr id="25" name="TextBox 24"/>
          <p:cNvSpPr txBox="1"/>
          <p:nvPr/>
        </p:nvSpPr>
        <p:spPr>
          <a:xfrm>
            <a:off x="5623560" y="4151376"/>
            <a:ext cx="274320" cy="329184"/>
          </a:xfrm>
          <a:prstGeom prst="rect">
            <a:avLst/>
          </a:prstGeom>
          <a:noFill/>
        </p:spPr>
        <p:txBody>
          <a:bodyPr wrap="square">
            <a:spAutoFit/>
          </a:bodyPr>
          <a:lstStyle/>
          <a:p>
            <a:pPr algn="ctr"/>
            <a:r>
              <a:rPr sz="1800" b="1" i="0">
                <a:solidFill>
                  <a:srgbClr val="4F46E5"/>
                </a:solidFill>
                <a:latin typeface="Calibri" panose="020F0502020204030204"/>
              </a:rPr>
              <a:t>→</a:t>
            </a:r>
            <a:endParaRPr sz="1800" b="1" i="0">
              <a:solidFill>
                <a:srgbClr val="4F46E5"/>
              </a:solidFill>
              <a:latin typeface="Calibri" panose="020F0502020204030204"/>
            </a:endParaRPr>
          </a:p>
        </p:txBody>
      </p:sp>
      <p:sp>
        <p:nvSpPr>
          <p:cNvPr id="26" name="Rectangle 25"/>
          <p:cNvSpPr/>
          <p:nvPr/>
        </p:nvSpPr>
        <p:spPr>
          <a:xfrm>
            <a:off x="5943600" y="3767328"/>
            <a:ext cx="5760720" cy="10972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80760" y="3858768"/>
            <a:ext cx="5486400" cy="737235"/>
          </a:xfrm>
          <a:prstGeom prst="rect">
            <a:avLst/>
          </a:prstGeom>
          <a:noFill/>
        </p:spPr>
        <p:txBody>
          <a:bodyPr wrap="square">
            <a:spAutoFit/>
          </a:bodyPr>
          <a:lstStyle/>
          <a:p>
            <a:pPr algn="l"/>
            <a:r>
              <a:rPr sz="1400" b="0" i="0">
                <a:solidFill>
                  <a:schemeClr val="tx1"/>
                </a:solidFill>
                <a:latin typeface="Calibri" panose="020F0502020204030204"/>
              </a:rPr>
              <a:t>Design Science Research (DSR). Passive text interception → encrypted API call → risk classification → conditional guardian email alert with consent verification.</a:t>
            </a:r>
            <a:endParaRPr sz="1400" b="0" i="0">
              <a:solidFill>
                <a:schemeClr val="tx1"/>
              </a:solidFill>
              <a:latin typeface="Calibri" panose="020F0502020204030204"/>
            </a:endParaRPr>
          </a:p>
        </p:txBody>
      </p:sp>
      <p:sp>
        <p:nvSpPr>
          <p:cNvPr id="28" name="Rectangle 27"/>
          <p:cNvSpPr/>
          <p:nvPr/>
        </p:nvSpPr>
        <p:spPr>
          <a:xfrm>
            <a:off x="457200" y="4910328"/>
            <a:ext cx="5303520" cy="10972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4983480"/>
            <a:ext cx="5029200" cy="306705"/>
          </a:xfrm>
          <a:prstGeom prst="rect">
            <a:avLst/>
          </a:prstGeom>
          <a:noFill/>
        </p:spPr>
        <p:txBody>
          <a:bodyPr wrap="square">
            <a:spAutoFit/>
          </a:bodyPr>
          <a:lstStyle/>
          <a:p>
            <a:pPr algn="l"/>
            <a:r>
              <a:rPr sz="1400" b="1" i="0">
                <a:solidFill>
                  <a:srgbClr val="4F46E5"/>
                </a:solidFill>
                <a:latin typeface="Calibri" panose="020F0502020204030204"/>
              </a:rPr>
              <a:t>Obj IV — Evaluation</a:t>
            </a:r>
            <a:endParaRPr sz="1400" b="1" i="0">
              <a:solidFill>
                <a:srgbClr val="4F46E5"/>
              </a:solidFill>
              <a:latin typeface="Calibri" panose="020F0502020204030204"/>
            </a:endParaRPr>
          </a:p>
        </p:txBody>
      </p:sp>
      <p:sp>
        <p:nvSpPr>
          <p:cNvPr id="30" name="TextBox 29"/>
          <p:cNvSpPr txBox="1"/>
          <p:nvPr/>
        </p:nvSpPr>
        <p:spPr>
          <a:xfrm>
            <a:off x="594360" y="5221224"/>
            <a:ext cx="4937760" cy="521970"/>
          </a:xfrm>
          <a:prstGeom prst="rect">
            <a:avLst/>
          </a:prstGeom>
          <a:noFill/>
        </p:spPr>
        <p:txBody>
          <a:bodyPr wrap="square">
            <a:spAutoFit/>
          </a:bodyPr>
          <a:lstStyle/>
          <a:p>
            <a:pPr algn="l"/>
            <a:r>
              <a:rPr sz="1400" b="0" i="0">
                <a:solidFill>
                  <a:schemeClr val="tx1"/>
                </a:solidFill>
                <a:latin typeface="Calibri" panose="020F0502020204030204"/>
              </a:rPr>
              <a:t>SUS questionnaire + model benchmarking on 42-sample held-out test set</a:t>
            </a:r>
            <a:r>
              <a:rPr lang="en-US" sz="1400" b="0" i="0">
                <a:solidFill>
                  <a:schemeClr val="tx1"/>
                </a:solidFill>
                <a:latin typeface="Calibri" panose="020F0502020204030204"/>
              </a:rPr>
              <a:t>.</a:t>
            </a:r>
            <a:endParaRPr lang="en-US" sz="1400" b="0" i="0">
              <a:solidFill>
                <a:schemeClr val="tx1"/>
              </a:solidFill>
              <a:latin typeface="Calibri" panose="020F0502020204030204"/>
            </a:endParaRPr>
          </a:p>
        </p:txBody>
      </p:sp>
      <p:sp>
        <p:nvSpPr>
          <p:cNvPr id="31" name="TextBox 30"/>
          <p:cNvSpPr txBox="1"/>
          <p:nvPr/>
        </p:nvSpPr>
        <p:spPr>
          <a:xfrm>
            <a:off x="5623560" y="5294376"/>
            <a:ext cx="274320" cy="329184"/>
          </a:xfrm>
          <a:prstGeom prst="rect">
            <a:avLst/>
          </a:prstGeom>
          <a:noFill/>
        </p:spPr>
        <p:txBody>
          <a:bodyPr wrap="square">
            <a:spAutoFit/>
          </a:bodyPr>
          <a:lstStyle/>
          <a:p>
            <a:pPr algn="ctr"/>
            <a:r>
              <a:rPr sz="1800" b="1" i="0">
                <a:solidFill>
                  <a:srgbClr val="4F46E5"/>
                </a:solidFill>
                <a:latin typeface="Calibri" panose="020F0502020204030204"/>
              </a:rPr>
              <a:t>→</a:t>
            </a:r>
            <a:endParaRPr sz="1800" b="1" i="0">
              <a:solidFill>
                <a:srgbClr val="4F46E5"/>
              </a:solidFill>
              <a:latin typeface="Calibri" panose="020F0502020204030204"/>
            </a:endParaRPr>
          </a:p>
        </p:txBody>
      </p:sp>
      <p:sp>
        <p:nvSpPr>
          <p:cNvPr id="32" name="Rectangle 31"/>
          <p:cNvSpPr/>
          <p:nvPr/>
        </p:nvSpPr>
        <p:spPr>
          <a:xfrm>
            <a:off x="5943600" y="4910328"/>
            <a:ext cx="5760720" cy="10972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80760" y="5001768"/>
            <a:ext cx="5486400" cy="521970"/>
          </a:xfrm>
          <a:prstGeom prst="rect">
            <a:avLst/>
          </a:prstGeom>
          <a:noFill/>
        </p:spPr>
        <p:txBody>
          <a:bodyPr wrap="square">
            <a:spAutoFit/>
          </a:bodyPr>
          <a:lstStyle/>
          <a:p>
            <a:pPr algn="l"/>
            <a:r>
              <a:rPr sz="1400" b="0" i="0">
                <a:solidFill>
                  <a:schemeClr val="tx1"/>
                </a:solidFill>
                <a:latin typeface="Calibri" panose="020F0502020204030204"/>
              </a:rPr>
              <a:t>Quantitative: Accuracy, Precision, Recall, F1. Qualitative: 1</a:t>
            </a:r>
            <a:r>
              <a:rPr lang="en-US" sz="1400" b="0" i="0">
                <a:solidFill>
                  <a:schemeClr val="tx1"/>
                </a:solidFill>
                <a:latin typeface="Calibri" panose="020F0502020204030204"/>
              </a:rPr>
              <a:t>7</a:t>
            </a:r>
            <a:r>
              <a:rPr sz="1400" b="0" i="0">
                <a:solidFill>
                  <a:schemeClr val="tx1"/>
                </a:solidFill>
                <a:latin typeface="Calibri" panose="020F0502020204030204"/>
              </a:rPr>
              <a:t>-item SUS with 24 participants on live extension + guardian dashboard.</a:t>
            </a:r>
            <a:endParaRPr sz="1400" b="0" i="0">
              <a:solidFill>
                <a:schemeClr val="tx1"/>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457200" y="411480"/>
            <a:ext cx="3603625" cy="255905"/>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R</a:t>
            </a:r>
            <a:r>
              <a:rPr lang="en-US" sz="2000" b="1">
                <a:solidFill>
                  <a:srgbClr val="FFFFFF"/>
                </a:solidFill>
                <a:latin typeface="Calibri" panose="020F0502020204030204"/>
              </a:rPr>
              <a:t>ESULTS - Model Performance</a:t>
            </a:r>
            <a:endParaRPr lang="en-US" sz="2000" b="1">
              <a:solidFill>
                <a:srgbClr val="FFFFFF"/>
              </a:solidFill>
              <a:latin typeface="Calibri" panose="020F0502020204030204"/>
            </a:endParaRP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09</a:t>
            </a:r>
            <a:endParaRPr sz="1000" b="1" i="0">
              <a:solidFill>
                <a:srgbClr val="4F46E5"/>
              </a:solidFill>
              <a:latin typeface="Calibri" panose="020F0502020204030204"/>
            </a:endParaRPr>
          </a:p>
        </p:txBody>
      </p:sp>
      <p:sp>
        <p:nvSpPr>
          <p:cNvPr id="6" name="Rectangle 5"/>
          <p:cNvSpPr/>
          <p:nvPr/>
        </p:nvSpPr>
        <p:spPr>
          <a:xfrm>
            <a:off x="457200" y="1115568"/>
            <a:ext cx="2606040" cy="868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280160"/>
            <a:ext cx="2606040" cy="502920"/>
          </a:xfrm>
          <a:prstGeom prst="rect">
            <a:avLst/>
          </a:prstGeom>
          <a:noFill/>
        </p:spPr>
        <p:txBody>
          <a:bodyPr wrap="square">
            <a:spAutoFit/>
          </a:bodyPr>
          <a:lstStyle/>
          <a:p>
            <a:pPr algn="ctr"/>
            <a:r>
              <a:rPr sz="2800" b="1" i="0">
                <a:solidFill>
                  <a:srgbClr val="4F46E5"/>
                </a:solidFill>
                <a:latin typeface="Calibri" panose="020F0502020204030204"/>
              </a:rPr>
              <a:t>88.1%</a:t>
            </a:r>
            <a:endParaRPr sz="2800" b="1" i="0">
              <a:solidFill>
                <a:srgbClr val="4F46E5"/>
              </a:solidFill>
              <a:latin typeface="Calibri" panose="020F0502020204030204"/>
            </a:endParaRPr>
          </a:p>
        </p:txBody>
      </p:sp>
      <p:sp>
        <p:nvSpPr>
          <p:cNvPr id="8" name="TextBox 7"/>
          <p:cNvSpPr txBox="1"/>
          <p:nvPr/>
        </p:nvSpPr>
        <p:spPr>
          <a:xfrm>
            <a:off x="457200" y="1801368"/>
            <a:ext cx="2606040" cy="256032"/>
          </a:xfrm>
          <a:prstGeom prst="rect">
            <a:avLst/>
          </a:prstGeom>
          <a:noFill/>
        </p:spPr>
        <p:txBody>
          <a:bodyPr wrap="square">
            <a:spAutoFit/>
          </a:bodyPr>
          <a:lstStyle/>
          <a:p>
            <a:pPr algn="ctr"/>
            <a:r>
              <a:rPr sz="850" b="1" i="0">
                <a:solidFill>
                  <a:srgbClr val="64748B"/>
                </a:solidFill>
                <a:latin typeface="Calibri" panose="020F0502020204030204"/>
              </a:rPr>
              <a:t>ACCURACY</a:t>
            </a:r>
            <a:endParaRPr sz="850" b="1" i="0">
              <a:solidFill>
                <a:srgbClr val="64748B"/>
              </a:solidFill>
              <a:latin typeface="Calibri" panose="020F0502020204030204"/>
            </a:endParaRPr>
          </a:p>
        </p:txBody>
      </p:sp>
      <p:sp>
        <p:nvSpPr>
          <p:cNvPr id="9" name="Rectangle 8"/>
          <p:cNvSpPr/>
          <p:nvPr/>
        </p:nvSpPr>
        <p:spPr>
          <a:xfrm>
            <a:off x="3154680" y="1115568"/>
            <a:ext cx="2606040" cy="868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54680" y="1280160"/>
            <a:ext cx="2606040" cy="502920"/>
          </a:xfrm>
          <a:prstGeom prst="rect">
            <a:avLst/>
          </a:prstGeom>
          <a:noFill/>
        </p:spPr>
        <p:txBody>
          <a:bodyPr wrap="square">
            <a:spAutoFit/>
          </a:bodyPr>
          <a:lstStyle/>
          <a:p>
            <a:pPr algn="ctr"/>
            <a:r>
              <a:rPr sz="2800" b="1" i="0">
                <a:solidFill>
                  <a:srgbClr val="4F46E5"/>
                </a:solidFill>
                <a:latin typeface="Calibri" panose="020F0502020204030204"/>
              </a:rPr>
              <a:t>87.4%</a:t>
            </a:r>
            <a:endParaRPr sz="2800" b="1" i="0">
              <a:solidFill>
                <a:srgbClr val="4F46E5"/>
              </a:solidFill>
              <a:latin typeface="Calibri" panose="020F0502020204030204"/>
            </a:endParaRPr>
          </a:p>
        </p:txBody>
      </p:sp>
      <p:sp>
        <p:nvSpPr>
          <p:cNvPr id="11" name="TextBox 10"/>
          <p:cNvSpPr txBox="1"/>
          <p:nvPr/>
        </p:nvSpPr>
        <p:spPr>
          <a:xfrm>
            <a:off x="3154680" y="1801368"/>
            <a:ext cx="2606040" cy="256032"/>
          </a:xfrm>
          <a:prstGeom prst="rect">
            <a:avLst/>
          </a:prstGeom>
          <a:noFill/>
        </p:spPr>
        <p:txBody>
          <a:bodyPr wrap="square">
            <a:spAutoFit/>
          </a:bodyPr>
          <a:lstStyle/>
          <a:p>
            <a:pPr algn="ctr"/>
            <a:r>
              <a:rPr sz="850" b="1" i="0">
                <a:solidFill>
                  <a:srgbClr val="64748B"/>
                </a:solidFill>
                <a:latin typeface="Calibri" panose="020F0502020204030204"/>
              </a:rPr>
              <a:t>PRECISION</a:t>
            </a:r>
            <a:endParaRPr sz="850" b="1" i="0">
              <a:solidFill>
                <a:srgbClr val="64748B"/>
              </a:solidFill>
              <a:latin typeface="Calibri" panose="020F0502020204030204"/>
            </a:endParaRPr>
          </a:p>
        </p:txBody>
      </p:sp>
      <p:sp>
        <p:nvSpPr>
          <p:cNvPr id="12" name="Rectangle 11"/>
          <p:cNvSpPr/>
          <p:nvPr/>
        </p:nvSpPr>
        <p:spPr>
          <a:xfrm>
            <a:off x="5852160" y="1115568"/>
            <a:ext cx="2606040" cy="868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0" y="1280160"/>
            <a:ext cx="2606040" cy="502920"/>
          </a:xfrm>
          <a:prstGeom prst="rect">
            <a:avLst/>
          </a:prstGeom>
          <a:noFill/>
        </p:spPr>
        <p:txBody>
          <a:bodyPr wrap="square">
            <a:spAutoFit/>
          </a:bodyPr>
          <a:lstStyle/>
          <a:p>
            <a:pPr algn="ctr"/>
            <a:r>
              <a:rPr sz="2800" b="1" i="0">
                <a:solidFill>
                  <a:srgbClr val="4F46E5"/>
                </a:solidFill>
                <a:latin typeface="Calibri" panose="020F0502020204030204"/>
              </a:rPr>
              <a:t>88.1%</a:t>
            </a:r>
            <a:endParaRPr sz="2800" b="1" i="0">
              <a:solidFill>
                <a:srgbClr val="4F46E5"/>
              </a:solidFill>
              <a:latin typeface="Calibri" panose="020F0502020204030204"/>
            </a:endParaRPr>
          </a:p>
        </p:txBody>
      </p:sp>
      <p:sp>
        <p:nvSpPr>
          <p:cNvPr id="14" name="TextBox 13"/>
          <p:cNvSpPr txBox="1"/>
          <p:nvPr/>
        </p:nvSpPr>
        <p:spPr>
          <a:xfrm>
            <a:off x="5852160" y="1801368"/>
            <a:ext cx="2606040" cy="256032"/>
          </a:xfrm>
          <a:prstGeom prst="rect">
            <a:avLst/>
          </a:prstGeom>
          <a:noFill/>
        </p:spPr>
        <p:txBody>
          <a:bodyPr wrap="square">
            <a:spAutoFit/>
          </a:bodyPr>
          <a:lstStyle/>
          <a:p>
            <a:pPr algn="ctr"/>
            <a:r>
              <a:rPr sz="850" b="1" i="0">
                <a:solidFill>
                  <a:srgbClr val="64748B"/>
                </a:solidFill>
                <a:latin typeface="Calibri" panose="020F0502020204030204"/>
              </a:rPr>
              <a:t>RECALL</a:t>
            </a:r>
            <a:endParaRPr sz="850" b="1" i="0">
              <a:solidFill>
                <a:srgbClr val="64748B"/>
              </a:solidFill>
              <a:latin typeface="Calibri" panose="020F0502020204030204"/>
            </a:endParaRPr>
          </a:p>
        </p:txBody>
      </p:sp>
      <p:sp>
        <p:nvSpPr>
          <p:cNvPr id="15" name="Rectangle 14"/>
          <p:cNvSpPr/>
          <p:nvPr/>
        </p:nvSpPr>
        <p:spPr>
          <a:xfrm>
            <a:off x="8549640" y="1115568"/>
            <a:ext cx="2606040" cy="868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49640" y="1280160"/>
            <a:ext cx="2606040" cy="502920"/>
          </a:xfrm>
          <a:prstGeom prst="rect">
            <a:avLst/>
          </a:prstGeom>
          <a:noFill/>
        </p:spPr>
        <p:txBody>
          <a:bodyPr wrap="square">
            <a:spAutoFit/>
          </a:bodyPr>
          <a:lstStyle/>
          <a:p>
            <a:pPr algn="ctr"/>
            <a:r>
              <a:rPr sz="2800" b="1" i="0">
                <a:solidFill>
                  <a:srgbClr val="4F46E5"/>
                </a:solidFill>
                <a:latin typeface="Calibri" panose="020F0502020204030204"/>
              </a:rPr>
              <a:t>87.5%</a:t>
            </a:r>
            <a:endParaRPr sz="2800" b="1" i="0">
              <a:solidFill>
                <a:srgbClr val="4F46E5"/>
              </a:solidFill>
              <a:latin typeface="Calibri" panose="020F0502020204030204"/>
            </a:endParaRPr>
          </a:p>
        </p:txBody>
      </p:sp>
      <p:sp>
        <p:nvSpPr>
          <p:cNvPr id="17" name="TextBox 16"/>
          <p:cNvSpPr txBox="1"/>
          <p:nvPr/>
        </p:nvSpPr>
        <p:spPr>
          <a:xfrm>
            <a:off x="8549640" y="1801368"/>
            <a:ext cx="2606040" cy="256032"/>
          </a:xfrm>
          <a:prstGeom prst="rect">
            <a:avLst/>
          </a:prstGeom>
          <a:noFill/>
        </p:spPr>
        <p:txBody>
          <a:bodyPr wrap="square">
            <a:spAutoFit/>
          </a:bodyPr>
          <a:lstStyle/>
          <a:p>
            <a:pPr algn="ctr"/>
            <a:r>
              <a:rPr sz="850" b="1" i="0">
                <a:solidFill>
                  <a:srgbClr val="64748B"/>
                </a:solidFill>
                <a:latin typeface="Calibri" panose="020F0502020204030204"/>
              </a:rPr>
              <a:t>F1-SCORE</a:t>
            </a:r>
            <a:endParaRPr sz="850" b="1" i="0">
              <a:solidFill>
                <a:srgbClr val="64748B"/>
              </a:solidFill>
              <a:latin typeface="Calibri" panose="020F0502020204030204"/>
            </a:endParaRPr>
          </a:p>
        </p:txBody>
      </p:sp>
      <p:sp>
        <p:nvSpPr>
          <p:cNvPr id="18" name="Rectangle 17"/>
          <p:cNvSpPr/>
          <p:nvPr/>
        </p:nvSpPr>
        <p:spPr>
          <a:xfrm>
            <a:off x="457200" y="2121408"/>
            <a:ext cx="1645920" cy="347472"/>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 y="2176272"/>
            <a:ext cx="1536192" cy="306705"/>
          </a:xfrm>
          <a:prstGeom prst="rect">
            <a:avLst/>
          </a:prstGeom>
          <a:noFill/>
        </p:spPr>
        <p:txBody>
          <a:bodyPr wrap="square">
            <a:spAutoFit/>
          </a:bodyPr>
          <a:lstStyle/>
          <a:p>
            <a:pPr algn="l"/>
            <a:r>
              <a:rPr sz="1400" b="1" i="0">
                <a:solidFill>
                  <a:srgbClr val="4F46E5"/>
                </a:solidFill>
                <a:latin typeface="Calibri" panose="020F0502020204030204"/>
              </a:rPr>
              <a:t>Class</a:t>
            </a:r>
            <a:endParaRPr sz="1400" b="1" i="0">
              <a:solidFill>
                <a:srgbClr val="4F46E5"/>
              </a:solidFill>
              <a:latin typeface="Calibri" panose="020F0502020204030204"/>
            </a:endParaRPr>
          </a:p>
        </p:txBody>
      </p:sp>
      <p:sp>
        <p:nvSpPr>
          <p:cNvPr id="20" name="Rectangle 19"/>
          <p:cNvSpPr/>
          <p:nvPr/>
        </p:nvSpPr>
        <p:spPr>
          <a:xfrm>
            <a:off x="2103120" y="2121408"/>
            <a:ext cx="1645920" cy="347472"/>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57984" y="2176272"/>
            <a:ext cx="1536192" cy="306705"/>
          </a:xfrm>
          <a:prstGeom prst="rect">
            <a:avLst/>
          </a:prstGeom>
          <a:noFill/>
        </p:spPr>
        <p:txBody>
          <a:bodyPr wrap="square">
            <a:spAutoFit/>
          </a:bodyPr>
          <a:lstStyle/>
          <a:p>
            <a:pPr algn="l"/>
            <a:r>
              <a:rPr sz="1400" b="1" i="0">
                <a:solidFill>
                  <a:srgbClr val="4F46E5"/>
                </a:solidFill>
                <a:latin typeface="Calibri" panose="020F0502020204030204"/>
              </a:rPr>
              <a:t>Precision</a:t>
            </a:r>
            <a:endParaRPr sz="1400" b="1" i="0">
              <a:solidFill>
                <a:srgbClr val="4F46E5"/>
              </a:solidFill>
              <a:latin typeface="Calibri" panose="020F0502020204030204"/>
            </a:endParaRPr>
          </a:p>
        </p:txBody>
      </p:sp>
      <p:sp>
        <p:nvSpPr>
          <p:cNvPr id="22" name="Rectangle 21"/>
          <p:cNvSpPr/>
          <p:nvPr/>
        </p:nvSpPr>
        <p:spPr>
          <a:xfrm>
            <a:off x="3749040" y="2121408"/>
            <a:ext cx="1645920" cy="347472"/>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03904" y="2176272"/>
            <a:ext cx="1536192" cy="306705"/>
          </a:xfrm>
          <a:prstGeom prst="rect">
            <a:avLst/>
          </a:prstGeom>
          <a:noFill/>
        </p:spPr>
        <p:txBody>
          <a:bodyPr wrap="square">
            <a:spAutoFit/>
          </a:bodyPr>
          <a:lstStyle/>
          <a:p>
            <a:pPr algn="l"/>
            <a:r>
              <a:rPr sz="1400" b="1" i="0">
                <a:solidFill>
                  <a:srgbClr val="4F46E5"/>
                </a:solidFill>
                <a:latin typeface="Calibri" panose="020F0502020204030204"/>
              </a:rPr>
              <a:t>Recall</a:t>
            </a:r>
            <a:endParaRPr sz="1400" b="1" i="0">
              <a:solidFill>
                <a:srgbClr val="4F46E5"/>
              </a:solidFill>
              <a:latin typeface="Calibri" panose="020F0502020204030204"/>
            </a:endParaRPr>
          </a:p>
        </p:txBody>
      </p:sp>
      <p:sp>
        <p:nvSpPr>
          <p:cNvPr id="24" name="Rectangle 23"/>
          <p:cNvSpPr/>
          <p:nvPr/>
        </p:nvSpPr>
        <p:spPr>
          <a:xfrm>
            <a:off x="5394960" y="2121408"/>
            <a:ext cx="1645920" cy="347472"/>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49824" y="2176272"/>
            <a:ext cx="1536192" cy="306705"/>
          </a:xfrm>
          <a:prstGeom prst="rect">
            <a:avLst/>
          </a:prstGeom>
          <a:noFill/>
        </p:spPr>
        <p:txBody>
          <a:bodyPr wrap="square">
            <a:spAutoFit/>
          </a:bodyPr>
          <a:lstStyle/>
          <a:p>
            <a:pPr algn="l"/>
            <a:r>
              <a:rPr sz="1400" b="1" i="0">
                <a:solidFill>
                  <a:srgbClr val="4F46E5"/>
                </a:solidFill>
                <a:latin typeface="Calibri" panose="020F0502020204030204"/>
              </a:rPr>
              <a:t>F1-Score</a:t>
            </a:r>
            <a:endParaRPr sz="1400" b="1" i="0">
              <a:solidFill>
                <a:srgbClr val="4F46E5"/>
              </a:solidFill>
              <a:latin typeface="Calibri" panose="020F0502020204030204"/>
            </a:endParaRPr>
          </a:p>
        </p:txBody>
      </p:sp>
      <p:sp>
        <p:nvSpPr>
          <p:cNvPr id="26" name="Rectangle 25"/>
          <p:cNvSpPr/>
          <p:nvPr/>
        </p:nvSpPr>
        <p:spPr>
          <a:xfrm>
            <a:off x="7040880" y="2121408"/>
            <a:ext cx="4663440" cy="347472"/>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95744" y="2176272"/>
            <a:ext cx="4553712" cy="306705"/>
          </a:xfrm>
          <a:prstGeom prst="rect">
            <a:avLst/>
          </a:prstGeom>
          <a:noFill/>
        </p:spPr>
        <p:txBody>
          <a:bodyPr wrap="square">
            <a:spAutoFit/>
          </a:bodyPr>
          <a:lstStyle/>
          <a:p>
            <a:pPr algn="l"/>
            <a:r>
              <a:rPr sz="1400" b="1" i="0">
                <a:solidFill>
                  <a:srgbClr val="4F46E5"/>
                </a:solidFill>
                <a:latin typeface="Calibri" panose="020F0502020204030204"/>
              </a:rPr>
              <a:t>Clinical Significance</a:t>
            </a:r>
            <a:endParaRPr sz="1400" b="1" i="0">
              <a:solidFill>
                <a:srgbClr val="4F46E5"/>
              </a:solidFill>
              <a:latin typeface="Calibri" panose="020F0502020204030204"/>
            </a:endParaRPr>
          </a:p>
        </p:txBody>
      </p:sp>
      <p:sp>
        <p:nvSpPr>
          <p:cNvPr id="28" name="Rectangle 27"/>
          <p:cNvSpPr/>
          <p:nvPr/>
        </p:nvSpPr>
        <p:spPr>
          <a:xfrm>
            <a:off x="457200" y="2468880"/>
            <a:ext cx="1645920" cy="347472"/>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1810" y="2505710"/>
            <a:ext cx="1645285" cy="607060"/>
          </a:xfrm>
          <a:prstGeom prst="rect">
            <a:avLst/>
          </a:prstGeom>
          <a:noFill/>
        </p:spPr>
        <p:txBody>
          <a:bodyPr wrap="square">
            <a:noAutofit/>
          </a:bodyPr>
          <a:lstStyle/>
          <a:p>
            <a:pPr algn="l"/>
            <a:r>
              <a:rPr sz="1400" b="1" i="0">
                <a:solidFill>
                  <a:srgbClr val="059669"/>
                </a:solidFill>
                <a:latin typeface="Calibri" panose="020F0502020204030204"/>
              </a:rPr>
              <a:t>Low Risk</a:t>
            </a:r>
            <a:endParaRPr sz="1400" b="1" i="0">
              <a:solidFill>
                <a:srgbClr val="059669"/>
              </a:solidFill>
              <a:latin typeface="Calibri" panose="020F0502020204030204"/>
            </a:endParaRPr>
          </a:p>
        </p:txBody>
      </p:sp>
      <p:sp>
        <p:nvSpPr>
          <p:cNvPr id="30" name="Rectangle 29"/>
          <p:cNvSpPr/>
          <p:nvPr/>
        </p:nvSpPr>
        <p:spPr>
          <a:xfrm>
            <a:off x="2103120" y="2468880"/>
            <a:ext cx="1645920" cy="347472"/>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57730" y="2505710"/>
            <a:ext cx="1657350" cy="360680"/>
          </a:xfrm>
          <a:prstGeom prst="rect">
            <a:avLst/>
          </a:prstGeom>
          <a:noFill/>
        </p:spPr>
        <p:txBody>
          <a:bodyPr wrap="square">
            <a:noAutofit/>
          </a:bodyPr>
          <a:lstStyle/>
          <a:p>
            <a:pPr algn="l"/>
            <a:r>
              <a:rPr sz="1400" b="0" i="0">
                <a:solidFill>
                  <a:srgbClr val="0F172A"/>
                </a:solidFill>
                <a:latin typeface="Calibri" panose="020F0502020204030204"/>
              </a:rPr>
              <a:t>73.3%</a:t>
            </a:r>
            <a:endParaRPr sz="1400" b="0" i="0">
              <a:solidFill>
                <a:srgbClr val="0F172A"/>
              </a:solidFill>
              <a:latin typeface="Calibri" panose="020F0502020204030204"/>
            </a:endParaRPr>
          </a:p>
        </p:txBody>
      </p:sp>
      <p:sp>
        <p:nvSpPr>
          <p:cNvPr id="32" name="Rectangle 31"/>
          <p:cNvSpPr/>
          <p:nvPr/>
        </p:nvSpPr>
        <p:spPr>
          <a:xfrm>
            <a:off x="3749040" y="2468880"/>
            <a:ext cx="1645920" cy="347472"/>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03904" y="2505456"/>
            <a:ext cx="1536192" cy="306705"/>
          </a:xfrm>
          <a:prstGeom prst="rect">
            <a:avLst/>
          </a:prstGeom>
          <a:noFill/>
        </p:spPr>
        <p:txBody>
          <a:bodyPr wrap="square">
            <a:spAutoFit/>
          </a:bodyPr>
          <a:lstStyle/>
          <a:p>
            <a:pPr algn="l"/>
            <a:r>
              <a:rPr sz="1400" b="0" i="0">
                <a:solidFill>
                  <a:srgbClr val="0F172A"/>
                </a:solidFill>
                <a:latin typeface="Calibri" panose="020F0502020204030204"/>
              </a:rPr>
              <a:t>84.6%</a:t>
            </a:r>
            <a:endParaRPr sz="1400" b="0" i="0">
              <a:solidFill>
                <a:srgbClr val="0F172A"/>
              </a:solidFill>
              <a:latin typeface="Calibri" panose="020F0502020204030204"/>
            </a:endParaRPr>
          </a:p>
        </p:txBody>
      </p:sp>
      <p:sp>
        <p:nvSpPr>
          <p:cNvPr id="34" name="Rectangle 33"/>
          <p:cNvSpPr/>
          <p:nvPr/>
        </p:nvSpPr>
        <p:spPr>
          <a:xfrm>
            <a:off x="5394960" y="2468880"/>
            <a:ext cx="1645920" cy="347472"/>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49824" y="2505456"/>
            <a:ext cx="1536192" cy="306705"/>
          </a:xfrm>
          <a:prstGeom prst="rect">
            <a:avLst/>
          </a:prstGeom>
          <a:noFill/>
        </p:spPr>
        <p:txBody>
          <a:bodyPr wrap="square">
            <a:spAutoFit/>
          </a:bodyPr>
          <a:lstStyle/>
          <a:p>
            <a:pPr algn="l"/>
            <a:r>
              <a:rPr sz="1400" b="0" i="0">
                <a:solidFill>
                  <a:srgbClr val="0F172A"/>
                </a:solidFill>
                <a:latin typeface="Calibri" panose="020F0502020204030204"/>
              </a:rPr>
              <a:t>78.5%</a:t>
            </a:r>
            <a:endParaRPr sz="1400" b="0" i="0">
              <a:solidFill>
                <a:srgbClr val="0F172A"/>
              </a:solidFill>
              <a:latin typeface="Calibri" panose="020F0502020204030204"/>
            </a:endParaRPr>
          </a:p>
        </p:txBody>
      </p:sp>
      <p:sp>
        <p:nvSpPr>
          <p:cNvPr id="36" name="Rectangle 35"/>
          <p:cNvSpPr/>
          <p:nvPr/>
        </p:nvSpPr>
        <p:spPr>
          <a:xfrm>
            <a:off x="7040880" y="2468880"/>
            <a:ext cx="4663440" cy="347472"/>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41515" y="2505710"/>
            <a:ext cx="7014845" cy="937260"/>
          </a:xfrm>
          <a:prstGeom prst="rect">
            <a:avLst/>
          </a:prstGeom>
          <a:noFill/>
        </p:spPr>
        <p:txBody>
          <a:bodyPr wrap="square">
            <a:noAutofit/>
          </a:bodyPr>
          <a:lstStyle/>
          <a:p>
            <a:pPr algn="l"/>
            <a:r>
              <a:rPr sz="1400" b="0" i="0">
                <a:solidFill>
                  <a:srgbClr val="0F172A"/>
                </a:solidFill>
                <a:latin typeface="Calibri" panose="020F0502020204030204"/>
              </a:rPr>
              <a:t>26.7% false-positive rate — identified target for future improvement to reduce guardian fatigue</a:t>
            </a:r>
            <a:endParaRPr sz="1400" b="0" i="0">
              <a:solidFill>
                <a:srgbClr val="0F172A"/>
              </a:solidFill>
              <a:latin typeface="Calibri" panose="020F0502020204030204"/>
            </a:endParaRPr>
          </a:p>
        </p:txBody>
      </p:sp>
      <p:sp>
        <p:nvSpPr>
          <p:cNvPr id="38" name="Rectangle 37"/>
          <p:cNvSpPr/>
          <p:nvPr/>
        </p:nvSpPr>
        <p:spPr>
          <a:xfrm>
            <a:off x="457200" y="2816352"/>
            <a:ext cx="1645920" cy="347472"/>
          </a:xfrm>
          <a:prstGeom prst="rect">
            <a:avLst/>
          </a:prstGeom>
          <a:solidFill>
            <a:srgbClr val="EEF2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2064" y="2852928"/>
            <a:ext cx="1536192" cy="306705"/>
          </a:xfrm>
          <a:prstGeom prst="rect">
            <a:avLst/>
          </a:prstGeom>
          <a:noFill/>
        </p:spPr>
        <p:txBody>
          <a:bodyPr wrap="square">
            <a:spAutoFit/>
          </a:bodyPr>
          <a:lstStyle/>
          <a:p>
            <a:pPr algn="l"/>
            <a:r>
              <a:rPr sz="1400" b="1" i="0">
                <a:solidFill>
                  <a:srgbClr val="D97706"/>
                </a:solidFill>
                <a:latin typeface="Calibri" panose="020F0502020204030204"/>
              </a:rPr>
              <a:t>Moderate Risk</a:t>
            </a:r>
            <a:endParaRPr sz="1400" b="1" i="0">
              <a:solidFill>
                <a:srgbClr val="D97706"/>
              </a:solidFill>
              <a:latin typeface="Calibri" panose="020F0502020204030204"/>
            </a:endParaRPr>
          </a:p>
        </p:txBody>
      </p:sp>
      <p:sp>
        <p:nvSpPr>
          <p:cNvPr id="40" name="Rectangle 39"/>
          <p:cNvSpPr/>
          <p:nvPr/>
        </p:nvSpPr>
        <p:spPr>
          <a:xfrm>
            <a:off x="2103120" y="2816352"/>
            <a:ext cx="1645920" cy="347472"/>
          </a:xfrm>
          <a:prstGeom prst="rect">
            <a:avLst/>
          </a:prstGeom>
          <a:solidFill>
            <a:srgbClr val="EEF2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57984" y="2852928"/>
            <a:ext cx="1536192" cy="306705"/>
          </a:xfrm>
          <a:prstGeom prst="rect">
            <a:avLst/>
          </a:prstGeom>
          <a:noFill/>
        </p:spPr>
        <p:txBody>
          <a:bodyPr wrap="square">
            <a:spAutoFit/>
          </a:bodyPr>
          <a:lstStyle/>
          <a:p>
            <a:pPr algn="l"/>
            <a:r>
              <a:rPr sz="1400" b="0" i="0">
                <a:solidFill>
                  <a:srgbClr val="0F172A"/>
                </a:solidFill>
                <a:latin typeface="Calibri" panose="020F0502020204030204"/>
              </a:rPr>
              <a:t>90.0%</a:t>
            </a:r>
            <a:endParaRPr sz="1400" b="0" i="0">
              <a:solidFill>
                <a:srgbClr val="0F172A"/>
              </a:solidFill>
              <a:latin typeface="Calibri" panose="020F0502020204030204"/>
            </a:endParaRPr>
          </a:p>
        </p:txBody>
      </p:sp>
      <p:sp>
        <p:nvSpPr>
          <p:cNvPr id="42" name="Rectangle 41"/>
          <p:cNvSpPr/>
          <p:nvPr/>
        </p:nvSpPr>
        <p:spPr>
          <a:xfrm>
            <a:off x="3749040" y="2816352"/>
            <a:ext cx="1645920" cy="347472"/>
          </a:xfrm>
          <a:prstGeom prst="rect">
            <a:avLst/>
          </a:prstGeom>
          <a:solidFill>
            <a:srgbClr val="EEF2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03904" y="2852928"/>
            <a:ext cx="1536192" cy="306705"/>
          </a:xfrm>
          <a:prstGeom prst="rect">
            <a:avLst/>
          </a:prstGeom>
          <a:noFill/>
        </p:spPr>
        <p:txBody>
          <a:bodyPr wrap="square">
            <a:spAutoFit/>
          </a:bodyPr>
          <a:lstStyle/>
          <a:p>
            <a:pPr algn="l"/>
            <a:r>
              <a:rPr sz="1400" b="0" i="0">
                <a:solidFill>
                  <a:srgbClr val="0F172A"/>
                </a:solidFill>
                <a:latin typeface="Calibri" panose="020F0502020204030204"/>
              </a:rPr>
              <a:t>82.6%</a:t>
            </a:r>
            <a:endParaRPr sz="1400" b="0" i="0">
              <a:solidFill>
                <a:srgbClr val="0F172A"/>
              </a:solidFill>
              <a:latin typeface="Calibri" panose="020F0502020204030204"/>
            </a:endParaRPr>
          </a:p>
        </p:txBody>
      </p:sp>
      <p:sp>
        <p:nvSpPr>
          <p:cNvPr id="44" name="Rectangle 43"/>
          <p:cNvSpPr/>
          <p:nvPr/>
        </p:nvSpPr>
        <p:spPr>
          <a:xfrm>
            <a:off x="5394960" y="2816352"/>
            <a:ext cx="1645920" cy="347472"/>
          </a:xfrm>
          <a:prstGeom prst="rect">
            <a:avLst/>
          </a:prstGeom>
          <a:solidFill>
            <a:srgbClr val="EEF2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49824" y="2852928"/>
            <a:ext cx="1536192" cy="306705"/>
          </a:xfrm>
          <a:prstGeom prst="rect">
            <a:avLst/>
          </a:prstGeom>
          <a:noFill/>
        </p:spPr>
        <p:txBody>
          <a:bodyPr wrap="square">
            <a:spAutoFit/>
          </a:bodyPr>
          <a:lstStyle/>
          <a:p>
            <a:pPr algn="l"/>
            <a:r>
              <a:rPr sz="1400" b="0" i="0">
                <a:solidFill>
                  <a:srgbClr val="0F172A"/>
                </a:solidFill>
                <a:latin typeface="Calibri" panose="020F0502020204030204"/>
              </a:rPr>
              <a:t>86.1%</a:t>
            </a:r>
            <a:endParaRPr sz="1400" b="0" i="0">
              <a:solidFill>
                <a:srgbClr val="0F172A"/>
              </a:solidFill>
              <a:latin typeface="Calibri" panose="020F0502020204030204"/>
            </a:endParaRPr>
          </a:p>
        </p:txBody>
      </p:sp>
      <p:sp>
        <p:nvSpPr>
          <p:cNvPr id="46" name="Rectangle 45"/>
          <p:cNvSpPr/>
          <p:nvPr/>
        </p:nvSpPr>
        <p:spPr>
          <a:xfrm>
            <a:off x="7040880" y="2816352"/>
            <a:ext cx="4663440" cy="347472"/>
          </a:xfrm>
          <a:prstGeom prst="rect">
            <a:avLst/>
          </a:prstGeom>
          <a:solidFill>
            <a:srgbClr val="EEF2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95490" y="2853055"/>
            <a:ext cx="4942840" cy="619125"/>
          </a:xfrm>
          <a:prstGeom prst="rect">
            <a:avLst/>
          </a:prstGeom>
          <a:noFill/>
        </p:spPr>
        <p:txBody>
          <a:bodyPr wrap="square">
            <a:noAutofit/>
          </a:bodyPr>
          <a:lstStyle/>
          <a:p>
            <a:pPr algn="l"/>
            <a:r>
              <a:rPr sz="1400" b="0" i="0">
                <a:solidFill>
                  <a:srgbClr val="0F172A"/>
                </a:solidFill>
                <a:latin typeface="Calibri" panose="020F0502020204030204"/>
              </a:rPr>
              <a:t>Strong identification of borderline cases — supports preventative intervention before escalation</a:t>
            </a:r>
            <a:endParaRPr sz="1400" b="0" i="0">
              <a:solidFill>
                <a:srgbClr val="0F172A"/>
              </a:solidFill>
              <a:latin typeface="Calibri" panose="020F0502020204030204"/>
            </a:endParaRPr>
          </a:p>
        </p:txBody>
      </p:sp>
      <p:sp>
        <p:nvSpPr>
          <p:cNvPr id="48" name="Rectangle 47"/>
          <p:cNvSpPr/>
          <p:nvPr/>
        </p:nvSpPr>
        <p:spPr>
          <a:xfrm>
            <a:off x="457200" y="3163824"/>
            <a:ext cx="1645920" cy="347472"/>
          </a:xfrm>
          <a:prstGeom prst="rect">
            <a:avLst/>
          </a:prstGeom>
          <a:solidFill>
            <a:srgbClr val="FEF2F2"/>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2064" y="3200400"/>
            <a:ext cx="1536192" cy="306705"/>
          </a:xfrm>
          <a:prstGeom prst="rect">
            <a:avLst/>
          </a:prstGeom>
          <a:noFill/>
        </p:spPr>
        <p:txBody>
          <a:bodyPr wrap="square">
            <a:spAutoFit/>
          </a:bodyPr>
          <a:lstStyle/>
          <a:p>
            <a:pPr algn="l"/>
            <a:r>
              <a:rPr sz="1400" b="1" i="0">
                <a:solidFill>
                  <a:srgbClr val="DC2626"/>
                </a:solidFill>
                <a:latin typeface="Calibri" panose="020F0502020204030204"/>
              </a:rPr>
              <a:t>High Risk</a:t>
            </a:r>
            <a:endParaRPr sz="1400" b="1" i="0">
              <a:solidFill>
                <a:srgbClr val="DC2626"/>
              </a:solidFill>
              <a:latin typeface="Calibri" panose="020F0502020204030204"/>
            </a:endParaRPr>
          </a:p>
        </p:txBody>
      </p:sp>
      <p:sp>
        <p:nvSpPr>
          <p:cNvPr id="50" name="Rectangle 49"/>
          <p:cNvSpPr/>
          <p:nvPr/>
        </p:nvSpPr>
        <p:spPr>
          <a:xfrm>
            <a:off x="2103120" y="3163824"/>
            <a:ext cx="1645920" cy="347472"/>
          </a:xfrm>
          <a:prstGeom prst="rect">
            <a:avLst/>
          </a:prstGeom>
          <a:solidFill>
            <a:srgbClr val="FEF2F2"/>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157984" y="3200400"/>
            <a:ext cx="1536192" cy="306705"/>
          </a:xfrm>
          <a:prstGeom prst="rect">
            <a:avLst/>
          </a:prstGeom>
          <a:noFill/>
        </p:spPr>
        <p:txBody>
          <a:bodyPr wrap="square">
            <a:spAutoFit/>
          </a:bodyPr>
          <a:lstStyle/>
          <a:p>
            <a:pPr algn="l"/>
            <a:r>
              <a:rPr sz="1400" b="0" i="0">
                <a:solidFill>
                  <a:srgbClr val="0F172A"/>
                </a:solidFill>
                <a:latin typeface="Calibri" panose="020F0502020204030204"/>
              </a:rPr>
              <a:t>94.4%</a:t>
            </a:r>
            <a:endParaRPr sz="1400" b="0" i="0">
              <a:solidFill>
                <a:srgbClr val="0F172A"/>
              </a:solidFill>
              <a:latin typeface="Calibri" panose="020F0502020204030204"/>
            </a:endParaRPr>
          </a:p>
        </p:txBody>
      </p:sp>
      <p:sp>
        <p:nvSpPr>
          <p:cNvPr id="52" name="Rectangle 51"/>
          <p:cNvSpPr/>
          <p:nvPr/>
        </p:nvSpPr>
        <p:spPr>
          <a:xfrm>
            <a:off x="3749040" y="3163824"/>
            <a:ext cx="1645920" cy="347472"/>
          </a:xfrm>
          <a:prstGeom prst="rect">
            <a:avLst/>
          </a:prstGeom>
          <a:solidFill>
            <a:srgbClr val="FEF2F2"/>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03904" y="3200400"/>
            <a:ext cx="1536192" cy="306705"/>
          </a:xfrm>
          <a:prstGeom prst="rect">
            <a:avLst/>
          </a:prstGeom>
          <a:noFill/>
        </p:spPr>
        <p:txBody>
          <a:bodyPr wrap="square">
            <a:spAutoFit/>
          </a:bodyPr>
          <a:lstStyle/>
          <a:p>
            <a:pPr algn="l"/>
            <a:r>
              <a:rPr sz="1400" b="0" i="0">
                <a:solidFill>
                  <a:srgbClr val="0F172A"/>
                </a:solidFill>
                <a:latin typeface="Calibri" panose="020F0502020204030204"/>
              </a:rPr>
              <a:t>94.1%</a:t>
            </a:r>
            <a:endParaRPr sz="1400" b="0" i="0">
              <a:solidFill>
                <a:srgbClr val="0F172A"/>
              </a:solidFill>
              <a:latin typeface="Calibri" panose="020F0502020204030204"/>
            </a:endParaRPr>
          </a:p>
        </p:txBody>
      </p:sp>
      <p:sp>
        <p:nvSpPr>
          <p:cNvPr id="54" name="Rectangle 53"/>
          <p:cNvSpPr/>
          <p:nvPr/>
        </p:nvSpPr>
        <p:spPr>
          <a:xfrm>
            <a:off x="5394960" y="3163824"/>
            <a:ext cx="1645920" cy="347472"/>
          </a:xfrm>
          <a:prstGeom prst="rect">
            <a:avLst/>
          </a:prstGeom>
          <a:solidFill>
            <a:srgbClr val="FEF2F2"/>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49824" y="3200400"/>
            <a:ext cx="1536192" cy="306705"/>
          </a:xfrm>
          <a:prstGeom prst="rect">
            <a:avLst/>
          </a:prstGeom>
          <a:noFill/>
        </p:spPr>
        <p:txBody>
          <a:bodyPr wrap="square">
            <a:spAutoFit/>
          </a:bodyPr>
          <a:lstStyle/>
          <a:p>
            <a:pPr algn="l"/>
            <a:r>
              <a:rPr sz="1400" b="0" i="0">
                <a:solidFill>
                  <a:srgbClr val="0F172A"/>
                </a:solidFill>
                <a:latin typeface="Calibri" panose="020F0502020204030204"/>
              </a:rPr>
              <a:t>94.1%</a:t>
            </a:r>
            <a:endParaRPr sz="1400" b="0" i="0">
              <a:solidFill>
                <a:srgbClr val="0F172A"/>
              </a:solidFill>
              <a:latin typeface="Calibri" panose="020F0502020204030204"/>
            </a:endParaRPr>
          </a:p>
        </p:txBody>
      </p:sp>
      <p:sp>
        <p:nvSpPr>
          <p:cNvPr id="56" name="Rectangle 55"/>
          <p:cNvSpPr/>
          <p:nvPr/>
        </p:nvSpPr>
        <p:spPr>
          <a:xfrm>
            <a:off x="7040880" y="3163570"/>
            <a:ext cx="4676775" cy="492760"/>
          </a:xfrm>
          <a:prstGeom prst="rect">
            <a:avLst/>
          </a:prstGeom>
          <a:solidFill>
            <a:srgbClr val="FEF2F2"/>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41515" y="3128010"/>
            <a:ext cx="4400550" cy="384175"/>
          </a:xfrm>
          <a:prstGeom prst="rect">
            <a:avLst/>
          </a:prstGeom>
          <a:noFill/>
        </p:spPr>
        <p:txBody>
          <a:bodyPr wrap="square">
            <a:noAutofit/>
          </a:bodyPr>
          <a:lstStyle/>
          <a:p>
            <a:pPr algn="l"/>
            <a:r>
              <a:rPr sz="1400" b="0" i="0">
                <a:solidFill>
                  <a:srgbClr val="DC2626"/>
                </a:solidFill>
                <a:latin typeface="Calibri" panose="020F0502020204030204"/>
              </a:rPr>
              <a:t>✔ MEETS ≥90% clinical safety target</a:t>
            </a:r>
            <a:r>
              <a:rPr lang="en-US" sz="1400" b="0" i="0">
                <a:solidFill>
                  <a:srgbClr val="DC2626"/>
                </a:solidFill>
                <a:latin typeface="Calibri" panose="020F0502020204030204"/>
              </a:rPr>
              <a:t>.</a:t>
            </a:r>
            <a:r>
              <a:rPr sz="1400" b="0" i="0">
                <a:solidFill>
                  <a:srgbClr val="DC2626"/>
                </a:solidFill>
                <a:latin typeface="Calibri" panose="020F0502020204030204"/>
              </a:rPr>
              <a:t> </a:t>
            </a:r>
            <a:r>
              <a:rPr lang="en-US" sz="1400" b="0" i="0">
                <a:solidFill>
                  <a:srgbClr val="DC2626"/>
                </a:solidFill>
                <a:latin typeface="Calibri" panose="020F0502020204030204"/>
              </a:rPr>
              <a:t>M</a:t>
            </a:r>
            <a:r>
              <a:rPr sz="1400" b="0" i="0">
                <a:solidFill>
                  <a:srgbClr val="DC2626"/>
                </a:solidFill>
                <a:latin typeface="Calibri" panose="020F0502020204030204"/>
              </a:rPr>
              <a:t>issing a high-risk user has severe consequences.</a:t>
            </a:r>
            <a:endParaRPr sz="1400" b="0" i="0">
              <a:solidFill>
                <a:srgbClr val="DC2626"/>
              </a:solidFill>
              <a:latin typeface="Calibri" panose="020F0502020204030204"/>
            </a:endParaRPr>
          </a:p>
        </p:txBody>
      </p:sp>
      <p:sp>
        <p:nvSpPr>
          <p:cNvPr id="58" name="TextBox 57"/>
          <p:cNvSpPr txBox="1"/>
          <p:nvPr/>
        </p:nvSpPr>
        <p:spPr>
          <a:xfrm>
            <a:off x="340995" y="4836160"/>
            <a:ext cx="11247120" cy="292608"/>
          </a:xfrm>
          <a:prstGeom prst="rect">
            <a:avLst/>
          </a:prstGeom>
          <a:noFill/>
        </p:spPr>
        <p:txBody>
          <a:bodyPr wrap="square">
            <a:spAutoFit/>
          </a:bodyPr>
          <a:lstStyle/>
          <a:p>
            <a:pPr algn="ctr"/>
            <a:r>
              <a:rPr sz="900" b="0" i="0">
                <a:solidFill>
                  <a:srgbClr val="64748B"/>
                </a:solidFill>
                <a:latin typeface="Calibri" panose="020F0502020204030204"/>
              </a:rPr>
              <a:t>📊 Test samples: 42 hand-curated high-variance instances   ·   🔬 Dataset: Dreaddit (2,838 total samples)   ·   ⏱ 14-day temporal window (DSM-5 aligned)</a:t>
            </a:r>
            <a:endParaRPr sz="900" b="0" i="0">
              <a:solidFill>
                <a:srgbClr val="64748B"/>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457200" y="411480"/>
            <a:ext cx="3541395" cy="255905"/>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RESULTS</a:t>
            </a:r>
            <a:r>
              <a:rPr lang="en-US" sz="2000" b="1">
                <a:solidFill>
                  <a:srgbClr val="FFFFFF"/>
                </a:solidFill>
                <a:latin typeface="Calibri" panose="020F0502020204030204"/>
              </a:rPr>
              <a:t> - Model &amp; Usability</a:t>
            </a:r>
            <a:endParaRPr lang="en-US" sz="2000" b="1">
              <a:solidFill>
                <a:srgbClr val="FFFFFF"/>
              </a:solidFill>
              <a:latin typeface="Calibri" panose="020F0502020204030204"/>
            </a:endParaRP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10</a:t>
            </a:r>
            <a:endParaRPr sz="1000" b="1" i="0">
              <a:solidFill>
                <a:srgbClr val="4F46E5"/>
              </a:solidFill>
              <a:latin typeface="Calibri" panose="020F0502020204030204"/>
            </a:endParaRPr>
          </a:p>
        </p:txBody>
      </p:sp>
      <p:sp>
        <p:nvSpPr>
          <p:cNvPr id="6" name="TextBox 5"/>
          <p:cNvSpPr txBox="1"/>
          <p:nvPr/>
        </p:nvSpPr>
        <p:spPr>
          <a:xfrm>
            <a:off x="457200" y="1115568"/>
            <a:ext cx="5303520" cy="245110"/>
          </a:xfrm>
          <a:prstGeom prst="rect">
            <a:avLst/>
          </a:prstGeom>
          <a:noFill/>
        </p:spPr>
        <p:txBody>
          <a:bodyPr wrap="square">
            <a:spAutoFit/>
          </a:bodyPr>
          <a:lstStyle/>
          <a:p>
            <a:pPr algn="l"/>
            <a:r>
              <a:rPr sz="1000" b="1" i="0">
                <a:solidFill>
                  <a:srgbClr val="4F46E5"/>
                </a:solidFill>
                <a:latin typeface="Calibri" panose="020F0502020204030204"/>
              </a:rPr>
              <a:t>OBJECTIVE III — SYSTEM DELIVERED</a:t>
            </a:r>
            <a:endParaRPr sz="1000" b="1" i="0">
              <a:solidFill>
                <a:srgbClr val="4F46E5"/>
              </a:solidFill>
              <a:latin typeface="Calibri" panose="020F0502020204030204"/>
            </a:endParaRPr>
          </a:p>
        </p:txBody>
      </p:sp>
      <p:sp>
        <p:nvSpPr>
          <p:cNvPr id="7" name="Rectangle 6"/>
          <p:cNvSpPr/>
          <p:nvPr/>
        </p:nvSpPr>
        <p:spPr>
          <a:xfrm>
            <a:off x="457200" y="1417320"/>
            <a:ext cx="53035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17320"/>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27048"/>
            <a:ext cx="457200" cy="411480"/>
          </a:xfrm>
          <a:prstGeom prst="rect">
            <a:avLst/>
          </a:prstGeom>
          <a:noFill/>
        </p:spPr>
        <p:txBody>
          <a:bodyPr wrap="square">
            <a:spAutoFit/>
          </a:bodyPr>
          <a:lstStyle/>
          <a:p>
            <a:pPr algn="l"/>
            <a:r>
              <a:rPr sz="2200" b="0" i="0">
                <a:solidFill>
                  <a:srgbClr val="0F172A"/>
                </a:solidFill>
                <a:latin typeface="Calibri" panose="020F0502020204030204"/>
              </a:rPr>
              <a:t>🔌</a:t>
            </a:r>
            <a:endParaRPr sz="2200" b="0" i="0">
              <a:solidFill>
                <a:srgbClr val="0F172A"/>
              </a:solidFill>
              <a:latin typeface="Calibri" panose="020F0502020204030204"/>
            </a:endParaRPr>
          </a:p>
        </p:txBody>
      </p:sp>
      <p:sp>
        <p:nvSpPr>
          <p:cNvPr id="10" name="TextBox 9"/>
          <p:cNvSpPr txBox="1"/>
          <p:nvPr/>
        </p:nvSpPr>
        <p:spPr>
          <a:xfrm>
            <a:off x="1170432" y="1527048"/>
            <a:ext cx="4480560" cy="337185"/>
          </a:xfrm>
          <a:prstGeom prst="rect">
            <a:avLst/>
          </a:prstGeom>
          <a:noFill/>
        </p:spPr>
        <p:txBody>
          <a:bodyPr wrap="square">
            <a:spAutoFit/>
          </a:bodyPr>
          <a:lstStyle/>
          <a:p>
            <a:pPr algn="l"/>
            <a:r>
              <a:rPr sz="1600" b="1" i="0">
                <a:solidFill>
                  <a:schemeClr val="tx1"/>
                </a:solidFill>
                <a:latin typeface="Calibri" panose="020F0502020204030204"/>
              </a:rPr>
              <a:t>Browser Extension</a:t>
            </a:r>
            <a:endParaRPr sz="1600" b="1" i="0">
              <a:solidFill>
                <a:schemeClr val="tx1"/>
              </a:solidFill>
              <a:latin typeface="Calibri" panose="020F0502020204030204"/>
            </a:endParaRPr>
          </a:p>
        </p:txBody>
      </p:sp>
      <p:sp>
        <p:nvSpPr>
          <p:cNvPr id="11" name="TextBox 10"/>
          <p:cNvSpPr txBox="1"/>
          <p:nvPr/>
        </p:nvSpPr>
        <p:spPr>
          <a:xfrm>
            <a:off x="1170432" y="1819656"/>
            <a:ext cx="4480560" cy="521970"/>
          </a:xfrm>
          <a:prstGeom prst="rect">
            <a:avLst/>
          </a:prstGeom>
          <a:noFill/>
        </p:spPr>
        <p:txBody>
          <a:bodyPr wrap="square">
            <a:spAutoFit/>
          </a:bodyPr>
          <a:lstStyle/>
          <a:p>
            <a:pPr algn="l"/>
            <a:r>
              <a:rPr sz="1400" b="0" i="0">
                <a:solidFill>
                  <a:schemeClr val="tx1"/>
                </a:solidFill>
                <a:latin typeface="Calibri" panose="020F0502020204030204"/>
              </a:rPr>
              <a:t>Passively captures typed text. Encrypts &amp; transmits to API. Supports Chrome.</a:t>
            </a:r>
            <a:endParaRPr sz="1400" b="0" i="0">
              <a:solidFill>
                <a:schemeClr val="tx1"/>
              </a:solidFill>
              <a:latin typeface="Calibri" panose="020F0502020204030204"/>
            </a:endParaRPr>
          </a:p>
        </p:txBody>
      </p:sp>
      <p:sp>
        <p:nvSpPr>
          <p:cNvPr id="12" name="Rectangle 11"/>
          <p:cNvSpPr/>
          <p:nvPr/>
        </p:nvSpPr>
        <p:spPr>
          <a:xfrm>
            <a:off x="457200" y="2697480"/>
            <a:ext cx="53035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697480"/>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07208"/>
            <a:ext cx="457200" cy="411480"/>
          </a:xfrm>
          <a:prstGeom prst="rect">
            <a:avLst/>
          </a:prstGeom>
          <a:noFill/>
        </p:spPr>
        <p:txBody>
          <a:bodyPr wrap="square">
            <a:spAutoFit/>
          </a:bodyPr>
          <a:lstStyle/>
          <a:p>
            <a:pPr algn="l"/>
            <a:r>
              <a:rPr sz="2200" b="0" i="0">
                <a:solidFill>
                  <a:srgbClr val="0F172A"/>
                </a:solidFill>
                <a:latin typeface="Calibri" panose="020F0502020204030204"/>
              </a:rPr>
              <a:t>🤖</a:t>
            </a:r>
            <a:endParaRPr sz="2200" b="0" i="0">
              <a:solidFill>
                <a:srgbClr val="0F172A"/>
              </a:solidFill>
              <a:latin typeface="Calibri" panose="020F0502020204030204"/>
            </a:endParaRPr>
          </a:p>
        </p:txBody>
      </p:sp>
      <p:sp>
        <p:nvSpPr>
          <p:cNvPr id="15" name="TextBox 14"/>
          <p:cNvSpPr txBox="1"/>
          <p:nvPr/>
        </p:nvSpPr>
        <p:spPr>
          <a:xfrm>
            <a:off x="1170432" y="2807208"/>
            <a:ext cx="4480560" cy="337185"/>
          </a:xfrm>
          <a:prstGeom prst="rect">
            <a:avLst/>
          </a:prstGeom>
          <a:noFill/>
        </p:spPr>
        <p:txBody>
          <a:bodyPr wrap="square">
            <a:spAutoFit/>
          </a:bodyPr>
          <a:lstStyle/>
          <a:p>
            <a:pPr algn="l"/>
            <a:r>
              <a:rPr sz="1600" b="1" i="0">
                <a:solidFill>
                  <a:srgbClr val="0F172A"/>
                </a:solidFill>
                <a:latin typeface="Calibri" panose="020F0502020204030204"/>
              </a:rPr>
              <a:t>RAG Risk Engine</a:t>
            </a:r>
            <a:endParaRPr sz="1600" b="1" i="0">
              <a:solidFill>
                <a:srgbClr val="0F172A"/>
              </a:solidFill>
              <a:latin typeface="Calibri" panose="020F0502020204030204"/>
            </a:endParaRPr>
          </a:p>
        </p:txBody>
      </p:sp>
      <p:sp>
        <p:nvSpPr>
          <p:cNvPr id="16" name="TextBox 15"/>
          <p:cNvSpPr txBox="1"/>
          <p:nvPr/>
        </p:nvSpPr>
        <p:spPr>
          <a:xfrm>
            <a:off x="1170432" y="3099816"/>
            <a:ext cx="4480560" cy="521970"/>
          </a:xfrm>
          <a:prstGeom prst="rect">
            <a:avLst/>
          </a:prstGeom>
          <a:noFill/>
        </p:spPr>
        <p:txBody>
          <a:bodyPr wrap="square">
            <a:spAutoFit/>
          </a:bodyPr>
          <a:lstStyle/>
          <a:p>
            <a:pPr algn="l"/>
            <a:r>
              <a:rPr sz="1400" b="0" i="0">
                <a:solidFill>
                  <a:schemeClr val="tx1"/>
                </a:solidFill>
                <a:latin typeface="Calibri" panose="020F0502020204030204"/>
              </a:rPr>
              <a:t>FAISS retrieval + Gemini LLM classifies text into Low / Moderate / High risk using a 3-stage mathematical formula.</a:t>
            </a:r>
            <a:endParaRPr sz="1400" b="0" i="0">
              <a:solidFill>
                <a:schemeClr val="tx1"/>
              </a:solidFill>
              <a:latin typeface="Calibri" panose="020F0502020204030204"/>
            </a:endParaRPr>
          </a:p>
        </p:txBody>
      </p:sp>
      <p:sp>
        <p:nvSpPr>
          <p:cNvPr id="17" name="Rectangle 16"/>
          <p:cNvSpPr/>
          <p:nvPr/>
        </p:nvSpPr>
        <p:spPr>
          <a:xfrm>
            <a:off x="457200" y="3977640"/>
            <a:ext cx="53035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977640"/>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087368"/>
            <a:ext cx="457200" cy="411480"/>
          </a:xfrm>
          <a:prstGeom prst="rect">
            <a:avLst/>
          </a:prstGeom>
          <a:noFill/>
        </p:spPr>
        <p:txBody>
          <a:bodyPr wrap="square">
            <a:spAutoFit/>
          </a:bodyPr>
          <a:lstStyle/>
          <a:p>
            <a:pPr algn="l"/>
            <a:r>
              <a:rPr sz="2200" b="0" i="0">
                <a:solidFill>
                  <a:srgbClr val="0F172A"/>
                </a:solidFill>
                <a:latin typeface="Calibri" panose="020F0502020204030204"/>
              </a:rPr>
              <a:t>🔔</a:t>
            </a:r>
            <a:endParaRPr sz="2200" b="0" i="0">
              <a:solidFill>
                <a:srgbClr val="0F172A"/>
              </a:solidFill>
              <a:latin typeface="Calibri" panose="020F0502020204030204"/>
            </a:endParaRPr>
          </a:p>
        </p:txBody>
      </p:sp>
      <p:sp>
        <p:nvSpPr>
          <p:cNvPr id="20" name="TextBox 19"/>
          <p:cNvSpPr txBox="1"/>
          <p:nvPr/>
        </p:nvSpPr>
        <p:spPr>
          <a:xfrm>
            <a:off x="1170432" y="4087368"/>
            <a:ext cx="4480560" cy="337185"/>
          </a:xfrm>
          <a:prstGeom prst="rect">
            <a:avLst/>
          </a:prstGeom>
          <a:noFill/>
        </p:spPr>
        <p:txBody>
          <a:bodyPr wrap="square">
            <a:spAutoFit/>
          </a:bodyPr>
          <a:lstStyle/>
          <a:p>
            <a:pPr algn="l"/>
            <a:r>
              <a:rPr sz="1600" b="1" i="0">
                <a:solidFill>
                  <a:schemeClr val="tx1"/>
                </a:solidFill>
                <a:latin typeface="Calibri" panose="020F0502020204030204"/>
              </a:rPr>
              <a:t>Guardian Dashboard</a:t>
            </a:r>
            <a:endParaRPr sz="1600" b="1" i="0">
              <a:solidFill>
                <a:schemeClr val="tx1"/>
              </a:solidFill>
              <a:latin typeface="Calibri" panose="020F0502020204030204"/>
            </a:endParaRPr>
          </a:p>
        </p:txBody>
      </p:sp>
      <p:sp>
        <p:nvSpPr>
          <p:cNvPr id="21" name="TextBox 20"/>
          <p:cNvSpPr txBox="1"/>
          <p:nvPr/>
        </p:nvSpPr>
        <p:spPr>
          <a:xfrm>
            <a:off x="1170432" y="4379976"/>
            <a:ext cx="4480560" cy="521970"/>
          </a:xfrm>
          <a:prstGeom prst="rect">
            <a:avLst/>
          </a:prstGeom>
          <a:noFill/>
        </p:spPr>
        <p:txBody>
          <a:bodyPr wrap="square">
            <a:spAutoFit/>
          </a:bodyPr>
          <a:lstStyle/>
          <a:p>
            <a:pPr algn="l"/>
            <a:r>
              <a:rPr sz="1400" b="0" i="0">
                <a:solidFill>
                  <a:schemeClr val="tx1"/>
                </a:solidFill>
                <a:latin typeface="Calibri" panose="020F0502020204030204"/>
              </a:rPr>
              <a:t>Real-time risk alerts. Consent management. Timeline of risk events per adolescent.</a:t>
            </a:r>
            <a:endParaRPr sz="1400" b="0" i="0">
              <a:solidFill>
                <a:schemeClr val="tx1"/>
              </a:solidFill>
              <a:latin typeface="Calibri" panose="020F0502020204030204"/>
            </a:endParaRPr>
          </a:p>
        </p:txBody>
      </p:sp>
      <p:sp>
        <p:nvSpPr>
          <p:cNvPr id="22" name="Rectangle 21"/>
          <p:cNvSpPr/>
          <p:nvPr/>
        </p:nvSpPr>
        <p:spPr>
          <a:xfrm>
            <a:off x="457200" y="5257800"/>
            <a:ext cx="53035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257800"/>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367528"/>
            <a:ext cx="457200" cy="411480"/>
          </a:xfrm>
          <a:prstGeom prst="rect">
            <a:avLst/>
          </a:prstGeom>
          <a:noFill/>
        </p:spPr>
        <p:txBody>
          <a:bodyPr wrap="square">
            <a:spAutoFit/>
          </a:bodyPr>
          <a:lstStyle/>
          <a:p>
            <a:pPr algn="l"/>
            <a:r>
              <a:rPr sz="2200" b="0" i="0">
                <a:solidFill>
                  <a:srgbClr val="0F172A"/>
                </a:solidFill>
                <a:latin typeface="Calibri" panose="020F0502020204030204"/>
              </a:rPr>
              <a:t>🔒</a:t>
            </a:r>
            <a:endParaRPr sz="2200" b="0" i="0">
              <a:solidFill>
                <a:srgbClr val="0F172A"/>
              </a:solidFill>
              <a:latin typeface="Calibri" panose="020F0502020204030204"/>
            </a:endParaRPr>
          </a:p>
        </p:txBody>
      </p:sp>
      <p:sp>
        <p:nvSpPr>
          <p:cNvPr id="25" name="TextBox 24"/>
          <p:cNvSpPr txBox="1"/>
          <p:nvPr/>
        </p:nvSpPr>
        <p:spPr>
          <a:xfrm>
            <a:off x="1170432" y="5367528"/>
            <a:ext cx="4480560" cy="337185"/>
          </a:xfrm>
          <a:prstGeom prst="rect">
            <a:avLst/>
          </a:prstGeom>
          <a:noFill/>
        </p:spPr>
        <p:txBody>
          <a:bodyPr wrap="square">
            <a:spAutoFit/>
          </a:bodyPr>
          <a:lstStyle/>
          <a:p>
            <a:pPr algn="l"/>
            <a:r>
              <a:rPr sz="1600" b="1" i="0">
                <a:solidFill>
                  <a:schemeClr val="tx1"/>
                </a:solidFill>
                <a:latin typeface="Calibri" panose="020F0502020204030204"/>
              </a:rPr>
              <a:t>Privacy-First</a:t>
            </a:r>
            <a:endParaRPr sz="1600" b="1" i="0">
              <a:solidFill>
                <a:schemeClr val="tx1"/>
              </a:solidFill>
              <a:latin typeface="Calibri" panose="020F0502020204030204"/>
            </a:endParaRPr>
          </a:p>
        </p:txBody>
      </p:sp>
      <p:sp>
        <p:nvSpPr>
          <p:cNvPr id="26" name="TextBox 25"/>
          <p:cNvSpPr txBox="1"/>
          <p:nvPr/>
        </p:nvSpPr>
        <p:spPr>
          <a:xfrm>
            <a:off x="1170432" y="5660136"/>
            <a:ext cx="4480560" cy="521970"/>
          </a:xfrm>
          <a:prstGeom prst="rect">
            <a:avLst/>
          </a:prstGeom>
          <a:noFill/>
        </p:spPr>
        <p:txBody>
          <a:bodyPr wrap="square">
            <a:spAutoFit/>
          </a:bodyPr>
          <a:lstStyle/>
          <a:p>
            <a:pPr algn="l"/>
            <a:r>
              <a:rPr sz="1400" b="0" i="0">
                <a:solidFill>
                  <a:schemeClr val="tx1"/>
                </a:solidFill>
                <a:latin typeface="Calibri" panose="020F0502020204030204"/>
              </a:rPr>
              <a:t>Explicit opt-in consent. Encrypted transmission (TLS). No password or sensitive field capture.</a:t>
            </a:r>
            <a:endParaRPr sz="1400" b="0" i="0">
              <a:solidFill>
                <a:schemeClr val="tx1"/>
              </a:solidFill>
              <a:latin typeface="Calibri" panose="020F0502020204030204"/>
            </a:endParaRPr>
          </a:p>
        </p:txBody>
      </p:sp>
      <p:sp>
        <p:nvSpPr>
          <p:cNvPr id="27" name="TextBox 26"/>
          <p:cNvSpPr txBox="1"/>
          <p:nvPr/>
        </p:nvSpPr>
        <p:spPr>
          <a:xfrm>
            <a:off x="6035040" y="1115568"/>
            <a:ext cx="5669280" cy="245110"/>
          </a:xfrm>
          <a:prstGeom prst="rect">
            <a:avLst/>
          </a:prstGeom>
          <a:noFill/>
        </p:spPr>
        <p:txBody>
          <a:bodyPr wrap="square">
            <a:spAutoFit/>
          </a:bodyPr>
          <a:lstStyle/>
          <a:p>
            <a:pPr algn="l"/>
            <a:r>
              <a:rPr sz="1000" b="1" i="0">
                <a:solidFill>
                  <a:srgbClr val="059669"/>
                </a:solidFill>
                <a:latin typeface="Calibri" panose="020F0502020204030204"/>
              </a:rPr>
              <a:t>OBJECTIVE IV — SUS USABILITY RESULTS</a:t>
            </a:r>
            <a:endParaRPr sz="1000" b="1" i="0">
              <a:solidFill>
                <a:srgbClr val="059669"/>
              </a:solidFill>
              <a:latin typeface="Calibri" panose="020F0502020204030204"/>
            </a:endParaRPr>
          </a:p>
        </p:txBody>
      </p:sp>
      <p:sp>
        <p:nvSpPr>
          <p:cNvPr id="28" name="Rectangle 27"/>
          <p:cNvSpPr/>
          <p:nvPr/>
        </p:nvSpPr>
        <p:spPr>
          <a:xfrm>
            <a:off x="6035040" y="1417320"/>
            <a:ext cx="5669280" cy="3154680"/>
          </a:xfrm>
          <a:prstGeom prst="rect">
            <a:avLst/>
          </a:prstGeom>
          <a:solidFill>
            <a:srgbClr val="FFFFFF"/>
          </a:solidFill>
          <a:ln w="1016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0" y="1554480"/>
            <a:ext cx="5303520" cy="306705"/>
          </a:xfrm>
          <a:prstGeom prst="rect">
            <a:avLst/>
          </a:prstGeom>
          <a:noFill/>
        </p:spPr>
        <p:txBody>
          <a:bodyPr wrap="square">
            <a:spAutoFit/>
          </a:bodyPr>
          <a:lstStyle/>
          <a:p>
            <a:pPr algn="l"/>
            <a:r>
              <a:rPr sz="1400" b="0" i="0">
                <a:solidFill>
                  <a:srgbClr val="64748B"/>
                </a:solidFill>
                <a:latin typeface="Calibri" panose="020F0502020204030204"/>
              </a:rPr>
              <a:t>Average SUS Score</a:t>
            </a:r>
            <a:endParaRPr sz="1400" b="0" i="0">
              <a:solidFill>
                <a:srgbClr val="64748B"/>
              </a:solidFill>
              <a:latin typeface="Calibri" panose="020F0502020204030204"/>
            </a:endParaRPr>
          </a:p>
        </p:txBody>
      </p:sp>
      <p:sp>
        <p:nvSpPr>
          <p:cNvPr id="30" name="TextBox 29"/>
          <p:cNvSpPr txBox="1"/>
          <p:nvPr/>
        </p:nvSpPr>
        <p:spPr>
          <a:xfrm>
            <a:off x="6217920" y="1828800"/>
            <a:ext cx="2560320" cy="731520"/>
          </a:xfrm>
          <a:prstGeom prst="rect">
            <a:avLst/>
          </a:prstGeom>
          <a:noFill/>
        </p:spPr>
        <p:txBody>
          <a:bodyPr wrap="square">
            <a:spAutoFit/>
          </a:bodyPr>
          <a:lstStyle/>
          <a:p>
            <a:pPr algn="l"/>
            <a:r>
              <a:rPr sz="4400" b="1" i="0">
                <a:solidFill>
                  <a:srgbClr val="059669"/>
                </a:solidFill>
                <a:latin typeface="Calibri" panose="020F0502020204030204"/>
              </a:rPr>
              <a:t>69.1</a:t>
            </a:r>
            <a:endParaRPr sz="4400" b="1" i="0">
              <a:solidFill>
                <a:srgbClr val="059669"/>
              </a:solidFill>
              <a:latin typeface="Calibri" panose="020F0502020204030204"/>
            </a:endParaRPr>
          </a:p>
        </p:txBody>
      </p:sp>
      <p:sp>
        <p:nvSpPr>
          <p:cNvPr id="31" name="TextBox 30"/>
          <p:cNvSpPr txBox="1"/>
          <p:nvPr/>
        </p:nvSpPr>
        <p:spPr>
          <a:xfrm>
            <a:off x="9326880" y="1828800"/>
            <a:ext cx="2194560" cy="256032"/>
          </a:xfrm>
          <a:prstGeom prst="rect">
            <a:avLst/>
          </a:prstGeom>
          <a:noFill/>
        </p:spPr>
        <p:txBody>
          <a:bodyPr wrap="square">
            <a:spAutoFit/>
          </a:bodyPr>
          <a:lstStyle/>
          <a:p>
            <a:pPr algn="r"/>
            <a:r>
              <a:rPr sz="900" b="0" i="0">
                <a:solidFill>
                  <a:srgbClr val="64748B"/>
                </a:solidFill>
                <a:latin typeface="Calibri" panose="020F0502020204030204"/>
              </a:rPr>
              <a:t>24 Participants</a:t>
            </a:r>
            <a:endParaRPr sz="900" b="0" i="0">
              <a:solidFill>
                <a:srgbClr val="64748B"/>
              </a:solidFill>
              <a:latin typeface="Calibri" panose="020F0502020204030204"/>
            </a:endParaRPr>
          </a:p>
        </p:txBody>
      </p:sp>
      <p:sp>
        <p:nvSpPr>
          <p:cNvPr id="32" name="Rectangle 31"/>
          <p:cNvSpPr/>
          <p:nvPr/>
        </p:nvSpPr>
        <p:spPr>
          <a:xfrm>
            <a:off x="9144000" y="2121408"/>
            <a:ext cx="2377440" cy="292608"/>
          </a:xfrm>
          <a:prstGeom prst="rect">
            <a:avLst/>
          </a:prstGeom>
          <a:solidFill>
            <a:srgbClr val="ECFDF5"/>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0" y="2148840"/>
            <a:ext cx="2377440" cy="237744"/>
          </a:xfrm>
          <a:prstGeom prst="rect">
            <a:avLst/>
          </a:prstGeom>
          <a:noFill/>
        </p:spPr>
        <p:txBody>
          <a:bodyPr wrap="square">
            <a:spAutoFit/>
          </a:bodyPr>
          <a:lstStyle/>
          <a:p>
            <a:pPr algn="ctr"/>
            <a:r>
              <a:rPr sz="900" b="1" i="0">
                <a:solidFill>
                  <a:srgbClr val="059669"/>
                </a:solidFill>
                <a:latin typeface="Calibri" panose="020F0502020204030204"/>
              </a:rPr>
              <a:t>✔ ABOVE AVERAGE</a:t>
            </a:r>
            <a:endParaRPr sz="900" b="1" i="0">
              <a:solidFill>
                <a:srgbClr val="059669"/>
              </a:solidFill>
              <a:latin typeface="Calibri" panose="020F0502020204030204"/>
            </a:endParaRPr>
          </a:p>
        </p:txBody>
      </p:sp>
      <p:sp>
        <p:nvSpPr>
          <p:cNvPr id="34" name="Rectangle 33"/>
          <p:cNvSpPr/>
          <p:nvPr/>
        </p:nvSpPr>
        <p:spPr>
          <a:xfrm>
            <a:off x="6217920" y="2606040"/>
            <a:ext cx="5303520" cy="201168"/>
          </a:xfrm>
          <a:prstGeom prst="rect">
            <a:avLst/>
          </a:prstGeom>
          <a:solidFill>
            <a:srgbClr val="E2E8F0"/>
          </a:solidFill>
          <a:ln w="25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0" y="2606040"/>
            <a:ext cx="3664732" cy="20116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35040" y="2852928"/>
            <a:ext cx="457200" cy="201168"/>
          </a:xfrm>
          <a:prstGeom prst="rect">
            <a:avLst/>
          </a:prstGeom>
          <a:noFill/>
        </p:spPr>
        <p:txBody>
          <a:bodyPr wrap="square">
            <a:spAutoFit/>
          </a:bodyPr>
          <a:lstStyle/>
          <a:p>
            <a:pPr algn="ctr"/>
            <a:r>
              <a:rPr sz="800" b="0" i="0">
                <a:solidFill>
                  <a:srgbClr val="64748B"/>
                </a:solidFill>
                <a:latin typeface="Calibri" panose="020F0502020204030204"/>
              </a:rPr>
              <a:t>0</a:t>
            </a:r>
            <a:endParaRPr sz="800" b="0" i="0">
              <a:solidFill>
                <a:srgbClr val="64748B"/>
              </a:solidFill>
              <a:latin typeface="Calibri" panose="020F0502020204030204"/>
            </a:endParaRPr>
          </a:p>
        </p:txBody>
      </p:sp>
      <p:sp>
        <p:nvSpPr>
          <p:cNvPr id="37" name="TextBox 36"/>
          <p:cNvSpPr txBox="1"/>
          <p:nvPr/>
        </p:nvSpPr>
        <p:spPr>
          <a:xfrm>
            <a:off x="9641433" y="2852928"/>
            <a:ext cx="457200" cy="201168"/>
          </a:xfrm>
          <a:prstGeom prst="rect">
            <a:avLst/>
          </a:prstGeom>
          <a:noFill/>
        </p:spPr>
        <p:txBody>
          <a:bodyPr wrap="square">
            <a:spAutoFit/>
          </a:bodyPr>
          <a:lstStyle/>
          <a:p>
            <a:pPr algn="ctr"/>
            <a:r>
              <a:rPr sz="800" b="0" i="0">
                <a:solidFill>
                  <a:srgbClr val="64748B"/>
                </a:solidFill>
                <a:latin typeface="Calibri" panose="020F0502020204030204"/>
              </a:rPr>
              <a:t>68 Avg</a:t>
            </a:r>
            <a:endParaRPr sz="800" b="0" i="0">
              <a:solidFill>
                <a:srgbClr val="64748B"/>
              </a:solidFill>
              <a:latin typeface="Calibri" panose="020F0502020204030204"/>
            </a:endParaRPr>
          </a:p>
        </p:txBody>
      </p:sp>
      <p:sp>
        <p:nvSpPr>
          <p:cNvPr id="38" name="TextBox 37"/>
          <p:cNvSpPr txBox="1"/>
          <p:nvPr/>
        </p:nvSpPr>
        <p:spPr>
          <a:xfrm>
            <a:off x="11201400" y="2852928"/>
            <a:ext cx="457200" cy="201168"/>
          </a:xfrm>
          <a:prstGeom prst="rect">
            <a:avLst/>
          </a:prstGeom>
          <a:noFill/>
        </p:spPr>
        <p:txBody>
          <a:bodyPr wrap="square">
            <a:spAutoFit/>
          </a:bodyPr>
          <a:lstStyle/>
          <a:p>
            <a:pPr algn="ctr"/>
            <a:r>
              <a:rPr sz="800" b="0" i="0">
                <a:solidFill>
                  <a:srgbClr val="64748B"/>
                </a:solidFill>
                <a:latin typeface="Calibri" panose="020F0502020204030204"/>
              </a:rPr>
              <a:t>100</a:t>
            </a:r>
            <a:endParaRPr sz="800" b="0" i="0">
              <a:solidFill>
                <a:srgbClr val="64748B"/>
              </a:solidFill>
              <a:latin typeface="Calibri" panose="020F0502020204030204"/>
            </a:endParaRPr>
          </a:p>
        </p:txBody>
      </p:sp>
      <p:sp>
        <p:nvSpPr>
          <p:cNvPr id="39" name="Rectangle 38"/>
          <p:cNvSpPr/>
          <p:nvPr/>
        </p:nvSpPr>
        <p:spPr>
          <a:xfrm>
            <a:off x="6217920" y="3127248"/>
            <a:ext cx="5303520" cy="1261872"/>
          </a:xfrm>
          <a:prstGeom prst="rect">
            <a:avLst/>
          </a:prstGeom>
          <a:solidFill>
            <a:srgbClr val="EEF2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3200400"/>
            <a:ext cx="5029200" cy="1014730"/>
          </a:xfrm>
          <a:prstGeom prst="rect">
            <a:avLst/>
          </a:prstGeom>
          <a:noFill/>
        </p:spPr>
        <p:txBody>
          <a:bodyPr wrap="square">
            <a:spAutoFit/>
          </a:bodyPr>
          <a:lstStyle/>
          <a:p>
            <a:pPr algn="l"/>
            <a:r>
              <a:rPr sz="1200" b="0" i="0">
                <a:solidFill>
                  <a:srgbClr val="0F172A"/>
                </a:solidFill>
                <a:latin typeface="Calibri" panose="020F0502020204030204"/>
              </a:rPr>
              <a:t>💬 User Feedback:
"Users want to see WHY a risk was assigned — not just the severity level."
→ Identified as top recommendation for future work:
   Explainable AI (XAI) Insights Panel</a:t>
            </a:r>
            <a:endParaRPr sz="1200" b="0" i="0">
              <a:solidFill>
                <a:srgbClr val="0F172A"/>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457200" y="411480"/>
            <a:ext cx="4422775" cy="255905"/>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SIGNIFICANCE</a:t>
            </a:r>
            <a:r>
              <a:rPr lang="en-US" sz="2000" b="1">
                <a:solidFill>
                  <a:srgbClr val="FFFFFF"/>
                </a:solidFill>
                <a:latin typeface="Calibri" panose="020F0502020204030204"/>
              </a:rPr>
              <a:t> - Contribution &amp; Impact</a:t>
            </a:r>
            <a:endParaRPr lang="en-US" sz="2000" b="1">
              <a:solidFill>
                <a:srgbClr val="FFFFFF"/>
              </a:solidFill>
              <a:latin typeface="Calibri" panose="020F0502020204030204"/>
            </a:endParaRP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11</a:t>
            </a:r>
            <a:endParaRPr sz="1000" b="1" i="0">
              <a:solidFill>
                <a:srgbClr val="4F46E5"/>
              </a:solidFill>
              <a:latin typeface="Calibri" panose="020F0502020204030204"/>
            </a:endParaRPr>
          </a:p>
        </p:txBody>
      </p:sp>
      <p:sp>
        <p:nvSpPr>
          <p:cNvPr id="6" name="TextBox 5"/>
          <p:cNvSpPr txBox="1"/>
          <p:nvPr/>
        </p:nvSpPr>
        <p:spPr>
          <a:xfrm>
            <a:off x="457200" y="1115568"/>
            <a:ext cx="5303520" cy="275590"/>
          </a:xfrm>
          <a:prstGeom prst="rect">
            <a:avLst/>
          </a:prstGeom>
          <a:noFill/>
        </p:spPr>
        <p:txBody>
          <a:bodyPr wrap="square">
            <a:spAutoFit/>
          </a:bodyPr>
          <a:lstStyle/>
          <a:p>
            <a:pPr algn="l"/>
            <a:r>
              <a:rPr sz="1200" b="1" i="0">
                <a:solidFill>
                  <a:srgbClr val="4F46E5"/>
                </a:solidFill>
                <a:latin typeface="Calibri" panose="020F0502020204030204"/>
              </a:rPr>
              <a:t>FOR THE USER</a:t>
            </a:r>
            <a:endParaRPr sz="1200" b="1" i="0">
              <a:solidFill>
                <a:srgbClr val="4F46E5"/>
              </a:solidFill>
              <a:latin typeface="Calibri" panose="020F0502020204030204"/>
            </a:endParaRPr>
          </a:p>
        </p:txBody>
      </p:sp>
      <p:sp>
        <p:nvSpPr>
          <p:cNvPr id="7" name="TextBox 6"/>
          <p:cNvSpPr txBox="1"/>
          <p:nvPr/>
        </p:nvSpPr>
        <p:spPr>
          <a:xfrm>
            <a:off x="6217920" y="1115568"/>
            <a:ext cx="5303520" cy="275590"/>
          </a:xfrm>
          <a:prstGeom prst="rect">
            <a:avLst/>
          </a:prstGeom>
          <a:noFill/>
        </p:spPr>
        <p:txBody>
          <a:bodyPr wrap="square">
            <a:spAutoFit/>
          </a:bodyPr>
          <a:lstStyle/>
          <a:p>
            <a:pPr algn="l"/>
            <a:r>
              <a:rPr sz="1200" b="1" i="0">
                <a:solidFill>
                  <a:srgbClr val="059669"/>
                </a:solidFill>
                <a:latin typeface="Calibri" panose="020F0502020204030204"/>
              </a:rPr>
              <a:t>FOR THE FIELD</a:t>
            </a:r>
            <a:endParaRPr sz="1200" b="1" i="0">
              <a:solidFill>
                <a:srgbClr val="059669"/>
              </a:solidFill>
              <a:latin typeface="Calibri" panose="020F0502020204030204"/>
            </a:endParaRPr>
          </a:p>
        </p:txBody>
      </p:sp>
      <p:sp>
        <p:nvSpPr>
          <p:cNvPr id="8" name="Rectangle 7"/>
          <p:cNvSpPr/>
          <p:nvPr/>
        </p:nvSpPr>
        <p:spPr>
          <a:xfrm>
            <a:off x="457200" y="1481328"/>
            <a:ext cx="5486400" cy="15544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91056"/>
            <a:ext cx="502920" cy="457200"/>
          </a:xfrm>
          <a:prstGeom prst="rect">
            <a:avLst/>
          </a:prstGeom>
          <a:noFill/>
        </p:spPr>
        <p:txBody>
          <a:bodyPr wrap="square">
            <a:spAutoFit/>
          </a:bodyPr>
          <a:lstStyle/>
          <a:p>
            <a:pPr algn="l"/>
            <a:r>
              <a:rPr sz="2200" b="0" i="0">
                <a:solidFill>
                  <a:srgbClr val="0F172A"/>
                </a:solidFill>
                <a:latin typeface="Calibri" panose="020F0502020204030204"/>
              </a:rPr>
              <a:t>👧</a:t>
            </a:r>
            <a:endParaRPr sz="2200" b="0" i="0">
              <a:solidFill>
                <a:srgbClr val="0F172A"/>
              </a:solidFill>
              <a:latin typeface="Calibri" panose="020F0502020204030204"/>
            </a:endParaRPr>
          </a:p>
        </p:txBody>
      </p:sp>
      <p:sp>
        <p:nvSpPr>
          <p:cNvPr id="10" name="TextBox 9"/>
          <p:cNvSpPr txBox="1"/>
          <p:nvPr/>
        </p:nvSpPr>
        <p:spPr>
          <a:xfrm>
            <a:off x="1234440" y="1591056"/>
            <a:ext cx="4572000" cy="337185"/>
          </a:xfrm>
          <a:prstGeom prst="rect">
            <a:avLst/>
          </a:prstGeom>
          <a:noFill/>
        </p:spPr>
        <p:txBody>
          <a:bodyPr wrap="square">
            <a:spAutoFit/>
          </a:bodyPr>
          <a:lstStyle/>
          <a:p>
            <a:pPr algn="l"/>
            <a:r>
              <a:rPr sz="1600" b="1" i="0">
                <a:solidFill>
                  <a:srgbClr val="0F172A"/>
                </a:solidFill>
                <a:latin typeface="Calibri" panose="020F0502020204030204"/>
              </a:rPr>
              <a:t>Zero-Effort Protection</a:t>
            </a:r>
            <a:endParaRPr sz="1600" b="1" i="0">
              <a:solidFill>
                <a:srgbClr val="0F172A"/>
              </a:solidFill>
              <a:latin typeface="Calibri" panose="020F0502020204030204"/>
            </a:endParaRPr>
          </a:p>
        </p:txBody>
      </p:sp>
      <p:sp>
        <p:nvSpPr>
          <p:cNvPr id="11" name="TextBox 10"/>
          <p:cNvSpPr txBox="1"/>
          <p:nvPr/>
        </p:nvSpPr>
        <p:spPr>
          <a:xfrm>
            <a:off x="1234440" y="1883664"/>
            <a:ext cx="4572000" cy="737235"/>
          </a:xfrm>
          <a:prstGeom prst="rect">
            <a:avLst/>
          </a:prstGeom>
          <a:noFill/>
        </p:spPr>
        <p:txBody>
          <a:bodyPr wrap="square">
            <a:spAutoFit/>
          </a:bodyPr>
          <a:lstStyle/>
          <a:p>
            <a:pPr algn="l"/>
            <a:r>
              <a:rPr sz="1400" b="0" i="0">
                <a:solidFill>
                  <a:schemeClr val="tx1"/>
                </a:solidFill>
                <a:latin typeface="Calibri" panose="020F0502020204030204"/>
              </a:rPr>
              <a:t>Adolescents receive protection without any active engagement or self-reporting — removing the biggest barrier to mental health support.</a:t>
            </a:r>
            <a:endParaRPr sz="1400" b="0" i="0">
              <a:solidFill>
                <a:schemeClr val="tx1"/>
              </a:solidFill>
              <a:latin typeface="Calibri" panose="020F0502020204030204"/>
            </a:endParaRPr>
          </a:p>
        </p:txBody>
      </p:sp>
      <p:sp>
        <p:nvSpPr>
          <p:cNvPr id="12" name="Rectangle 11"/>
          <p:cNvSpPr/>
          <p:nvPr/>
        </p:nvSpPr>
        <p:spPr>
          <a:xfrm>
            <a:off x="457200" y="3081528"/>
            <a:ext cx="5486400" cy="15544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191256"/>
            <a:ext cx="502920" cy="457200"/>
          </a:xfrm>
          <a:prstGeom prst="rect">
            <a:avLst/>
          </a:prstGeom>
          <a:noFill/>
        </p:spPr>
        <p:txBody>
          <a:bodyPr wrap="square">
            <a:spAutoFit/>
          </a:bodyPr>
          <a:lstStyle/>
          <a:p>
            <a:pPr algn="l"/>
            <a:r>
              <a:rPr sz="2200" b="0" i="0">
                <a:solidFill>
                  <a:srgbClr val="0F172A"/>
                </a:solidFill>
                <a:latin typeface="Calibri" panose="020F0502020204030204"/>
              </a:rPr>
              <a:t>👨‍👩‍👧</a:t>
            </a:r>
            <a:endParaRPr sz="2200" b="0" i="0">
              <a:solidFill>
                <a:srgbClr val="0F172A"/>
              </a:solidFill>
              <a:latin typeface="Calibri" panose="020F0502020204030204"/>
            </a:endParaRPr>
          </a:p>
        </p:txBody>
      </p:sp>
      <p:sp>
        <p:nvSpPr>
          <p:cNvPr id="14" name="TextBox 13"/>
          <p:cNvSpPr txBox="1"/>
          <p:nvPr/>
        </p:nvSpPr>
        <p:spPr>
          <a:xfrm>
            <a:off x="1234440" y="3191256"/>
            <a:ext cx="4572000" cy="337185"/>
          </a:xfrm>
          <a:prstGeom prst="rect">
            <a:avLst/>
          </a:prstGeom>
          <a:noFill/>
        </p:spPr>
        <p:txBody>
          <a:bodyPr wrap="square">
            <a:spAutoFit/>
          </a:bodyPr>
          <a:lstStyle/>
          <a:p>
            <a:pPr algn="l"/>
            <a:r>
              <a:rPr sz="1600" b="1" i="0">
                <a:solidFill>
                  <a:srgbClr val="0F172A"/>
                </a:solidFill>
                <a:latin typeface="Calibri" panose="020F0502020204030204"/>
              </a:rPr>
              <a:t>Empowered Guardians</a:t>
            </a:r>
            <a:endParaRPr sz="1600" b="1" i="0">
              <a:solidFill>
                <a:srgbClr val="0F172A"/>
              </a:solidFill>
              <a:latin typeface="Calibri" panose="020F0502020204030204"/>
            </a:endParaRPr>
          </a:p>
        </p:txBody>
      </p:sp>
      <p:sp>
        <p:nvSpPr>
          <p:cNvPr id="15" name="TextBox 14"/>
          <p:cNvSpPr txBox="1"/>
          <p:nvPr/>
        </p:nvSpPr>
        <p:spPr>
          <a:xfrm>
            <a:off x="1234440" y="3483864"/>
            <a:ext cx="4572000" cy="737235"/>
          </a:xfrm>
          <a:prstGeom prst="rect">
            <a:avLst/>
          </a:prstGeom>
          <a:noFill/>
        </p:spPr>
        <p:txBody>
          <a:bodyPr wrap="square">
            <a:spAutoFit/>
          </a:bodyPr>
          <a:lstStyle/>
          <a:p>
            <a:pPr algn="l"/>
            <a:r>
              <a:rPr sz="1400" b="0" i="0">
                <a:solidFill>
                  <a:srgbClr val="334155"/>
                </a:solidFill>
                <a:latin typeface="Calibri" panose="020F0502020204030204"/>
              </a:rPr>
              <a:t>Parents and carers receive timely, actionable alerts enabling earlier conversations and professional referrals before crises escalate.</a:t>
            </a:r>
            <a:endParaRPr sz="1400" b="0" i="0">
              <a:solidFill>
                <a:srgbClr val="334155"/>
              </a:solidFill>
              <a:latin typeface="Calibri" panose="020F0502020204030204"/>
            </a:endParaRPr>
          </a:p>
        </p:txBody>
      </p:sp>
      <p:sp>
        <p:nvSpPr>
          <p:cNvPr id="16" name="Rectangle 15"/>
          <p:cNvSpPr/>
          <p:nvPr/>
        </p:nvSpPr>
        <p:spPr>
          <a:xfrm>
            <a:off x="457200" y="4681728"/>
            <a:ext cx="5486400" cy="15544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791456"/>
            <a:ext cx="502920" cy="457200"/>
          </a:xfrm>
          <a:prstGeom prst="rect">
            <a:avLst/>
          </a:prstGeom>
          <a:noFill/>
        </p:spPr>
        <p:txBody>
          <a:bodyPr wrap="square">
            <a:spAutoFit/>
          </a:bodyPr>
          <a:lstStyle/>
          <a:p>
            <a:pPr algn="l"/>
            <a:r>
              <a:rPr sz="2200" b="0" i="0">
                <a:solidFill>
                  <a:srgbClr val="0F172A"/>
                </a:solidFill>
                <a:latin typeface="Calibri" panose="020F0502020204030204"/>
              </a:rPr>
              <a:t>🔒</a:t>
            </a:r>
            <a:endParaRPr sz="2200" b="0" i="0">
              <a:solidFill>
                <a:srgbClr val="0F172A"/>
              </a:solidFill>
              <a:latin typeface="Calibri" panose="020F0502020204030204"/>
            </a:endParaRPr>
          </a:p>
        </p:txBody>
      </p:sp>
      <p:sp>
        <p:nvSpPr>
          <p:cNvPr id="18" name="TextBox 17"/>
          <p:cNvSpPr txBox="1"/>
          <p:nvPr/>
        </p:nvSpPr>
        <p:spPr>
          <a:xfrm>
            <a:off x="1234440" y="4791456"/>
            <a:ext cx="4572000" cy="337185"/>
          </a:xfrm>
          <a:prstGeom prst="rect">
            <a:avLst/>
          </a:prstGeom>
          <a:noFill/>
        </p:spPr>
        <p:txBody>
          <a:bodyPr wrap="square">
            <a:spAutoFit/>
          </a:bodyPr>
          <a:lstStyle/>
          <a:p>
            <a:pPr algn="l"/>
            <a:r>
              <a:rPr sz="1600" b="1" i="0">
                <a:solidFill>
                  <a:srgbClr val="0F172A"/>
                </a:solidFill>
                <a:latin typeface="Calibri" panose="020F0502020204030204"/>
              </a:rPr>
              <a:t>Privacy-First Design</a:t>
            </a:r>
            <a:endParaRPr sz="1600" b="1" i="0">
              <a:solidFill>
                <a:srgbClr val="0F172A"/>
              </a:solidFill>
              <a:latin typeface="Calibri" panose="020F0502020204030204"/>
            </a:endParaRPr>
          </a:p>
        </p:txBody>
      </p:sp>
      <p:sp>
        <p:nvSpPr>
          <p:cNvPr id="19" name="TextBox 18"/>
          <p:cNvSpPr txBox="1"/>
          <p:nvPr/>
        </p:nvSpPr>
        <p:spPr>
          <a:xfrm>
            <a:off x="1234440" y="5084064"/>
            <a:ext cx="4572000" cy="737235"/>
          </a:xfrm>
          <a:prstGeom prst="rect">
            <a:avLst/>
          </a:prstGeom>
          <a:noFill/>
        </p:spPr>
        <p:txBody>
          <a:bodyPr wrap="square">
            <a:spAutoFit/>
          </a:bodyPr>
          <a:lstStyle/>
          <a:p>
            <a:pPr algn="l"/>
            <a:r>
              <a:rPr sz="1400" b="0" i="0">
                <a:solidFill>
                  <a:srgbClr val="334155"/>
                </a:solidFill>
                <a:latin typeface="Calibri" panose="020F0502020204030204"/>
              </a:rPr>
              <a:t>Explicit consent architecture ensures users retain full control over their data, building trust that existing monitoring tools lack.</a:t>
            </a:r>
            <a:endParaRPr sz="1400" b="0" i="0">
              <a:solidFill>
                <a:srgbClr val="334155"/>
              </a:solidFill>
              <a:latin typeface="Calibri" panose="020F0502020204030204"/>
            </a:endParaRPr>
          </a:p>
        </p:txBody>
      </p:sp>
      <p:sp>
        <p:nvSpPr>
          <p:cNvPr id="20" name="Rectangle 19"/>
          <p:cNvSpPr/>
          <p:nvPr/>
        </p:nvSpPr>
        <p:spPr>
          <a:xfrm>
            <a:off x="6217920" y="1481328"/>
            <a:ext cx="5486400" cy="15544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1591056"/>
            <a:ext cx="502920" cy="457200"/>
          </a:xfrm>
          <a:prstGeom prst="rect">
            <a:avLst/>
          </a:prstGeom>
          <a:noFill/>
        </p:spPr>
        <p:txBody>
          <a:bodyPr wrap="square">
            <a:spAutoFit/>
          </a:bodyPr>
          <a:lstStyle/>
          <a:p>
            <a:pPr algn="l"/>
            <a:r>
              <a:rPr sz="2200" b="0" i="0">
                <a:solidFill>
                  <a:srgbClr val="0F172A"/>
                </a:solidFill>
                <a:latin typeface="Calibri" panose="020F0502020204030204"/>
              </a:rPr>
              <a:t>🔬</a:t>
            </a:r>
            <a:endParaRPr sz="2200" b="0" i="0">
              <a:solidFill>
                <a:srgbClr val="0F172A"/>
              </a:solidFill>
              <a:latin typeface="Calibri" panose="020F0502020204030204"/>
            </a:endParaRPr>
          </a:p>
        </p:txBody>
      </p:sp>
      <p:sp>
        <p:nvSpPr>
          <p:cNvPr id="22" name="TextBox 21"/>
          <p:cNvSpPr txBox="1"/>
          <p:nvPr/>
        </p:nvSpPr>
        <p:spPr>
          <a:xfrm>
            <a:off x="6995160" y="1591056"/>
            <a:ext cx="4572000" cy="337185"/>
          </a:xfrm>
          <a:prstGeom prst="rect">
            <a:avLst/>
          </a:prstGeom>
          <a:noFill/>
        </p:spPr>
        <p:txBody>
          <a:bodyPr wrap="square">
            <a:spAutoFit/>
          </a:bodyPr>
          <a:lstStyle/>
          <a:p>
            <a:pPr algn="l"/>
            <a:r>
              <a:rPr sz="1600" b="1" i="0">
                <a:solidFill>
                  <a:srgbClr val="0F172A"/>
                </a:solidFill>
                <a:latin typeface="Calibri" panose="020F0502020204030204"/>
              </a:rPr>
              <a:t>Novel RAG Application</a:t>
            </a:r>
            <a:endParaRPr sz="1600" b="1" i="0">
              <a:solidFill>
                <a:srgbClr val="0F172A"/>
              </a:solidFill>
              <a:latin typeface="Calibri" panose="020F0502020204030204"/>
            </a:endParaRPr>
          </a:p>
        </p:txBody>
      </p:sp>
      <p:sp>
        <p:nvSpPr>
          <p:cNvPr id="23" name="TextBox 22"/>
          <p:cNvSpPr txBox="1"/>
          <p:nvPr/>
        </p:nvSpPr>
        <p:spPr>
          <a:xfrm>
            <a:off x="6995160" y="1883664"/>
            <a:ext cx="4572000" cy="737235"/>
          </a:xfrm>
          <a:prstGeom prst="rect">
            <a:avLst/>
          </a:prstGeom>
          <a:noFill/>
        </p:spPr>
        <p:txBody>
          <a:bodyPr wrap="square">
            <a:spAutoFit/>
          </a:bodyPr>
          <a:lstStyle/>
          <a:p>
            <a:pPr algn="l"/>
            <a:r>
              <a:rPr sz="1400" b="0" i="0">
                <a:solidFill>
                  <a:srgbClr val="334155"/>
                </a:solidFill>
                <a:latin typeface="Calibri" panose="020F0502020204030204"/>
              </a:rPr>
              <a:t>First application of FAISS-backed RAG retrieval to passive browser telemetry for adolescent mental health — a new Digital Phenotyping paradigm.</a:t>
            </a:r>
            <a:endParaRPr sz="1400" b="0" i="0">
              <a:solidFill>
                <a:srgbClr val="334155"/>
              </a:solidFill>
              <a:latin typeface="Calibri" panose="020F0502020204030204"/>
            </a:endParaRPr>
          </a:p>
        </p:txBody>
      </p:sp>
      <p:sp>
        <p:nvSpPr>
          <p:cNvPr id="24" name="Rectangle 23"/>
          <p:cNvSpPr/>
          <p:nvPr/>
        </p:nvSpPr>
        <p:spPr>
          <a:xfrm>
            <a:off x="6217920" y="3081528"/>
            <a:ext cx="5486400" cy="15544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3191256"/>
            <a:ext cx="502920" cy="457200"/>
          </a:xfrm>
          <a:prstGeom prst="rect">
            <a:avLst/>
          </a:prstGeom>
          <a:noFill/>
        </p:spPr>
        <p:txBody>
          <a:bodyPr wrap="square">
            <a:spAutoFit/>
          </a:bodyPr>
          <a:lstStyle/>
          <a:p>
            <a:pPr algn="l"/>
            <a:r>
              <a:rPr sz="2200" b="0" i="0">
                <a:solidFill>
                  <a:srgbClr val="0F172A"/>
                </a:solidFill>
                <a:latin typeface="Calibri" panose="020F0502020204030204"/>
              </a:rPr>
              <a:t>🏥</a:t>
            </a:r>
            <a:endParaRPr sz="2200" b="0" i="0">
              <a:solidFill>
                <a:srgbClr val="0F172A"/>
              </a:solidFill>
              <a:latin typeface="Calibri" panose="020F0502020204030204"/>
            </a:endParaRPr>
          </a:p>
        </p:txBody>
      </p:sp>
      <p:sp>
        <p:nvSpPr>
          <p:cNvPr id="26" name="TextBox 25"/>
          <p:cNvSpPr txBox="1"/>
          <p:nvPr/>
        </p:nvSpPr>
        <p:spPr>
          <a:xfrm>
            <a:off x="6995160" y="3191256"/>
            <a:ext cx="4572000" cy="337185"/>
          </a:xfrm>
          <a:prstGeom prst="rect">
            <a:avLst/>
          </a:prstGeom>
          <a:noFill/>
        </p:spPr>
        <p:txBody>
          <a:bodyPr wrap="square">
            <a:spAutoFit/>
          </a:bodyPr>
          <a:lstStyle/>
          <a:p>
            <a:pPr algn="l"/>
            <a:r>
              <a:rPr sz="1600" b="1" i="0">
                <a:solidFill>
                  <a:srgbClr val="0F172A"/>
                </a:solidFill>
                <a:latin typeface="Calibri" panose="020F0502020204030204"/>
              </a:rPr>
              <a:t>Clinical Safety Framework</a:t>
            </a:r>
            <a:endParaRPr sz="1600" b="1" i="0">
              <a:solidFill>
                <a:srgbClr val="0F172A"/>
              </a:solidFill>
              <a:latin typeface="Calibri" panose="020F0502020204030204"/>
            </a:endParaRPr>
          </a:p>
        </p:txBody>
      </p:sp>
      <p:sp>
        <p:nvSpPr>
          <p:cNvPr id="27" name="TextBox 26"/>
          <p:cNvSpPr txBox="1"/>
          <p:nvPr/>
        </p:nvSpPr>
        <p:spPr>
          <a:xfrm>
            <a:off x="6995160" y="3483864"/>
            <a:ext cx="4572000" cy="737235"/>
          </a:xfrm>
          <a:prstGeom prst="rect">
            <a:avLst/>
          </a:prstGeom>
          <a:noFill/>
        </p:spPr>
        <p:txBody>
          <a:bodyPr wrap="square">
            <a:spAutoFit/>
          </a:bodyPr>
          <a:lstStyle/>
          <a:p>
            <a:pPr algn="l"/>
            <a:r>
              <a:rPr sz="1400" b="0" i="0">
                <a:solidFill>
                  <a:srgbClr val="334155"/>
                </a:solidFill>
                <a:latin typeface="Calibri" panose="020F0502020204030204"/>
              </a:rPr>
              <a:t>Explicit ≥90% High-Risk Recall target aligned with clinical triage standards — bridging AI detection and clinical safety benchmarks.</a:t>
            </a:r>
            <a:endParaRPr sz="1400" b="0" i="0">
              <a:solidFill>
                <a:srgbClr val="334155"/>
              </a:solidFill>
              <a:latin typeface="Calibri" panose="020F0502020204030204"/>
            </a:endParaRPr>
          </a:p>
        </p:txBody>
      </p:sp>
      <p:sp>
        <p:nvSpPr>
          <p:cNvPr id="28" name="Rectangle 27"/>
          <p:cNvSpPr/>
          <p:nvPr/>
        </p:nvSpPr>
        <p:spPr>
          <a:xfrm>
            <a:off x="6217920" y="4681728"/>
            <a:ext cx="5486400" cy="15544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4791456"/>
            <a:ext cx="502920" cy="457200"/>
          </a:xfrm>
          <a:prstGeom prst="rect">
            <a:avLst/>
          </a:prstGeom>
          <a:noFill/>
        </p:spPr>
        <p:txBody>
          <a:bodyPr wrap="square">
            <a:spAutoFit/>
          </a:bodyPr>
          <a:lstStyle/>
          <a:p>
            <a:pPr algn="l"/>
            <a:r>
              <a:rPr sz="2200" b="0" i="0">
                <a:solidFill>
                  <a:srgbClr val="0F172A"/>
                </a:solidFill>
                <a:latin typeface="Calibri" panose="020F0502020204030204"/>
              </a:rPr>
              <a:t>🔭</a:t>
            </a:r>
            <a:endParaRPr sz="2200" b="0" i="0">
              <a:solidFill>
                <a:srgbClr val="0F172A"/>
              </a:solidFill>
              <a:latin typeface="Calibri" panose="020F0502020204030204"/>
            </a:endParaRPr>
          </a:p>
        </p:txBody>
      </p:sp>
      <p:sp>
        <p:nvSpPr>
          <p:cNvPr id="30" name="TextBox 29"/>
          <p:cNvSpPr txBox="1"/>
          <p:nvPr/>
        </p:nvSpPr>
        <p:spPr>
          <a:xfrm>
            <a:off x="6995160" y="4791456"/>
            <a:ext cx="4572000" cy="337185"/>
          </a:xfrm>
          <a:prstGeom prst="rect">
            <a:avLst/>
          </a:prstGeom>
          <a:noFill/>
        </p:spPr>
        <p:txBody>
          <a:bodyPr wrap="square">
            <a:spAutoFit/>
          </a:bodyPr>
          <a:lstStyle/>
          <a:p>
            <a:pPr algn="l"/>
            <a:r>
              <a:rPr sz="1600" b="1" i="0">
                <a:solidFill>
                  <a:srgbClr val="0F172A"/>
                </a:solidFill>
                <a:latin typeface="Calibri" panose="020F0502020204030204"/>
              </a:rPr>
              <a:t>Explainability Roadmap</a:t>
            </a:r>
            <a:endParaRPr sz="1600" b="1" i="0">
              <a:solidFill>
                <a:srgbClr val="0F172A"/>
              </a:solidFill>
              <a:latin typeface="Calibri" panose="020F0502020204030204"/>
            </a:endParaRPr>
          </a:p>
        </p:txBody>
      </p:sp>
      <p:sp>
        <p:nvSpPr>
          <p:cNvPr id="31" name="TextBox 30"/>
          <p:cNvSpPr txBox="1"/>
          <p:nvPr/>
        </p:nvSpPr>
        <p:spPr>
          <a:xfrm>
            <a:off x="6995160" y="5084064"/>
            <a:ext cx="4572000" cy="737235"/>
          </a:xfrm>
          <a:prstGeom prst="rect">
            <a:avLst/>
          </a:prstGeom>
          <a:noFill/>
        </p:spPr>
        <p:txBody>
          <a:bodyPr wrap="square">
            <a:spAutoFit/>
          </a:bodyPr>
          <a:lstStyle/>
          <a:p>
            <a:pPr algn="l"/>
            <a:r>
              <a:rPr sz="1400" b="0" i="0">
                <a:solidFill>
                  <a:srgbClr val="334155"/>
                </a:solidFill>
                <a:latin typeface="Calibri" panose="020F0502020204030204"/>
              </a:rPr>
              <a:t>User-driven recommendation for an XAI Insights Panel transforms the dashboard from an alerting tool to an educational clinical instrument.</a:t>
            </a:r>
            <a:endParaRPr sz="1400" b="0" i="0">
              <a:solidFill>
                <a:srgbClr val="334155"/>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457200" y="411480"/>
            <a:ext cx="2767965" cy="255905"/>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CONCLUSION</a:t>
            </a:r>
            <a:endParaRPr sz="2000" b="1">
              <a:solidFill>
                <a:srgbClr val="FFFFFF"/>
              </a:solidFill>
              <a:latin typeface="Calibri" panose="020F0502020204030204"/>
            </a:endParaRP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12</a:t>
            </a:r>
            <a:endParaRPr sz="1000" b="1" i="0">
              <a:solidFill>
                <a:srgbClr val="4F46E5"/>
              </a:solidFill>
              <a:latin typeface="Calibri" panose="020F0502020204030204"/>
            </a:endParaRPr>
          </a:p>
        </p:txBody>
      </p:sp>
      <p:sp>
        <p:nvSpPr>
          <p:cNvPr id="6" name="Rectangle 5"/>
          <p:cNvSpPr/>
          <p:nvPr/>
        </p:nvSpPr>
        <p:spPr>
          <a:xfrm>
            <a:off x="457200" y="1170432"/>
            <a:ext cx="11247120" cy="80467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320040" cy="337185"/>
          </a:xfrm>
          <a:prstGeom prst="rect">
            <a:avLst/>
          </a:prstGeom>
          <a:noFill/>
        </p:spPr>
        <p:txBody>
          <a:bodyPr wrap="square">
            <a:spAutoFit/>
          </a:bodyPr>
          <a:lstStyle/>
          <a:p>
            <a:pPr algn="l"/>
            <a:r>
              <a:rPr sz="1600" b="1" i="0">
                <a:solidFill>
                  <a:srgbClr val="4F46E5"/>
                </a:solidFill>
                <a:latin typeface="Calibri" panose="020F0502020204030204"/>
              </a:rPr>
              <a:t>✔</a:t>
            </a:r>
            <a:endParaRPr sz="1600" b="1" i="0">
              <a:solidFill>
                <a:srgbClr val="4F46E5"/>
              </a:solidFill>
              <a:latin typeface="Calibri" panose="020F0502020204030204"/>
            </a:endParaRPr>
          </a:p>
        </p:txBody>
      </p:sp>
      <p:sp>
        <p:nvSpPr>
          <p:cNvPr id="8" name="TextBox 7"/>
          <p:cNvSpPr txBox="1"/>
          <p:nvPr/>
        </p:nvSpPr>
        <p:spPr>
          <a:xfrm>
            <a:off x="1051560" y="1298448"/>
            <a:ext cx="10515600" cy="306705"/>
          </a:xfrm>
          <a:prstGeom prst="rect">
            <a:avLst/>
          </a:prstGeom>
          <a:noFill/>
        </p:spPr>
        <p:txBody>
          <a:bodyPr wrap="square">
            <a:spAutoFit/>
          </a:bodyPr>
          <a:lstStyle/>
          <a:p>
            <a:pPr algn="l"/>
            <a:r>
              <a:rPr sz="1400" b="0" i="0">
                <a:solidFill>
                  <a:schemeClr val="tx1"/>
                </a:solidFill>
                <a:latin typeface="Calibri" panose="020F0502020204030204"/>
              </a:rPr>
              <a:t>Developed a fully functional browser extension that passively detects depressive language with 88.1% overall accuracy.</a:t>
            </a:r>
            <a:endParaRPr sz="1400" b="0" i="0">
              <a:solidFill>
                <a:schemeClr val="tx1"/>
              </a:solidFill>
              <a:latin typeface="Calibri" panose="020F0502020204030204"/>
            </a:endParaRPr>
          </a:p>
        </p:txBody>
      </p:sp>
      <p:sp>
        <p:nvSpPr>
          <p:cNvPr id="9" name="Rectangle 8"/>
          <p:cNvSpPr/>
          <p:nvPr/>
        </p:nvSpPr>
        <p:spPr>
          <a:xfrm>
            <a:off x="457200" y="2029968"/>
            <a:ext cx="11247120" cy="80467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212848"/>
            <a:ext cx="320040" cy="411480"/>
          </a:xfrm>
          <a:prstGeom prst="rect">
            <a:avLst/>
          </a:prstGeom>
          <a:noFill/>
        </p:spPr>
        <p:txBody>
          <a:bodyPr wrap="square">
            <a:spAutoFit/>
          </a:bodyPr>
          <a:lstStyle/>
          <a:p>
            <a:pPr algn="l"/>
            <a:r>
              <a:rPr sz="1800" b="1" i="0">
                <a:solidFill>
                  <a:srgbClr val="4F46E5"/>
                </a:solidFill>
                <a:latin typeface="Calibri" panose="020F0502020204030204"/>
              </a:rPr>
              <a:t>✔</a:t>
            </a:r>
            <a:endParaRPr sz="1800" b="1" i="0">
              <a:solidFill>
                <a:srgbClr val="4F46E5"/>
              </a:solidFill>
              <a:latin typeface="Calibri" panose="020F0502020204030204"/>
            </a:endParaRPr>
          </a:p>
        </p:txBody>
      </p:sp>
      <p:sp>
        <p:nvSpPr>
          <p:cNvPr id="11" name="TextBox 10"/>
          <p:cNvSpPr txBox="1"/>
          <p:nvPr/>
        </p:nvSpPr>
        <p:spPr>
          <a:xfrm>
            <a:off x="1051560" y="2157984"/>
            <a:ext cx="10515600" cy="521970"/>
          </a:xfrm>
          <a:prstGeom prst="rect">
            <a:avLst/>
          </a:prstGeom>
          <a:noFill/>
        </p:spPr>
        <p:txBody>
          <a:bodyPr wrap="square">
            <a:spAutoFit/>
          </a:bodyPr>
          <a:lstStyle/>
          <a:p>
            <a:pPr algn="l"/>
            <a:r>
              <a:rPr sz="1400" b="0" i="0">
                <a:solidFill>
                  <a:srgbClr val="0F172A"/>
                </a:solidFill>
                <a:latin typeface="Calibri" panose="020F0502020204030204"/>
              </a:rPr>
              <a:t>Implemented a novel RAG-driven LLM pipeline (FAISS + Gemini), achieving a clinically critical High-Risk Recall of 94.1% — surpassing the ≥90% safety target.</a:t>
            </a:r>
            <a:endParaRPr sz="1400" b="0" i="0">
              <a:solidFill>
                <a:srgbClr val="0F172A"/>
              </a:solidFill>
              <a:latin typeface="Calibri" panose="020F0502020204030204"/>
            </a:endParaRPr>
          </a:p>
        </p:txBody>
      </p:sp>
      <p:sp>
        <p:nvSpPr>
          <p:cNvPr id="12" name="Rectangle 11"/>
          <p:cNvSpPr/>
          <p:nvPr/>
        </p:nvSpPr>
        <p:spPr>
          <a:xfrm>
            <a:off x="457200" y="2889504"/>
            <a:ext cx="11247120" cy="80467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072384"/>
            <a:ext cx="320040" cy="411480"/>
          </a:xfrm>
          <a:prstGeom prst="rect">
            <a:avLst/>
          </a:prstGeom>
          <a:noFill/>
        </p:spPr>
        <p:txBody>
          <a:bodyPr wrap="square">
            <a:spAutoFit/>
          </a:bodyPr>
          <a:lstStyle/>
          <a:p>
            <a:pPr algn="l"/>
            <a:r>
              <a:rPr sz="1800" b="1" i="0">
                <a:solidFill>
                  <a:srgbClr val="4F46E5"/>
                </a:solidFill>
                <a:latin typeface="Calibri" panose="020F0502020204030204"/>
              </a:rPr>
              <a:t>✔</a:t>
            </a:r>
            <a:endParaRPr sz="1800" b="1" i="0">
              <a:solidFill>
                <a:srgbClr val="4F46E5"/>
              </a:solidFill>
              <a:latin typeface="Calibri" panose="020F0502020204030204"/>
            </a:endParaRPr>
          </a:p>
        </p:txBody>
      </p:sp>
      <p:sp>
        <p:nvSpPr>
          <p:cNvPr id="14" name="TextBox 13"/>
          <p:cNvSpPr txBox="1"/>
          <p:nvPr/>
        </p:nvSpPr>
        <p:spPr>
          <a:xfrm>
            <a:off x="1051560" y="3017520"/>
            <a:ext cx="10515600" cy="306705"/>
          </a:xfrm>
          <a:prstGeom prst="rect">
            <a:avLst/>
          </a:prstGeom>
          <a:noFill/>
        </p:spPr>
        <p:txBody>
          <a:bodyPr wrap="square">
            <a:spAutoFit/>
          </a:bodyPr>
          <a:lstStyle/>
          <a:p>
            <a:pPr algn="l"/>
            <a:r>
              <a:rPr sz="1400" b="0" i="0">
                <a:solidFill>
                  <a:srgbClr val="0F172A"/>
                </a:solidFill>
                <a:latin typeface="Calibri" panose="020F0502020204030204"/>
              </a:rPr>
              <a:t>Built a complete guardian escalation framework with a real-time dashboard, consent management, and automated alert notifications.</a:t>
            </a:r>
            <a:endParaRPr sz="1400" b="0" i="0">
              <a:solidFill>
                <a:srgbClr val="0F172A"/>
              </a:solidFill>
              <a:latin typeface="Calibri" panose="020F0502020204030204"/>
            </a:endParaRPr>
          </a:p>
        </p:txBody>
      </p:sp>
      <p:sp>
        <p:nvSpPr>
          <p:cNvPr id="15" name="Rectangle 14"/>
          <p:cNvSpPr/>
          <p:nvPr/>
        </p:nvSpPr>
        <p:spPr>
          <a:xfrm>
            <a:off x="457200" y="3749040"/>
            <a:ext cx="11247120" cy="80467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931920"/>
            <a:ext cx="320040" cy="411480"/>
          </a:xfrm>
          <a:prstGeom prst="rect">
            <a:avLst/>
          </a:prstGeom>
          <a:noFill/>
        </p:spPr>
        <p:txBody>
          <a:bodyPr wrap="square">
            <a:spAutoFit/>
          </a:bodyPr>
          <a:lstStyle/>
          <a:p>
            <a:pPr algn="l"/>
            <a:r>
              <a:rPr sz="1800" b="1" i="0">
                <a:solidFill>
                  <a:srgbClr val="4F46E5"/>
                </a:solidFill>
                <a:latin typeface="Calibri" panose="020F0502020204030204"/>
              </a:rPr>
              <a:t>✔</a:t>
            </a:r>
            <a:endParaRPr sz="1800" b="1" i="0">
              <a:solidFill>
                <a:srgbClr val="4F46E5"/>
              </a:solidFill>
              <a:latin typeface="Calibri" panose="020F0502020204030204"/>
            </a:endParaRPr>
          </a:p>
        </p:txBody>
      </p:sp>
      <p:sp>
        <p:nvSpPr>
          <p:cNvPr id="17" name="TextBox 16"/>
          <p:cNvSpPr txBox="1"/>
          <p:nvPr/>
        </p:nvSpPr>
        <p:spPr>
          <a:xfrm>
            <a:off x="1051560" y="3877056"/>
            <a:ext cx="10515600" cy="306705"/>
          </a:xfrm>
          <a:prstGeom prst="rect">
            <a:avLst/>
          </a:prstGeom>
          <a:noFill/>
        </p:spPr>
        <p:txBody>
          <a:bodyPr wrap="square">
            <a:spAutoFit/>
          </a:bodyPr>
          <a:lstStyle/>
          <a:p>
            <a:pPr algn="l"/>
            <a:r>
              <a:rPr sz="1400" b="0" i="0">
                <a:solidFill>
                  <a:schemeClr val="tx1"/>
                </a:solidFill>
                <a:latin typeface="Calibri" panose="020F0502020204030204"/>
              </a:rPr>
              <a:t>Validated usability with 24 participants achieving a SUS score of 69.1 (Above Average) — confirming accessibility for non-technical users.</a:t>
            </a:r>
            <a:endParaRPr sz="1400" b="0" i="0">
              <a:solidFill>
                <a:schemeClr val="tx1"/>
              </a:solidFill>
              <a:latin typeface="Calibri" panose="020F0502020204030204"/>
            </a:endParaRPr>
          </a:p>
        </p:txBody>
      </p:sp>
      <p:sp>
        <p:nvSpPr>
          <p:cNvPr id="18" name="Rectangle 17"/>
          <p:cNvSpPr/>
          <p:nvPr/>
        </p:nvSpPr>
        <p:spPr>
          <a:xfrm>
            <a:off x="457200" y="4608576"/>
            <a:ext cx="11247120" cy="80467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791456"/>
            <a:ext cx="320040" cy="411480"/>
          </a:xfrm>
          <a:prstGeom prst="rect">
            <a:avLst/>
          </a:prstGeom>
          <a:noFill/>
        </p:spPr>
        <p:txBody>
          <a:bodyPr wrap="square">
            <a:spAutoFit/>
          </a:bodyPr>
          <a:lstStyle/>
          <a:p>
            <a:pPr algn="l"/>
            <a:r>
              <a:rPr sz="1800" b="1" i="0">
                <a:solidFill>
                  <a:srgbClr val="4F46E5"/>
                </a:solidFill>
                <a:latin typeface="Calibri" panose="020F0502020204030204"/>
              </a:rPr>
              <a:t>✔</a:t>
            </a:r>
            <a:endParaRPr sz="1800" b="1" i="0">
              <a:solidFill>
                <a:srgbClr val="4F46E5"/>
              </a:solidFill>
              <a:latin typeface="Calibri" panose="020F0502020204030204"/>
            </a:endParaRPr>
          </a:p>
        </p:txBody>
      </p:sp>
      <p:sp>
        <p:nvSpPr>
          <p:cNvPr id="20" name="TextBox 19"/>
          <p:cNvSpPr txBox="1"/>
          <p:nvPr/>
        </p:nvSpPr>
        <p:spPr>
          <a:xfrm>
            <a:off x="1051560" y="4736592"/>
            <a:ext cx="10515600" cy="306705"/>
          </a:xfrm>
          <a:prstGeom prst="rect">
            <a:avLst/>
          </a:prstGeom>
          <a:noFill/>
        </p:spPr>
        <p:txBody>
          <a:bodyPr wrap="square">
            <a:spAutoFit/>
          </a:bodyPr>
          <a:lstStyle/>
          <a:p>
            <a:pPr algn="l"/>
            <a:r>
              <a:rPr sz="1400" b="0" i="0">
                <a:solidFill>
                  <a:schemeClr val="tx1"/>
                </a:solidFill>
                <a:latin typeface="Calibri" panose="020F0502020204030204"/>
              </a:rPr>
              <a:t>Identified key future work: an Explainable AI (XAI) Insights Panel to surface linguistic triggers — driven directly by user feedback</a:t>
            </a:r>
            <a:r>
              <a:rPr sz="1100" b="0" i="0">
                <a:solidFill>
                  <a:srgbClr val="0F172A"/>
                </a:solidFill>
                <a:latin typeface="Calibri" panose="020F0502020204030204"/>
              </a:rPr>
              <a:t>.</a:t>
            </a:r>
            <a:endParaRPr sz="1100" b="0" i="0">
              <a:solidFill>
                <a:srgbClr val="0F172A"/>
              </a:solidFill>
              <a:latin typeface="Calibri" panose="020F0502020204030204"/>
            </a:endParaRPr>
          </a:p>
        </p:txBody>
      </p:sp>
      <p:sp>
        <p:nvSpPr>
          <p:cNvPr id="21" name="Rectangle 20"/>
          <p:cNvSpPr/>
          <p:nvPr/>
        </p:nvSpPr>
        <p:spPr>
          <a:xfrm>
            <a:off x="457200" y="5321808"/>
            <a:ext cx="11247120" cy="457200"/>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5394960"/>
            <a:ext cx="10972800" cy="275590"/>
          </a:xfrm>
          <a:prstGeom prst="rect">
            <a:avLst/>
          </a:prstGeom>
          <a:noFill/>
        </p:spPr>
        <p:txBody>
          <a:bodyPr wrap="square">
            <a:spAutoFit/>
          </a:bodyPr>
          <a:lstStyle/>
          <a:p>
            <a:pPr algn="l"/>
            <a:r>
              <a:rPr sz="1200" b="1" i="0">
                <a:solidFill>
                  <a:srgbClr val="4F46E5"/>
                </a:solidFill>
                <a:latin typeface="Calibri" panose="020F0502020204030204"/>
              </a:rPr>
              <a:t>🎯 MindGuard successfully addresses the critical gap in passive adolescent mental health monitoring — bridging AI detection and real-world guardian intervention.</a:t>
            </a:r>
            <a:endParaRPr sz="1200" b="1" i="0">
              <a:solidFill>
                <a:srgbClr val="4F46E5"/>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457200" y="411480"/>
            <a:ext cx="2044700" cy="255905"/>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REFERENCES</a:t>
            </a:r>
            <a:endParaRPr sz="2000" b="1">
              <a:solidFill>
                <a:srgbClr val="FFFFFF"/>
              </a:solidFill>
              <a:latin typeface="Calibri" panose="020F0502020204030204"/>
            </a:endParaRP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13</a:t>
            </a:r>
            <a:endParaRPr sz="1000" b="1" i="0">
              <a:solidFill>
                <a:srgbClr val="4F46E5"/>
              </a:solidFill>
              <a:latin typeface="Calibri" panose="020F0502020204030204"/>
            </a:endParaRPr>
          </a:p>
        </p:txBody>
      </p:sp>
      <p:sp>
        <p:nvSpPr>
          <p:cNvPr id="6" name="Rectangle 5"/>
          <p:cNvSpPr/>
          <p:nvPr/>
        </p:nvSpPr>
        <p:spPr>
          <a:xfrm>
            <a:off x="457200" y="1143000"/>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97864"/>
            <a:ext cx="11064240" cy="306705"/>
          </a:xfrm>
          <a:prstGeom prst="rect">
            <a:avLst/>
          </a:prstGeom>
          <a:noFill/>
        </p:spPr>
        <p:txBody>
          <a:bodyPr wrap="square">
            <a:spAutoFit/>
          </a:bodyPr>
          <a:lstStyle/>
          <a:p>
            <a:pPr algn="l"/>
            <a:r>
              <a:rPr sz="1400" b="0" i="0">
                <a:solidFill>
                  <a:schemeClr val="tx1"/>
                </a:solidFill>
                <a:latin typeface="Calibri" panose="020F0502020204030204"/>
              </a:rPr>
              <a:t>Q. Guo et al. (2024). Detection of suicidal ideation in social media text using BERT-based classification. Journal of Biomedical Informatics.</a:t>
            </a:r>
            <a:endParaRPr sz="1400" b="0" i="0">
              <a:solidFill>
                <a:schemeClr val="tx1"/>
              </a:solidFill>
              <a:latin typeface="Calibri" panose="020F0502020204030204"/>
            </a:endParaRPr>
          </a:p>
        </p:txBody>
      </p:sp>
      <p:sp>
        <p:nvSpPr>
          <p:cNvPr id="8" name="Rectangle 7"/>
          <p:cNvSpPr/>
          <p:nvPr/>
        </p:nvSpPr>
        <p:spPr>
          <a:xfrm>
            <a:off x="457200" y="1819656"/>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74520"/>
            <a:ext cx="11064240" cy="306705"/>
          </a:xfrm>
          <a:prstGeom prst="rect">
            <a:avLst/>
          </a:prstGeom>
          <a:noFill/>
        </p:spPr>
        <p:txBody>
          <a:bodyPr wrap="square">
            <a:spAutoFit/>
          </a:bodyPr>
          <a:lstStyle/>
          <a:p>
            <a:pPr algn="l"/>
            <a:r>
              <a:rPr sz="1400" b="0" i="0">
                <a:solidFill>
                  <a:schemeClr val="tx1"/>
                </a:solidFill>
                <a:latin typeface="Calibri" panose="020F0502020204030204"/>
              </a:rPr>
              <a:t>Ilapaka, A., &amp; Ghosh, S. (2025). RAG-enhanced conversational agents for mental health support using FAISS vector retrieval. Applied Intelligence</a:t>
            </a:r>
            <a:r>
              <a:rPr sz="1000" b="0" i="0">
                <a:solidFill>
                  <a:srgbClr val="334155"/>
                </a:solidFill>
                <a:latin typeface="Calibri" panose="020F0502020204030204"/>
              </a:rPr>
              <a:t>.</a:t>
            </a:r>
            <a:endParaRPr sz="1000" b="0" i="0">
              <a:solidFill>
                <a:srgbClr val="334155"/>
              </a:solidFill>
              <a:latin typeface="Calibri" panose="020F0502020204030204"/>
            </a:endParaRPr>
          </a:p>
        </p:txBody>
      </p:sp>
      <p:sp>
        <p:nvSpPr>
          <p:cNvPr id="10" name="Rectangle 9"/>
          <p:cNvSpPr/>
          <p:nvPr/>
        </p:nvSpPr>
        <p:spPr>
          <a:xfrm>
            <a:off x="457200" y="2496312"/>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551176"/>
            <a:ext cx="11064240" cy="306705"/>
          </a:xfrm>
          <a:prstGeom prst="rect">
            <a:avLst/>
          </a:prstGeom>
          <a:noFill/>
        </p:spPr>
        <p:txBody>
          <a:bodyPr wrap="square">
            <a:spAutoFit/>
          </a:bodyPr>
          <a:lstStyle/>
          <a:p>
            <a:pPr algn="l"/>
            <a:r>
              <a:rPr sz="1400" b="0" i="0">
                <a:solidFill>
                  <a:srgbClr val="334155"/>
                </a:solidFill>
                <a:latin typeface="Calibri" panose="020F0502020204030204"/>
              </a:rPr>
              <a:t>Zhang, Y. et al. (2023). SouLLMate: An LLM-based emotional support system for mental health applications. arXiv.</a:t>
            </a:r>
            <a:endParaRPr sz="1400" b="0" i="0">
              <a:solidFill>
                <a:srgbClr val="334155"/>
              </a:solidFill>
              <a:latin typeface="Calibri" panose="020F0502020204030204"/>
            </a:endParaRPr>
          </a:p>
        </p:txBody>
      </p:sp>
      <p:sp>
        <p:nvSpPr>
          <p:cNvPr id="12" name="Rectangle 11"/>
          <p:cNvSpPr/>
          <p:nvPr/>
        </p:nvSpPr>
        <p:spPr>
          <a:xfrm>
            <a:off x="457200" y="3172968"/>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227832"/>
            <a:ext cx="11064240" cy="306705"/>
          </a:xfrm>
          <a:prstGeom prst="rect">
            <a:avLst/>
          </a:prstGeom>
          <a:noFill/>
        </p:spPr>
        <p:txBody>
          <a:bodyPr wrap="square">
            <a:spAutoFit/>
          </a:bodyPr>
          <a:lstStyle/>
          <a:p>
            <a:pPr algn="l"/>
            <a:r>
              <a:rPr sz="1400" b="0" i="0">
                <a:solidFill>
                  <a:schemeClr val="tx1"/>
                </a:solidFill>
                <a:latin typeface="Calibri" panose="020F0502020204030204"/>
              </a:rPr>
              <a:t>Fitzpatrick, K. K. et al. (2022). Delivering cognitive behaviour therapy to young adults via a conversational agent, Woebot. JMIR Mental Health.</a:t>
            </a:r>
            <a:endParaRPr sz="1400" b="0" i="0">
              <a:solidFill>
                <a:schemeClr val="tx1"/>
              </a:solidFill>
              <a:latin typeface="Calibri" panose="020F0502020204030204"/>
            </a:endParaRPr>
          </a:p>
        </p:txBody>
      </p:sp>
      <p:sp>
        <p:nvSpPr>
          <p:cNvPr id="14" name="Rectangle 13"/>
          <p:cNvSpPr/>
          <p:nvPr/>
        </p:nvSpPr>
        <p:spPr>
          <a:xfrm>
            <a:off x="457200" y="3849624"/>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904488"/>
            <a:ext cx="11064240" cy="521970"/>
          </a:xfrm>
          <a:prstGeom prst="rect">
            <a:avLst/>
          </a:prstGeom>
          <a:noFill/>
        </p:spPr>
        <p:txBody>
          <a:bodyPr wrap="square">
            <a:spAutoFit/>
          </a:bodyPr>
          <a:lstStyle/>
          <a:p>
            <a:pPr algn="l"/>
            <a:r>
              <a:rPr sz="1400" b="0" i="0">
                <a:solidFill>
                  <a:schemeClr val="tx1"/>
                </a:solidFill>
                <a:latin typeface="Calibri" panose="020F0502020204030204"/>
              </a:rPr>
              <a:t>Hollis, C. et al. (2021). Annual research review: Digital health interventions for children and young people with mental health problems. J. Child Psychology &amp; Psychiatry, 62(4)</a:t>
            </a:r>
            <a:r>
              <a:rPr sz="1000" b="0" i="0">
                <a:solidFill>
                  <a:srgbClr val="334155"/>
                </a:solidFill>
                <a:latin typeface="Calibri" panose="020F0502020204030204"/>
              </a:rPr>
              <a:t>.</a:t>
            </a:r>
            <a:endParaRPr sz="1000" b="0" i="0">
              <a:solidFill>
                <a:srgbClr val="334155"/>
              </a:solidFill>
              <a:latin typeface="Calibri" panose="020F0502020204030204"/>
            </a:endParaRPr>
          </a:p>
        </p:txBody>
      </p:sp>
      <p:sp>
        <p:nvSpPr>
          <p:cNvPr id="16" name="Rectangle 15"/>
          <p:cNvSpPr/>
          <p:nvPr/>
        </p:nvSpPr>
        <p:spPr>
          <a:xfrm>
            <a:off x="457200" y="4526280"/>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581144"/>
            <a:ext cx="11064240" cy="306705"/>
          </a:xfrm>
          <a:prstGeom prst="rect">
            <a:avLst/>
          </a:prstGeom>
          <a:noFill/>
        </p:spPr>
        <p:txBody>
          <a:bodyPr wrap="square">
            <a:spAutoFit/>
          </a:bodyPr>
          <a:lstStyle/>
          <a:p>
            <a:pPr algn="l"/>
            <a:r>
              <a:rPr sz="1400" b="0" i="0">
                <a:solidFill>
                  <a:schemeClr val="tx1"/>
                </a:solidFill>
                <a:latin typeface="Calibri" panose="020F0502020204030204"/>
              </a:rPr>
              <a:t>Torous, J. et al. (2021). The growing field of digital psychiatry: apps, social media, chatbots, and virtual reality. World Psychiatry, 20(3), 318–335.</a:t>
            </a:r>
            <a:endParaRPr sz="1400" b="0" i="0">
              <a:solidFill>
                <a:schemeClr val="tx1"/>
              </a:solidFill>
              <a:latin typeface="Calibri" panose="020F0502020204030204"/>
            </a:endParaRPr>
          </a:p>
        </p:txBody>
      </p:sp>
      <p:sp>
        <p:nvSpPr>
          <p:cNvPr id="18" name="Rectangle 17"/>
          <p:cNvSpPr/>
          <p:nvPr/>
        </p:nvSpPr>
        <p:spPr>
          <a:xfrm>
            <a:off x="457200" y="5202936"/>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57800"/>
            <a:ext cx="11064240" cy="306705"/>
          </a:xfrm>
          <a:prstGeom prst="rect">
            <a:avLst/>
          </a:prstGeom>
          <a:noFill/>
        </p:spPr>
        <p:txBody>
          <a:bodyPr wrap="square">
            <a:spAutoFit/>
          </a:bodyPr>
          <a:lstStyle/>
          <a:p>
            <a:pPr algn="l"/>
            <a:r>
              <a:rPr sz="1400" b="0" i="0">
                <a:solidFill>
                  <a:schemeClr val="tx1"/>
                </a:solidFill>
                <a:latin typeface="Calibri" panose="020F0502020204030204"/>
              </a:rPr>
              <a:t>O'Reilly, M. et al. (2023). Examining the risk and protective associations of social media use and adolescent mental health. npj Mental Health Research.</a:t>
            </a:r>
            <a:endParaRPr sz="1400" b="0" i="0">
              <a:solidFill>
                <a:schemeClr val="tx1"/>
              </a:solidFill>
              <a:latin typeface="Calibri" panose="020F0502020204030204"/>
            </a:endParaRPr>
          </a:p>
        </p:txBody>
      </p:sp>
      <p:sp>
        <p:nvSpPr>
          <p:cNvPr id="20" name="Rectangle 19"/>
          <p:cNvSpPr/>
          <p:nvPr/>
        </p:nvSpPr>
        <p:spPr>
          <a:xfrm>
            <a:off x="457200" y="5879592"/>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934456"/>
            <a:ext cx="11064240" cy="306705"/>
          </a:xfrm>
          <a:prstGeom prst="rect">
            <a:avLst/>
          </a:prstGeom>
          <a:noFill/>
        </p:spPr>
        <p:txBody>
          <a:bodyPr wrap="square">
            <a:spAutoFit/>
          </a:bodyPr>
          <a:lstStyle/>
          <a:p>
            <a:pPr algn="l"/>
            <a:r>
              <a:rPr sz="1400" b="0" i="0">
                <a:solidFill>
                  <a:schemeClr val="tx1"/>
                </a:solidFill>
                <a:latin typeface="Calibri" panose="020F0502020204030204"/>
              </a:rPr>
              <a:t>Thabrew, H. et al. (2022). Digital health interventions for adolescent mental health. Child and Adolescent Mental Health, 27(2), 98–109.</a:t>
            </a:r>
            <a:endParaRPr sz="1400" b="0" i="0">
              <a:solidFill>
                <a:schemeClr val="tx1"/>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457200" y="411480"/>
            <a:ext cx="2535555" cy="255905"/>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panose="020F0502020204030204"/>
              </a:rPr>
              <a:t>ACKNOWLEDGEMENT</a:t>
            </a:r>
            <a:endParaRPr sz="2000" b="1">
              <a:solidFill>
                <a:srgbClr val="FFFFFF"/>
              </a:solidFill>
              <a:latin typeface="Calibri" panose="020F0502020204030204"/>
            </a:endParaRP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14</a:t>
            </a:r>
            <a:endParaRPr sz="1000" b="1" i="0">
              <a:solidFill>
                <a:srgbClr val="4F46E5"/>
              </a:solidFill>
              <a:latin typeface="Calibri" panose="020F0502020204030204"/>
            </a:endParaRPr>
          </a:p>
        </p:txBody>
      </p:sp>
      <p:sp>
        <p:nvSpPr>
          <p:cNvPr id="6" name="Rectangle 5"/>
          <p:cNvSpPr/>
          <p:nvPr/>
        </p:nvSpPr>
        <p:spPr>
          <a:xfrm>
            <a:off x="457200" y="1188720"/>
            <a:ext cx="3566160" cy="2011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3566160" cy="502920"/>
          </a:xfrm>
          <a:prstGeom prst="rect">
            <a:avLst/>
          </a:prstGeom>
          <a:noFill/>
        </p:spPr>
        <p:txBody>
          <a:bodyPr wrap="square">
            <a:spAutoFit/>
          </a:bodyPr>
          <a:lstStyle/>
          <a:p>
            <a:pPr algn="ctr"/>
            <a:r>
              <a:rPr sz="2800" b="0" i="0">
                <a:solidFill>
                  <a:srgbClr val="0F172A"/>
                </a:solidFill>
                <a:latin typeface="Calibri" panose="020F0502020204030204"/>
              </a:rPr>
              <a:t>🙏</a:t>
            </a:r>
            <a:endParaRPr sz="2800" b="0" i="0">
              <a:solidFill>
                <a:srgbClr val="0F172A"/>
              </a:solidFill>
              <a:latin typeface="Calibri" panose="020F0502020204030204"/>
            </a:endParaRPr>
          </a:p>
        </p:txBody>
      </p:sp>
      <p:sp>
        <p:nvSpPr>
          <p:cNvPr id="8" name="TextBox 7"/>
          <p:cNvSpPr txBox="1"/>
          <p:nvPr/>
        </p:nvSpPr>
        <p:spPr>
          <a:xfrm>
            <a:off x="457200" y="1938528"/>
            <a:ext cx="3566160" cy="368300"/>
          </a:xfrm>
          <a:prstGeom prst="rect">
            <a:avLst/>
          </a:prstGeom>
          <a:noFill/>
        </p:spPr>
        <p:txBody>
          <a:bodyPr wrap="square">
            <a:spAutoFit/>
          </a:bodyPr>
          <a:lstStyle/>
          <a:p>
            <a:pPr algn="ctr"/>
            <a:r>
              <a:rPr b="1" i="0">
                <a:solidFill>
                  <a:srgbClr val="0F172A"/>
                </a:solidFill>
                <a:latin typeface="Calibri" panose="020F0502020204030204"/>
              </a:rPr>
              <a:t>Almighty God</a:t>
            </a:r>
            <a:endParaRPr b="1" i="0">
              <a:solidFill>
                <a:srgbClr val="0F172A"/>
              </a:solidFill>
              <a:latin typeface="Calibri" panose="020F0502020204030204"/>
            </a:endParaRPr>
          </a:p>
        </p:txBody>
      </p:sp>
      <p:sp>
        <p:nvSpPr>
          <p:cNvPr id="9" name="TextBox 8"/>
          <p:cNvSpPr txBox="1"/>
          <p:nvPr/>
        </p:nvSpPr>
        <p:spPr>
          <a:xfrm>
            <a:off x="594360" y="2267712"/>
            <a:ext cx="3291840" cy="521970"/>
          </a:xfrm>
          <a:prstGeom prst="rect">
            <a:avLst/>
          </a:prstGeom>
          <a:noFill/>
        </p:spPr>
        <p:txBody>
          <a:bodyPr wrap="square">
            <a:spAutoFit/>
          </a:bodyPr>
          <a:lstStyle/>
          <a:p>
            <a:pPr algn="ctr"/>
            <a:r>
              <a:rPr sz="1400" b="0" i="0">
                <a:solidFill>
                  <a:schemeClr val="tx1"/>
                </a:solidFill>
                <a:latin typeface="Calibri" panose="020F0502020204030204"/>
              </a:rPr>
              <a:t>For wisdom, strength, and the grace to complete this project.</a:t>
            </a:r>
            <a:endParaRPr sz="1400" b="0" i="0">
              <a:solidFill>
                <a:schemeClr val="tx1"/>
              </a:solidFill>
              <a:latin typeface="Calibri" panose="020F0502020204030204"/>
            </a:endParaRPr>
          </a:p>
        </p:txBody>
      </p:sp>
      <p:sp>
        <p:nvSpPr>
          <p:cNvPr id="10" name="Rectangle 9"/>
          <p:cNvSpPr/>
          <p:nvPr/>
        </p:nvSpPr>
        <p:spPr>
          <a:xfrm>
            <a:off x="4160520" y="1188720"/>
            <a:ext cx="3566160" cy="2011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60520" y="1371600"/>
            <a:ext cx="3566160" cy="502920"/>
          </a:xfrm>
          <a:prstGeom prst="rect">
            <a:avLst/>
          </a:prstGeom>
          <a:noFill/>
        </p:spPr>
        <p:txBody>
          <a:bodyPr wrap="square">
            <a:spAutoFit/>
          </a:bodyPr>
          <a:lstStyle/>
          <a:p>
            <a:pPr algn="ctr"/>
            <a:r>
              <a:rPr sz="2800" b="0" i="0">
                <a:solidFill>
                  <a:srgbClr val="0F172A"/>
                </a:solidFill>
                <a:latin typeface="Calibri" panose="020F0502020204030204"/>
              </a:rPr>
              <a:t>👨‍🏫</a:t>
            </a:r>
            <a:endParaRPr sz="2800" b="0" i="0">
              <a:solidFill>
                <a:srgbClr val="0F172A"/>
              </a:solidFill>
              <a:latin typeface="Calibri" panose="020F0502020204030204"/>
            </a:endParaRPr>
          </a:p>
        </p:txBody>
      </p:sp>
      <p:sp>
        <p:nvSpPr>
          <p:cNvPr id="12" name="TextBox 11"/>
          <p:cNvSpPr txBox="1"/>
          <p:nvPr/>
        </p:nvSpPr>
        <p:spPr>
          <a:xfrm>
            <a:off x="4160520" y="1938528"/>
            <a:ext cx="3566160" cy="368300"/>
          </a:xfrm>
          <a:prstGeom prst="rect">
            <a:avLst/>
          </a:prstGeom>
          <a:noFill/>
        </p:spPr>
        <p:txBody>
          <a:bodyPr wrap="square">
            <a:spAutoFit/>
          </a:bodyPr>
          <a:lstStyle/>
          <a:p>
            <a:pPr algn="ctr"/>
            <a:r>
              <a:rPr b="1" i="0">
                <a:solidFill>
                  <a:schemeClr val="tx1"/>
                </a:solidFill>
                <a:latin typeface="Calibri" panose="020F0502020204030204"/>
              </a:rPr>
              <a:t>My Supervisor</a:t>
            </a:r>
            <a:endParaRPr b="1" i="0">
              <a:solidFill>
                <a:schemeClr val="tx1"/>
              </a:solidFill>
              <a:latin typeface="Calibri" panose="020F0502020204030204"/>
            </a:endParaRPr>
          </a:p>
        </p:txBody>
      </p:sp>
      <p:sp>
        <p:nvSpPr>
          <p:cNvPr id="13" name="TextBox 12"/>
          <p:cNvSpPr txBox="1"/>
          <p:nvPr/>
        </p:nvSpPr>
        <p:spPr>
          <a:xfrm>
            <a:off x="4297680" y="2267712"/>
            <a:ext cx="3291840" cy="737235"/>
          </a:xfrm>
          <a:prstGeom prst="rect">
            <a:avLst/>
          </a:prstGeom>
          <a:noFill/>
        </p:spPr>
        <p:txBody>
          <a:bodyPr wrap="square">
            <a:spAutoFit/>
          </a:bodyPr>
          <a:lstStyle/>
          <a:p>
            <a:pPr algn="ctr"/>
            <a:r>
              <a:rPr sz="1400" b="0" i="0">
                <a:solidFill>
                  <a:schemeClr val="tx1"/>
                </a:solidFill>
                <a:latin typeface="Calibri" panose="020F0502020204030204"/>
              </a:rPr>
              <a:t>For patient guidance, technical mentorship, and invaluable feedback throughout this research journey.</a:t>
            </a:r>
            <a:endParaRPr sz="1400" b="0" i="0">
              <a:solidFill>
                <a:schemeClr val="tx1"/>
              </a:solidFill>
              <a:latin typeface="Calibri" panose="020F0502020204030204"/>
            </a:endParaRPr>
          </a:p>
        </p:txBody>
      </p:sp>
      <p:sp>
        <p:nvSpPr>
          <p:cNvPr id="14" name="Rectangle 13"/>
          <p:cNvSpPr/>
          <p:nvPr/>
        </p:nvSpPr>
        <p:spPr>
          <a:xfrm>
            <a:off x="7863840" y="1188720"/>
            <a:ext cx="3566160" cy="2011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1371600"/>
            <a:ext cx="3566160" cy="502920"/>
          </a:xfrm>
          <a:prstGeom prst="rect">
            <a:avLst/>
          </a:prstGeom>
          <a:noFill/>
        </p:spPr>
        <p:txBody>
          <a:bodyPr wrap="square">
            <a:spAutoFit/>
          </a:bodyPr>
          <a:lstStyle/>
          <a:p>
            <a:pPr algn="ctr"/>
            <a:r>
              <a:rPr sz="2800" b="0" i="0">
                <a:solidFill>
                  <a:srgbClr val="0F172A"/>
                </a:solidFill>
                <a:latin typeface="Calibri" panose="020F0502020204030204"/>
              </a:rPr>
              <a:t>🏫</a:t>
            </a:r>
            <a:endParaRPr sz="2800" b="0" i="0">
              <a:solidFill>
                <a:srgbClr val="0F172A"/>
              </a:solidFill>
              <a:latin typeface="Calibri" panose="020F0502020204030204"/>
            </a:endParaRPr>
          </a:p>
        </p:txBody>
      </p:sp>
      <p:sp>
        <p:nvSpPr>
          <p:cNvPr id="16" name="TextBox 15"/>
          <p:cNvSpPr txBox="1"/>
          <p:nvPr/>
        </p:nvSpPr>
        <p:spPr>
          <a:xfrm>
            <a:off x="7863840" y="1938528"/>
            <a:ext cx="3566160" cy="368300"/>
          </a:xfrm>
          <a:prstGeom prst="rect">
            <a:avLst/>
          </a:prstGeom>
          <a:noFill/>
        </p:spPr>
        <p:txBody>
          <a:bodyPr wrap="square">
            <a:spAutoFit/>
          </a:bodyPr>
          <a:lstStyle/>
          <a:p>
            <a:pPr algn="ctr"/>
            <a:r>
              <a:rPr b="1" i="0">
                <a:solidFill>
                  <a:schemeClr val="tx1"/>
                </a:solidFill>
                <a:latin typeface="Calibri" panose="020F0502020204030204"/>
              </a:rPr>
              <a:t>Head of Department</a:t>
            </a:r>
            <a:endParaRPr b="1" i="0">
              <a:solidFill>
                <a:schemeClr val="tx1"/>
              </a:solidFill>
              <a:latin typeface="Calibri" panose="020F0502020204030204"/>
            </a:endParaRPr>
          </a:p>
        </p:txBody>
      </p:sp>
      <p:sp>
        <p:nvSpPr>
          <p:cNvPr id="17" name="TextBox 16"/>
          <p:cNvSpPr txBox="1"/>
          <p:nvPr/>
        </p:nvSpPr>
        <p:spPr>
          <a:xfrm>
            <a:off x="8001000" y="2267712"/>
            <a:ext cx="3291840" cy="521970"/>
          </a:xfrm>
          <a:prstGeom prst="rect">
            <a:avLst/>
          </a:prstGeom>
          <a:noFill/>
        </p:spPr>
        <p:txBody>
          <a:bodyPr wrap="square">
            <a:spAutoFit/>
          </a:bodyPr>
          <a:lstStyle/>
          <a:p>
            <a:pPr algn="ctr"/>
            <a:r>
              <a:rPr sz="1400" b="0" i="0">
                <a:solidFill>
                  <a:schemeClr val="tx1"/>
                </a:solidFill>
                <a:latin typeface="Calibri" panose="020F0502020204030204"/>
              </a:rPr>
              <a:t>For providing the academic structure and resources that enabled this project.</a:t>
            </a:r>
            <a:endParaRPr sz="1400" b="0" i="0">
              <a:solidFill>
                <a:schemeClr val="tx1"/>
              </a:solidFill>
              <a:latin typeface="Calibri" panose="020F0502020204030204"/>
            </a:endParaRPr>
          </a:p>
        </p:txBody>
      </p:sp>
      <p:sp>
        <p:nvSpPr>
          <p:cNvPr id="18" name="Rectangle 17"/>
          <p:cNvSpPr/>
          <p:nvPr/>
        </p:nvSpPr>
        <p:spPr>
          <a:xfrm>
            <a:off x="457200" y="3364992"/>
            <a:ext cx="3566160" cy="2011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547872"/>
            <a:ext cx="3566160" cy="502920"/>
          </a:xfrm>
          <a:prstGeom prst="rect">
            <a:avLst/>
          </a:prstGeom>
          <a:noFill/>
        </p:spPr>
        <p:txBody>
          <a:bodyPr wrap="square">
            <a:spAutoFit/>
          </a:bodyPr>
          <a:lstStyle/>
          <a:p>
            <a:pPr algn="ctr"/>
            <a:r>
              <a:rPr sz="2800" b="0" i="0">
                <a:solidFill>
                  <a:srgbClr val="0F172A"/>
                </a:solidFill>
                <a:latin typeface="Calibri" panose="020F0502020204030204"/>
              </a:rPr>
              <a:t>📚</a:t>
            </a:r>
            <a:endParaRPr sz="2800" b="0" i="0">
              <a:solidFill>
                <a:srgbClr val="0F172A"/>
              </a:solidFill>
              <a:latin typeface="Calibri" panose="020F0502020204030204"/>
            </a:endParaRPr>
          </a:p>
        </p:txBody>
      </p:sp>
      <p:sp>
        <p:nvSpPr>
          <p:cNvPr id="20" name="TextBox 19"/>
          <p:cNvSpPr txBox="1"/>
          <p:nvPr/>
        </p:nvSpPr>
        <p:spPr>
          <a:xfrm>
            <a:off x="457200" y="4114800"/>
            <a:ext cx="3566160" cy="368300"/>
          </a:xfrm>
          <a:prstGeom prst="rect">
            <a:avLst/>
          </a:prstGeom>
          <a:noFill/>
        </p:spPr>
        <p:txBody>
          <a:bodyPr wrap="square">
            <a:spAutoFit/>
          </a:bodyPr>
          <a:lstStyle/>
          <a:p>
            <a:pPr algn="ctr"/>
            <a:r>
              <a:rPr b="1" i="0">
                <a:solidFill>
                  <a:schemeClr val="tx1"/>
                </a:solidFill>
                <a:latin typeface="Calibri" panose="020F0502020204030204"/>
              </a:rPr>
              <a:t>Faculty of Sciences</a:t>
            </a:r>
            <a:endParaRPr b="1" i="0">
              <a:solidFill>
                <a:schemeClr val="tx1"/>
              </a:solidFill>
              <a:latin typeface="Calibri" panose="020F0502020204030204"/>
            </a:endParaRPr>
          </a:p>
        </p:txBody>
      </p:sp>
      <p:sp>
        <p:nvSpPr>
          <p:cNvPr id="21" name="TextBox 20"/>
          <p:cNvSpPr txBox="1"/>
          <p:nvPr/>
        </p:nvSpPr>
        <p:spPr>
          <a:xfrm>
            <a:off x="594360" y="4443984"/>
            <a:ext cx="3291840" cy="737235"/>
          </a:xfrm>
          <a:prstGeom prst="rect">
            <a:avLst/>
          </a:prstGeom>
          <a:noFill/>
        </p:spPr>
        <p:txBody>
          <a:bodyPr wrap="square">
            <a:spAutoFit/>
          </a:bodyPr>
          <a:lstStyle/>
          <a:p>
            <a:pPr algn="ctr"/>
            <a:r>
              <a:rPr sz="1400" b="0" i="0">
                <a:solidFill>
                  <a:schemeClr val="tx1"/>
                </a:solidFill>
                <a:latin typeface="Calibri" panose="020F0502020204030204"/>
              </a:rPr>
              <a:t>For the academic foundation and institutional support across four years of study.</a:t>
            </a:r>
            <a:endParaRPr sz="1400" b="0" i="0">
              <a:solidFill>
                <a:schemeClr val="tx1"/>
              </a:solidFill>
              <a:latin typeface="Calibri" panose="020F0502020204030204"/>
            </a:endParaRPr>
          </a:p>
        </p:txBody>
      </p:sp>
      <p:sp>
        <p:nvSpPr>
          <p:cNvPr id="22" name="Rectangle 21"/>
          <p:cNvSpPr/>
          <p:nvPr/>
        </p:nvSpPr>
        <p:spPr>
          <a:xfrm>
            <a:off x="4160520" y="3364992"/>
            <a:ext cx="3566160" cy="2011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60520" y="3547872"/>
            <a:ext cx="3566160" cy="502920"/>
          </a:xfrm>
          <a:prstGeom prst="rect">
            <a:avLst/>
          </a:prstGeom>
          <a:noFill/>
        </p:spPr>
        <p:txBody>
          <a:bodyPr wrap="square">
            <a:spAutoFit/>
          </a:bodyPr>
          <a:lstStyle/>
          <a:p>
            <a:pPr algn="ctr"/>
            <a:r>
              <a:rPr sz="2800" b="0" i="0">
                <a:solidFill>
                  <a:srgbClr val="0F172A"/>
                </a:solidFill>
                <a:latin typeface="Calibri" panose="020F0502020204030204"/>
              </a:rPr>
              <a:t>👥</a:t>
            </a:r>
            <a:endParaRPr sz="2800" b="0" i="0">
              <a:solidFill>
                <a:srgbClr val="0F172A"/>
              </a:solidFill>
              <a:latin typeface="Calibri" panose="020F0502020204030204"/>
            </a:endParaRPr>
          </a:p>
        </p:txBody>
      </p:sp>
      <p:sp>
        <p:nvSpPr>
          <p:cNvPr id="24" name="TextBox 23"/>
          <p:cNvSpPr txBox="1"/>
          <p:nvPr/>
        </p:nvSpPr>
        <p:spPr>
          <a:xfrm>
            <a:off x="4160520" y="4114800"/>
            <a:ext cx="3566160" cy="368300"/>
          </a:xfrm>
          <a:prstGeom prst="rect">
            <a:avLst/>
          </a:prstGeom>
          <a:noFill/>
        </p:spPr>
        <p:txBody>
          <a:bodyPr wrap="square">
            <a:spAutoFit/>
          </a:bodyPr>
          <a:lstStyle/>
          <a:p>
            <a:pPr algn="ctr"/>
            <a:r>
              <a:rPr b="1" i="0">
                <a:solidFill>
                  <a:schemeClr val="tx1"/>
                </a:solidFill>
                <a:latin typeface="Calibri" panose="020F0502020204030204"/>
              </a:rPr>
              <a:t>Colleagues &amp; Friends</a:t>
            </a:r>
            <a:endParaRPr b="1" i="0">
              <a:solidFill>
                <a:schemeClr val="tx1"/>
              </a:solidFill>
              <a:latin typeface="Calibri" panose="020F0502020204030204"/>
            </a:endParaRPr>
          </a:p>
        </p:txBody>
      </p:sp>
      <p:sp>
        <p:nvSpPr>
          <p:cNvPr id="25" name="TextBox 24"/>
          <p:cNvSpPr txBox="1"/>
          <p:nvPr/>
        </p:nvSpPr>
        <p:spPr>
          <a:xfrm>
            <a:off x="4297680" y="4443984"/>
            <a:ext cx="3291840" cy="737235"/>
          </a:xfrm>
          <a:prstGeom prst="rect">
            <a:avLst/>
          </a:prstGeom>
          <a:noFill/>
        </p:spPr>
        <p:txBody>
          <a:bodyPr wrap="square">
            <a:spAutoFit/>
          </a:bodyPr>
          <a:lstStyle/>
          <a:p>
            <a:pPr algn="ctr"/>
            <a:r>
              <a:rPr sz="1400" b="0" i="0">
                <a:solidFill>
                  <a:schemeClr val="tx1"/>
                </a:solidFill>
                <a:latin typeface="Calibri" panose="020F0502020204030204"/>
              </a:rPr>
              <a:t>For the collaboration, encouragement, and moral support throughout the academic year.</a:t>
            </a:r>
            <a:endParaRPr sz="1400" b="0" i="0">
              <a:solidFill>
                <a:schemeClr val="tx1"/>
              </a:solidFill>
              <a:latin typeface="Calibri" panose="020F0502020204030204"/>
            </a:endParaRPr>
          </a:p>
        </p:txBody>
      </p:sp>
      <p:sp>
        <p:nvSpPr>
          <p:cNvPr id="26" name="Rectangle 25"/>
          <p:cNvSpPr/>
          <p:nvPr/>
        </p:nvSpPr>
        <p:spPr>
          <a:xfrm>
            <a:off x="7863840" y="3364992"/>
            <a:ext cx="3566160" cy="2011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0" y="3547872"/>
            <a:ext cx="3566160" cy="502920"/>
          </a:xfrm>
          <a:prstGeom prst="rect">
            <a:avLst/>
          </a:prstGeom>
          <a:noFill/>
        </p:spPr>
        <p:txBody>
          <a:bodyPr wrap="square">
            <a:spAutoFit/>
          </a:bodyPr>
          <a:lstStyle/>
          <a:p>
            <a:pPr algn="ctr"/>
            <a:r>
              <a:rPr sz="2800" b="0" i="0">
                <a:solidFill>
                  <a:srgbClr val="0F172A"/>
                </a:solidFill>
                <a:latin typeface="Calibri" panose="020F0502020204030204"/>
              </a:rPr>
              <a:t>❤️</a:t>
            </a:r>
            <a:endParaRPr sz="2800" b="0" i="0">
              <a:solidFill>
                <a:srgbClr val="0F172A"/>
              </a:solidFill>
              <a:latin typeface="Calibri" panose="020F0502020204030204"/>
            </a:endParaRPr>
          </a:p>
        </p:txBody>
      </p:sp>
      <p:sp>
        <p:nvSpPr>
          <p:cNvPr id="28" name="TextBox 27"/>
          <p:cNvSpPr txBox="1"/>
          <p:nvPr/>
        </p:nvSpPr>
        <p:spPr>
          <a:xfrm>
            <a:off x="7863840" y="4114800"/>
            <a:ext cx="3566160" cy="368300"/>
          </a:xfrm>
          <a:prstGeom prst="rect">
            <a:avLst/>
          </a:prstGeom>
          <a:noFill/>
        </p:spPr>
        <p:txBody>
          <a:bodyPr wrap="square">
            <a:spAutoFit/>
          </a:bodyPr>
          <a:lstStyle/>
          <a:p>
            <a:pPr algn="ctr"/>
            <a:r>
              <a:rPr b="1" i="0">
                <a:solidFill>
                  <a:schemeClr val="tx1"/>
                </a:solidFill>
                <a:latin typeface="Calibri" panose="020F0502020204030204"/>
              </a:rPr>
              <a:t>Family</a:t>
            </a:r>
            <a:endParaRPr b="1" i="0">
              <a:solidFill>
                <a:schemeClr val="tx1"/>
              </a:solidFill>
              <a:latin typeface="Calibri" panose="020F0502020204030204"/>
            </a:endParaRPr>
          </a:p>
        </p:txBody>
      </p:sp>
      <p:sp>
        <p:nvSpPr>
          <p:cNvPr id="29" name="TextBox 28"/>
          <p:cNvSpPr txBox="1"/>
          <p:nvPr/>
        </p:nvSpPr>
        <p:spPr>
          <a:xfrm>
            <a:off x="8001000" y="4443984"/>
            <a:ext cx="3291840" cy="737235"/>
          </a:xfrm>
          <a:prstGeom prst="rect">
            <a:avLst/>
          </a:prstGeom>
          <a:noFill/>
        </p:spPr>
        <p:txBody>
          <a:bodyPr wrap="square">
            <a:spAutoFit/>
          </a:bodyPr>
          <a:lstStyle/>
          <a:p>
            <a:pPr algn="ctr"/>
            <a:r>
              <a:rPr sz="1400" b="0" i="0">
                <a:solidFill>
                  <a:schemeClr val="tx1"/>
                </a:solidFill>
                <a:latin typeface="Calibri" panose="020F0502020204030204"/>
              </a:rPr>
              <a:t>For unwavering support, belief, and sacrifice that made this academic journey possible.</a:t>
            </a:r>
            <a:endParaRPr sz="1400" b="0" i="0">
              <a:solidFill>
                <a:schemeClr val="tx1"/>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TextBox 1"/>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panose="020F0502020204030204"/>
              </a:rPr>
              <a:t>15</a:t>
            </a:r>
            <a:endParaRPr sz="1000" b="1" i="0">
              <a:solidFill>
                <a:srgbClr val="4F46E5"/>
              </a:solidFill>
              <a:latin typeface="Calibri" panose="020F0502020204030204"/>
            </a:endParaRPr>
          </a:p>
        </p:txBody>
      </p:sp>
      <p:sp>
        <p:nvSpPr>
          <p:cNvPr id="3" name="Rectangle 2"/>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0" y="443230"/>
            <a:ext cx="8036560" cy="528129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80" y="1097280"/>
            <a:ext cx="1828800" cy="731520"/>
          </a:xfrm>
          <a:prstGeom prst="rect">
            <a:avLst/>
          </a:prstGeom>
          <a:noFill/>
        </p:spPr>
        <p:txBody>
          <a:bodyPr wrap="square">
            <a:spAutoFit/>
          </a:bodyPr>
          <a:lstStyle/>
          <a:p>
            <a:pPr algn="ctr"/>
            <a:r>
              <a:rPr sz="3600" b="0" i="0">
                <a:solidFill>
                  <a:srgbClr val="0F172A"/>
                </a:solidFill>
                <a:latin typeface="Calibri" panose="020F0502020204030204"/>
              </a:rPr>
              <a:t>🧠🛡️</a:t>
            </a:r>
            <a:endParaRPr sz="3600" b="0" i="0">
              <a:solidFill>
                <a:srgbClr val="0F172A"/>
              </a:solidFill>
              <a:latin typeface="Calibri" panose="020F0502020204030204"/>
            </a:endParaRPr>
          </a:p>
        </p:txBody>
      </p:sp>
      <p:sp>
        <p:nvSpPr>
          <p:cNvPr id="6" name="TextBox 5"/>
          <p:cNvSpPr txBox="1"/>
          <p:nvPr/>
        </p:nvSpPr>
        <p:spPr>
          <a:xfrm>
            <a:off x="1371600" y="1920240"/>
            <a:ext cx="9418320" cy="1097280"/>
          </a:xfrm>
          <a:prstGeom prst="rect">
            <a:avLst/>
          </a:prstGeom>
          <a:noFill/>
        </p:spPr>
        <p:txBody>
          <a:bodyPr wrap="square">
            <a:spAutoFit/>
          </a:bodyPr>
          <a:lstStyle/>
          <a:p>
            <a:pPr algn="ctr"/>
            <a:r>
              <a:rPr sz="5600" b="1" i="0">
                <a:solidFill>
                  <a:srgbClr val="0F172A"/>
                </a:solidFill>
                <a:latin typeface="Calibri" panose="020F0502020204030204"/>
              </a:rPr>
              <a:t>Thank You</a:t>
            </a:r>
            <a:endParaRPr sz="5600" b="1" i="0">
              <a:solidFill>
                <a:srgbClr val="0F172A"/>
              </a:solidFill>
              <a:latin typeface="Calibri" panose="020F0502020204030204"/>
            </a:endParaRPr>
          </a:p>
        </p:txBody>
      </p:sp>
      <p:sp>
        <p:nvSpPr>
          <p:cNvPr id="7" name="TextBox 6"/>
          <p:cNvSpPr txBox="1"/>
          <p:nvPr/>
        </p:nvSpPr>
        <p:spPr>
          <a:xfrm>
            <a:off x="1371600" y="3017520"/>
            <a:ext cx="9418320" cy="337185"/>
          </a:xfrm>
          <a:prstGeom prst="rect">
            <a:avLst/>
          </a:prstGeom>
          <a:noFill/>
        </p:spPr>
        <p:txBody>
          <a:bodyPr wrap="square">
            <a:spAutoFit/>
          </a:bodyPr>
          <a:lstStyle/>
          <a:p>
            <a:pPr algn="ctr"/>
            <a:endParaRPr sz="1600" b="0" i="0">
              <a:solidFill>
                <a:schemeClr val="tx1"/>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10596</Words>
  <Application>WPS Presentation</Application>
  <PresentationFormat>On-screen Show (4:3)</PresentationFormat>
  <Paragraphs>500</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Arial</vt:lpstr>
      <vt:lpstr>SimSun</vt:lpstr>
      <vt:lpstr>Wingdings</vt:lpstr>
      <vt:lpstr>Arial</vt:lpstr>
      <vt:lpstr>Calibri</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Igbagboyemi Adelekan</cp:lastModifiedBy>
  <cp:revision>4</cp:revision>
  <dcterms:created xsi:type="dcterms:W3CDTF">2013-01-27T09:14:00Z</dcterms:created>
  <dcterms:modified xsi:type="dcterms:W3CDTF">2026-06-15T11:00:04Z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C542F20AA20A4CDCAB8FDCFF63390525_12</vt:lpwstr>
  </property>
</Properties>
</file>