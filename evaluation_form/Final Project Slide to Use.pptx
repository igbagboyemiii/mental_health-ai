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29"/>
  </p:notesMasterIdLst>
  <p:sldIdLst>
    <p:sldId id="505" r:id="rId2"/>
    <p:sldId id="509" r:id="rId3"/>
    <p:sldId id="573" r:id="rId4"/>
    <p:sldId id="561" r:id="rId5"/>
    <p:sldId id="563" r:id="rId6"/>
    <p:sldId id="562" r:id="rId7"/>
    <p:sldId id="585" r:id="rId8"/>
    <p:sldId id="584" r:id="rId9"/>
    <p:sldId id="564" r:id="rId10"/>
    <p:sldId id="566" r:id="rId11"/>
    <p:sldId id="559" r:id="rId12"/>
    <p:sldId id="560" r:id="rId13"/>
    <p:sldId id="580" r:id="rId14"/>
    <p:sldId id="581" r:id="rId15"/>
    <p:sldId id="567" r:id="rId16"/>
    <p:sldId id="568" r:id="rId17"/>
    <p:sldId id="569" r:id="rId18"/>
    <p:sldId id="570" r:id="rId19"/>
    <p:sldId id="571" r:id="rId20"/>
    <p:sldId id="572" r:id="rId21"/>
    <p:sldId id="574" r:id="rId22"/>
    <p:sldId id="576" r:id="rId23"/>
    <p:sldId id="577" r:id="rId24"/>
    <p:sldId id="575" r:id="rId25"/>
    <p:sldId id="578" r:id="rId26"/>
    <p:sldId id="582" r:id="rId27"/>
    <p:sldId id="281" r:id="rId28"/>
  </p:sldIdLst>
  <p:sldSz cx="9144000" cy="5143500" type="screen16x9"/>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61B0B"/>
    <a:srgbClr val="800080"/>
    <a:srgbClr val="460046"/>
    <a:srgbClr val="140A0F"/>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5" autoAdjust="0"/>
    <p:restoredTop sz="90824" autoAdjust="0"/>
  </p:normalViewPr>
  <p:slideViewPr>
    <p:cSldViewPr showGuides="1">
      <p:cViewPr varScale="1">
        <p:scale>
          <a:sx n="116" d="100"/>
          <a:sy n="116" d="100"/>
        </p:scale>
        <p:origin x="252" y="72"/>
      </p:cViewPr>
      <p:guideLst>
        <p:guide orient="horz" pos="1620"/>
        <p:guide pos="2874"/>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388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2" tIns="46587" rIns="93172" bIns="46587" rtlCol="0"/>
          <a:lstStyle>
            <a:lvl1pPr algn="l">
              <a:defRPr sz="1200"/>
            </a:lvl1pPr>
          </a:lstStyle>
          <a:p>
            <a:endParaRPr lang="en-GB" dirty="0"/>
          </a:p>
        </p:txBody>
      </p:sp>
      <p:sp>
        <p:nvSpPr>
          <p:cNvPr id="3" name="Date Placeholder 2"/>
          <p:cNvSpPr>
            <a:spLocks noGrp="1"/>
          </p:cNvSpPr>
          <p:nvPr>
            <p:ph type="dt" idx="1"/>
          </p:nvPr>
        </p:nvSpPr>
        <p:spPr>
          <a:xfrm>
            <a:off x="3970938" y="0"/>
            <a:ext cx="3037840" cy="464820"/>
          </a:xfrm>
          <a:prstGeom prst="rect">
            <a:avLst/>
          </a:prstGeom>
        </p:spPr>
        <p:txBody>
          <a:bodyPr vert="horz" lIns="93172" tIns="46587" rIns="93172" bIns="46587" rtlCol="0"/>
          <a:lstStyle>
            <a:lvl1pPr algn="r">
              <a:defRPr sz="1200"/>
            </a:lvl1pPr>
          </a:lstStyle>
          <a:p>
            <a:fld id="{7F34A9D9-07E7-40B1-82C0-35D5A1851A62}" type="datetimeFigureOut">
              <a:rPr lang="en-GB" smtClean="0"/>
              <a:t>15/06/2026</a:t>
            </a:fld>
            <a:endParaRPr lang="en-GB"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2" tIns="46587" rIns="93172" bIns="46587" rtlCol="0" anchor="ctr"/>
          <a:lstStyle/>
          <a:p>
            <a:endParaRPr lang="en-GB"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2" tIns="46587" rIns="93172" bIns="4658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4820"/>
          </a:xfrm>
          <a:prstGeom prst="rect">
            <a:avLst/>
          </a:prstGeom>
        </p:spPr>
        <p:txBody>
          <a:bodyPr vert="horz" lIns="93172" tIns="46587" rIns="93172" bIns="46587" rtlCol="0" anchor="b"/>
          <a:lstStyle>
            <a:lvl1pPr algn="l">
              <a:defRPr sz="1200"/>
            </a:lvl1pPr>
          </a:lstStyle>
          <a:p>
            <a:endParaRPr lang="en-GB"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2" tIns="46587" rIns="93172" bIns="46587" rtlCol="0" anchor="b"/>
          <a:lstStyle>
            <a:lvl1pPr algn="r">
              <a:defRPr sz="1200"/>
            </a:lvl1pPr>
          </a:lstStyle>
          <a:p>
            <a:fld id="{DB5E19A0-EDAB-41BF-AF21-EA681AC67A65}"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3</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4</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5</a:t>
            </a:fld>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6</a:t>
            </a:fld>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7</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8</a:t>
            </a:fld>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9</a:t>
            </a:fld>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10</a:t>
            </a:fld>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11</a:t>
            </a:fld>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12</a:t>
            </a:fld>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13</a:t>
            </a:fld>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14</a:t>
            </a:fld>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15</a:t>
            </a:fld>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16</a:t>
            </a:fld>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17</a:t>
            </a:fld>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18</a:t>
            </a:fld>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19</a:t>
            </a:fld>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20</a:t>
            </a:fld>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21</a:t>
            </a:fld>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22</a:t>
            </a:fld>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23</a:t>
            </a:fld>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24</a:t>
            </a:fld>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25</a:t>
            </a:fld>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26</a:t>
            </a:fld>
            <a:endParaRPr lang="en-GB"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B5E19A0-EDAB-41BF-AF21-EA681AC67A65}" type="slidenum">
              <a:rPr lang="en-GB" smtClean="0"/>
              <a:t>27</a:t>
            </a:fld>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8"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t="4858" r="927" b="24157"/>
          <a:stretch>
            <a:fillRect/>
          </a:stretch>
        </p:blipFill>
        <p:spPr bwMode="auto">
          <a:xfrm>
            <a:off x="-8324" y="-20537"/>
            <a:ext cx="9152327" cy="25922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2" y="2571755"/>
            <a:ext cx="7772400" cy="1102519"/>
          </a:xfrm>
          <a:solidFill>
            <a:srgbClr val="FFFFFF">
              <a:alpha val="52157"/>
            </a:srgbClr>
          </a:solidFill>
        </p:spPr>
        <p:txBody>
          <a:bodyPr>
            <a:normAutofit/>
          </a:bodyPr>
          <a:lstStyle>
            <a:lvl1pPr>
              <a:defRPr sz="4000" b="1">
                <a:solidFill>
                  <a:srgbClr val="460046"/>
                </a:solidFill>
                <a:latin typeface="Merriweather" panose="00000500000000000000" pitchFamily="2" charset="0"/>
              </a:defRPr>
            </a:lvl1pPr>
          </a:lstStyle>
          <a:p>
            <a:r>
              <a:rPr lang="en-US" dirty="0"/>
              <a:t>Click to edit Master title style</a:t>
            </a:r>
            <a:endParaRPr lang="en-GB" dirty="0"/>
          </a:p>
        </p:txBody>
      </p:sp>
      <p:sp>
        <p:nvSpPr>
          <p:cNvPr id="3" name="Subtitle 2"/>
          <p:cNvSpPr>
            <a:spLocks noGrp="1"/>
          </p:cNvSpPr>
          <p:nvPr>
            <p:ph type="subTitle" idx="1"/>
          </p:nvPr>
        </p:nvSpPr>
        <p:spPr>
          <a:xfrm>
            <a:off x="1371600" y="3727971"/>
            <a:ext cx="6400800" cy="738386"/>
          </a:xfrm>
        </p:spPr>
        <p:txBody>
          <a:bodyPr>
            <a:normAutofit/>
          </a:bodyPr>
          <a:lstStyle>
            <a:lvl1pPr marL="0" indent="0" algn="ctr">
              <a:buNone/>
              <a:defRPr sz="2000" b="1">
                <a:solidFill>
                  <a:srgbClr val="460046"/>
                </a:solidFill>
                <a:latin typeface="Merriweather" panose="00000500000000000000"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6" name="Oval 5"/>
          <p:cNvSpPr/>
          <p:nvPr userDrawn="1"/>
        </p:nvSpPr>
        <p:spPr>
          <a:xfrm>
            <a:off x="3779913" y="843558"/>
            <a:ext cx="1295339" cy="1295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pic>
        <p:nvPicPr>
          <p:cNvPr id="7" name="Picture 2" descr="CU 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019462" y="1060538"/>
            <a:ext cx="816244" cy="8613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pattFill prst="pct5">
          <a:fgClr>
            <a:srgbClr val="460046"/>
          </a:fgClr>
          <a:bgClr>
            <a:schemeClr val="bg1"/>
          </a:bgClr>
        </a:pattFill>
        <a:effectLst/>
      </p:bgPr>
    </p:bg>
    <p:spTree>
      <p:nvGrpSpPr>
        <p:cNvPr id="1" name=""/>
        <p:cNvGrpSpPr/>
        <p:nvPr/>
      </p:nvGrpSpPr>
      <p:grpSpPr>
        <a:xfrm>
          <a:off x="0" y="0"/>
          <a:ext cx="0" cy="0"/>
          <a:chOff x="0" y="0"/>
          <a:chExt cx="0" cy="0"/>
        </a:xfrm>
      </p:grpSpPr>
      <p:pic>
        <p:nvPicPr>
          <p:cNvPr id="1028"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806" t="4858" r="15799" b="9187"/>
          <a:stretch>
            <a:fillRect/>
          </a:stretch>
        </p:blipFill>
        <p:spPr bwMode="auto">
          <a:xfrm>
            <a:off x="-1" y="486238"/>
            <a:ext cx="9144002" cy="417646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3435851"/>
            <a:ext cx="7772400" cy="1102519"/>
          </a:xfrm>
          <a:solidFill>
            <a:srgbClr val="FFFFFF">
              <a:alpha val="52157"/>
            </a:srgbClr>
          </a:solidFill>
        </p:spPr>
        <p:txBody>
          <a:bodyPr>
            <a:normAutofit/>
          </a:bodyPr>
          <a:lstStyle>
            <a:lvl1pPr>
              <a:defRPr sz="4000" b="1">
                <a:solidFill>
                  <a:srgbClr val="460046"/>
                </a:solidFill>
                <a:latin typeface="Merriweather" panose="00000500000000000000" pitchFamily="2" charset="0"/>
              </a:defRPr>
            </a:lvl1pPr>
          </a:lstStyle>
          <a:p>
            <a:r>
              <a:rPr lang="en-US" dirty="0"/>
              <a:t>Click to edit Master title style</a:t>
            </a:r>
            <a:endParaRPr lang="en-GB" dirty="0"/>
          </a:p>
        </p:txBody>
      </p:sp>
      <p:grpSp>
        <p:nvGrpSpPr>
          <p:cNvPr id="4" name="Group 3"/>
          <p:cNvGrpSpPr/>
          <p:nvPr userDrawn="1"/>
        </p:nvGrpSpPr>
        <p:grpSpPr>
          <a:xfrm>
            <a:off x="3707906" y="605140"/>
            <a:ext cx="1295339" cy="1295339"/>
            <a:chOff x="4187484" y="305631"/>
            <a:chExt cx="3280116" cy="3280116"/>
          </a:xfrm>
        </p:grpSpPr>
        <p:sp>
          <p:nvSpPr>
            <p:cNvPr id="5" name="Oval 4"/>
            <p:cNvSpPr/>
            <p:nvPr userDrawn="1"/>
          </p:nvSpPr>
          <p:spPr>
            <a:xfrm>
              <a:off x="4187484" y="305631"/>
              <a:ext cx="3280116" cy="32801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pic>
          <p:nvPicPr>
            <p:cNvPr id="6" name="Picture 2" descr="CU 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794080" y="855077"/>
              <a:ext cx="2066925" cy="2181225"/>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586" t="69231" r="342" b="17546"/>
          <a:stretch>
            <a:fillRect/>
          </a:stretch>
        </p:blipFill>
        <p:spPr bwMode="auto">
          <a:xfrm>
            <a:off x="-5468" y="4681182"/>
            <a:ext cx="9152327" cy="4828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51521" y="205979"/>
            <a:ext cx="8136905" cy="857250"/>
          </a:xfrm>
        </p:spPr>
        <p:txBody>
          <a:bodyPr>
            <a:normAutofit/>
          </a:bodyPr>
          <a:lstStyle>
            <a:lvl1pPr algn="l">
              <a:defRPr sz="3200" b="1">
                <a:solidFill>
                  <a:srgbClr val="460046"/>
                </a:solidFill>
                <a:latin typeface="Merriweather" panose="00000500000000000000" pitchFamily="2" charset="0"/>
              </a:defRPr>
            </a:lvl1pPr>
          </a:lstStyle>
          <a:p>
            <a:r>
              <a:rPr lang="en-US" dirty="0"/>
              <a:t>Click to edit Master title style</a:t>
            </a:r>
            <a:endParaRPr lang="en-GB" dirty="0"/>
          </a:p>
        </p:txBody>
      </p:sp>
      <p:sp>
        <p:nvSpPr>
          <p:cNvPr id="3" name="Content Placeholder 2"/>
          <p:cNvSpPr>
            <a:spLocks noGrp="1"/>
          </p:cNvSpPr>
          <p:nvPr>
            <p:ph idx="1"/>
          </p:nvPr>
        </p:nvSpPr>
        <p:spPr>
          <a:xfrm>
            <a:off x="251520" y="1200151"/>
            <a:ext cx="8640960" cy="3394472"/>
          </a:xfrm>
        </p:spPr>
        <p:txBody>
          <a:bodyPr anchor="ctr">
            <a:normAutofit/>
          </a:bodyPr>
          <a:lstStyle>
            <a:lvl1pPr marL="342900" indent="-342900">
              <a:lnSpc>
                <a:spcPct val="114000"/>
              </a:lnSpc>
              <a:spcBef>
                <a:spcPts val="500"/>
              </a:spcBef>
              <a:buFont typeface="Wingdings" panose="05000000000000000000" pitchFamily="2" charset="2"/>
              <a:buChar char="§"/>
              <a:defRPr sz="2400">
                <a:latin typeface="Roboto" panose="02000000000000000000" pitchFamily="2" charset="0"/>
                <a:ea typeface="Roboto" panose="02000000000000000000" pitchFamily="2" charset="0"/>
              </a:defRPr>
            </a:lvl1pPr>
            <a:lvl2pPr marL="742950" indent="-285750">
              <a:lnSpc>
                <a:spcPct val="114000"/>
              </a:lnSpc>
              <a:spcBef>
                <a:spcPts val="500"/>
              </a:spcBef>
              <a:buFont typeface="Wingdings" panose="05000000000000000000" pitchFamily="2" charset="2"/>
              <a:buChar char="§"/>
              <a:defRPr sz="2000">
                <a:solidFill>
                  <a:srgbClr val="C00000"/>
                </a:solidFill>
                <a:latin typeface="Roboto" panose="02000000000000000000" pitchFamily="2" charset="0"/>
                <a:ea typeface="Roboto" panose="02000000000000000000" pitchFamily="2" charset="0"/>
              </a:defRPr>
            </a:lvl2pPr>
            <a:lvl3pPr marL="1143000" indent="-228600">
              <a:lnSpc>
                <a:spcPct val="114000"/>
              </a:lnSpc>
              <a:spcBef>
                <a:spcPts val="500"/>
              </a:spcBef>
              <a:buFont typeface="Wingdings" panose="05000000000000000000" pitchFamily="2" charset="2"/>
              <a:buChar char="§"/>
              <a:defRPr sz="1800">
                <a:solidFill>
                  <a:srgbClr val="460046"/>
                </a:solidFill>
                <a:latin typeface="Roboto" panose="02000000000000000000" pitchFamily="2" charset="0"/>
                <a:ea typeface="Roboto" panose="02000000000000000000" pitchFamily="2" charset="0"/>
              </a:defRPr>
            </a:lvl3pPr>
            <a:lvl4pPr marL="1600200" indent="-228600">
              <a:lnSpc>
                <a:spcPct val="114000"/>
              </a:lnSpc>
              <a:spcBef>
                <a:spcPts val="500"/>
              </a:spcBef>
              <a:buFont typeface="Wingdings" panose="05000000000000000000" pitchFamily="2" charset="2"/>
              <a:buChar char="§"/>
              <a:defRPr sz="1600">
                <a:solidFill>
                  <a:srgbClr val="161B0B"/>
                </a:solidFill>
                <a:latin typeface="Roboto" panose="02000000000000000000" pitchFamily="2" charset="0"/>
                <a:ea typeface="Roboto" panose="02000000000000000000" pitchFamily="2" charset="0"/>
              </a:defRPr>
            </a:lvl4pPr>
            <a:lvl5pPr marL="2057400" indent="-228600">
              <a:lnSpc>
                <a:spcPct val="114000"/>
              </a:lnSpc>
              <a:spcBef>
                <a:spcPts val="500"/>
              </a:spcBef>
              <a:buFont typeface="Symbol" panose="05050102010706020507" pitchFamily="18" charset="2"/>
              <a:buChar char="-"/>
              <a:defRPr sz="1600">
                <a:solidFill>
                  <a:schemeClr val="accent6">
                    <a:lumMod val="50000"/>
                  </a:schemeClr>
                </a:solidFill>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0" t="25565" r="1018" b="67823"/>
          <a:stretch>
            <a:fillRect/>
          </a:stretch>
        </p:blipFill>
        <p:spPr bwMode="auto">
          <a:xfrm>
            <a:off x="-8325" y="-121718"/>
            <a:ext cx="9152327" cy="24142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userDrawn="1"/>
        </p:nvCxnSpPr>
        <p:spPr>
          <a:xfrm>
            <a:off x="-8325" y="1059582"/>
            <a:ext cx="4004263" cy="0"/>
          </a:xfrm>
          <a:prstGeom prst="line">
            <a:avLst/>
          </a:prstGeom>
          <a:ln>
            <a:solidFill>
              <a:srgbClr val="4600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 name="Slide Number Placeholder 5"/>
          <p:cNvSpPr>
            <a:spLocks noGrp="1"/>
          </p:cNvSpPr>
          <p:nvPr>
            <p:ph type="sldNum" sz="quarter" idx="12"/>
          </p:nvPr>
        </p:nvSpPr>
        <p:spPr>
          <a:xfrm>
            <a:off x="8532727" y="202782"/>
            <a:ext cx="576064" cy="856800"/>
          </a:xfrm>
          <a:solidFill>
            <a:srgbClr val="140A0F"/>
          </a:solidFill>
        </p:spPr>
        <p:txBody>
          <a:bodyPr anchor="t"/>
          <a:lstStyle>
            <a:lvl1pPr>
              <a:defRPr sz="1800">
                <a:solidFill>
                  <a:schemeClr val="bg1"/>
                </a:solidFill>
              </a:defRPr>
            </a:lvl1pPr>
          </a:lstStyle>
          <a:p>
            <a:fld id="{B310DB28-467B-42AB-AF30-926E64120C57}" type="slidenum">
              <a:rPr lang="en-GB" smtClean="0"/>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586" t="69231" r="342" b="17546"/>
          <a:stretch>
            <a:fillRect/>
          </a:stretch>
        </p:blipFill>
        <p:spPr bwMode="auto">
          <a:xfrm>
            <a:off x="-5468" y="4681182"/>
            <a:ext cx="9152327" cy="4828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67544" y="205979"/>
            <a:ext cx="8136905" cy="857250"/>
          </a:xfrm>
        </p:spPr>
        <p:txBody>
          <a:bodyPr>
            <a:normAutofit/>
          </a:bodyPr>
          <a:lstStyle>
            <a:lvl1pPr algn="ctr">
              <a:defRPr sz="3200" b="1">
                <a:solidFill>
                  <a:srgbClr val="460046"/>
                </a:solidFill>
                <a:latin typeface="Merriweather" panose="00000500000000000000" pitchFamily="2" charset="0"/>
              </a:defRPr>
            </a:lvl1pPr>
          </a:lstStyle>
          <a:p>
            <a:r>
              <a:rPr lang="en-US" dirty="0"/>
              <a:t>Click to edit Master title style</a:t>
            </a:r>
            <a:endParaRPr lang="en-GB" dirty="0"/>
          </a:p>
        </p:txBody>
      </p:sp>
      <p:sp>
        <p:nvSpPr>
          <p:cNvPr id="3" name="Content Placeholder 2"/>
          <p:cNvSpPr>
            <a:spLocks noGrp="1"/>
          </p:cNvSpPr>
          <p:nvPr>
            <p:ph idx="1"/>
          </p:nvPr>
        </p:nvSpPr>
        <p:spPr>
          <a:xfrm>
            <a:off x="251520" y="1200151"/>
            <a:ext cx="8640960" cy="3394472"/>
          </a:xfrm>
        </p:spPr>
        <p:txBody>
          <a:bodyPr anchor="ctr">
            <a:normAutofit/>
          </a:bodyPr>
          <a:lstStyle>
            <a:lvl1pPr marL="342900" indent="-342900">
              <a:lnSpc>
                <a:spcPct val="114000"/>
              </a:lnSpc>
              <a:spcBef>
                <a:spcPts val="500"/>
              </a:spcBef>
              <a:buFont typeface="Wingdings" panose="05000000000000000000" pitchFamily="2" charset="2"/>
              <a:buChar char="§"/>
              <a:defRPr sz="2400">
                <a:latin typeface="Roboto" panose="02000000000000000000" pitchFamily="2" charset="0"/>
                <a:ea typeface="Roboto" panose="02000000000000000000" pitchFamily="2" charset="0"/>
              </a:defRPr>
            </a:lvl1pPr>
            <a:lvl2pPr marL="742950" indent="-285750">
              <a:lnSpc>
                <a:spcPct val="114000"/>
              </a:lnSpc>
              <a:spcBef>
                <a:spcPts val="500"/>
              </a:spcBef>
              <a:buFont typeface="Wingdings" panose="05000000000000000000" pitchFamily="2" charset="2"/>
              <a:buChar char="§"/>
              <a:defRPr sz="2000">
                <a:solidFill>
                  <a:srgbClr val="C00000"/>
                </a:solidFill>
                <a:latin typeface="Roboto" panose="02000000000000000000" pitchFamily="2" charset="0"/>
                <a:ea typeface="Roboto" panose="02000000000000000000" pitchFamily="2" charset="0"/>
              </a:defRPr>
            </a:lvl2pPr>
            <a:lvl3pPr marL="1143000" indent="-228600">
              <a:lnSpc>
                <a:spcPct val="114000"/>
              </a:lnSpc>
              <a:spcBef>
                <a:spcPts val="500"/>
              </a:spcBef>
              <a:buFont typeface="Wingdings" panose="05000000000000000000" pitchFamily="2" charset="2"/>
              <a:buChar char="§"/>
              <a:defRPr sz="1800">
                <a:solidFill>
                  <a:srgbClr val="460046"/>
                </a:solidFill>
                <a:latin typeface="Roboto" panose="02000000000000000000" pitchFamily="2" charset="0"/>
                <a:ea typeface="Roboto" panose="02000000000000000000" pitchFamily="2" charset="0"/>
              </a:defRPr>
            </a:lvl3pPr>
            <a:lvl4pPr marL="1600200" indent="-228600">
              <a:lnSpc>
                <a:spcPct val="114000"/>
              </a:lnSpc>
              <a:spcBef>
                <a:spcPts val="500"/>
              </a:spcBef>
              <a:buFont typeface="Wingdings" panose="05000000000000000000" pitchFamily="2" charset="2"/>
              <a:buChar char="§"/>
              <a:defRPr sz="1600">
                <a:solidFill>
                  <a:srgbClr val="161B0B"/>
                </a:solidFill>
                <a:latin typeface="Roboto" panose="02000000000000000000" pitchFamily="2" charset="0"/>
                <a:ea typeface="Roboto" panose="02000000000000000000" pitchFamily="2" charset="0"/>
              </a:defRPr>
            </a:lvl4pPr>
            <a:lvl5pPr marL="2057400" indent="-228600">
              <a:lnSpc>
                <a:spcPct val="114000"/>
              </a:lnSpc>
              <a:spcBef>
                <a:spcPts val="500"/>
              </a:spcBef>
              <a:buFont typeface="Symbol" panose="05050102010706020507" pitchFamily="18" charset="2"/>
              <a:buChar char="-"/>
              <a:defRPr sz="1600">
                <a:solidFill>
                  <a:schemeClr val="accent6">
                    <a:lumMod val="50000"/>
                  </a:schemeClr>
                </a:solidFill>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12"/>
          </p:nvPr>
        </p:nvSpPr>
        <p:spPr>
          <a:xfrm>
            <a:off x="8532727" y="4660149"/>
            <a:ext cx="576064" cy="482857"/>
          </a:xfrm>
          <a:solidFill>
            <a:srgbClr val="140A0F"/>
          </a:solidFill>
        </p:spPr>
        <p:txBody>
          <a:bodyPr anchor="t"/>
          <a:lstStyle>
            <a:lvl1pPr>
              <a:defRPr sz="1800">
                <a:solidFill>
                  <a:schemeClr val="bg1"/>
                </a:solidFill>
              </a:defRPr>
            </a:lvl1pPr>
          </a:lstStyle>
          <a:p>
            <a:fld id="{B310DB28-467B-42AB-AF30-926E64120C57}" type="slidenum">
              <a:rPr lang="en-GB" smtClean="0"/>
              <a:t>‹#›</a:t>
            </a:fld>
            <a:endParaRPr lang="en-GB" dirty="0"/>
          </a:p>
        </p:txBody>
      </p:sp>
      <p:pic>
        <p:nvPicPr>
          <p:cNvPr id="9"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0" t="25565" r="1018" b="67823"/>
          <a:stretch>
            <a:fillRect/>
          </a:stretch>
        </p:blipFill>
        <p:spPr bwMode="auto">
          <a:xfrm>
            <a:off x="-8325" y="-121718"/>
            <a:ext cx="9152327" cy="24142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userDrawn="1"/>
        </p:nvCxnSpPr>
        <p:spPr>
          <a:xfrm>
            <a:off x="2569872" y="1059582"/>
            <a:ext cx="4004263" cy="0"/>
          </a:xfrm>
          <a:prstGeom prst="line">
            <a:avLst/>
          </a:prstGeom>
          <a:ln>
            <a:solidFill>
              <a:srgbClr val="4600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0" t="25565" r="1018" b="67823"/>
          <a:stretch>
            <a:fillRect/>
          </a:stretch>
        </p:blipFill>
        <p:spPr bwMode="auto">
          <a:xfrm>
            <a:off x="-8325" y="-121718"/>
            <a:ext cx="9152327" cy="241428"/>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a:xfrm>
            <a:off x="8460432" y="4587978"/>
            <a:ext cx="576064" cy="539275"/>
          </a:xfrm>
          <a:solidFill>
            <a:srgbClr val="460046"/>
          </a:solidFill>
        </p:spPr>
        <p:txBody>
          <a:bodyPr anchor="b"/>
          <a:lstStyle>
            <a:lvl1pPr>
              <a:defRPr sz="1800">
                <a:solidFill>
                  <a:schemeClr val="bg1"/>
                </a:solidFill>
              </a:defRPr>
            </a:lvl1pPr>
          </a:lstStyle>
          <a:p>
            <a:fld id="{B310DB28-467B-42AB-AF30-926E64120C57}" type="slidenum">
              <a:rPr lang="en-GB" smtClean="0"/>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1" y="900113"/>
            <a:ext cx="4038601"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900113"/>
            <a:ext cx="4038601"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310DB28-467B-42AB-AF30-926E64120C57}" type="slidenum">
              <a:rPr lang="en-GB" smtClean="0"/>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0"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586" t="69231" r="342" b="17546"/>
          <a:stretch>
            <a:fillRect/>
          </a:stretch>
        </p:blipFill>
        <p:spPr bwMode="auto">
          <a:xfrm>
            <a:off x="-5468" y="4681182"/>
            <a:ext cx="9152327" cy="482856"/>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5"/>
          <p:cNvSpPr txBox="1"/>
          <p:nvPr userDrawn="1"/>
        </p:nvSpPr>
        <p:spPr>
          <a:xfrm>
            <a:off x="8532727" y="4286202"/>
            <a:ext cx="576064" cy="856800"/>
          </a:xfrm>
          <a:prstGeom prst="rect">
            <a:avLst/>
          </a:prstGeom>
          <a:solidFill>
            <a:srgbClr val="140A0F"/>
          </a:solidFill>
        </p:spPr>
        <p:txBody>
          <a:bodyPr vert="horz" lIns="91440" tIns="45721" rIns="91440" bIns="45721" rtlCol="0" anchor="t"/>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310DB28-467B-42AB-AF30-926E64120C57}" type="slidenum">
              <a:rPr lang="en-GB" sz="1800" smtClean="0"/>
              <a:t>‹#›</a:t>
            </a:fld>
            <a:endParaRPr lang="en-GB" sz="1800" dirty="0"/>
          </a:p>
        </p:txBody>
      </p:sp>
      <p:pic>
        <p:nvPicPr>
          <p:cNvPr id="12"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0" t="25565" r="1018" b="67823"/>
          <a:stretch>
            <a:fillRect/>
          </a:stretch>
        </p:blipFill>
        <p:spPr bwMode="auto">
          <a:xfrm>
            <a:off x="-8325" y="-121718"/>
            <a:ext cx="9152327" cy="241428"/>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idx="1"/>
          </p:nvPr>
        </p:nvSpPr>
        <p:spPr>
          <a:xfrm>
            <a:off x="179515" y="1151335"/>
            <a:ext cx="4317876" cy="479822"/>
          </a:xfrm>
          <a:solidFill>
            <a:schemeClr val="bg1">
              <a:lumMod val="95000"/>
            </a:schemeClr>
          </a:solidFill>
        </p:spPr>
        <p:txBody>
          <a:bodyPr anchor="b">
            <a:normAutofit/>
          </a:bodyPr>
          <a:lstStyle>
            <a:lvl1pPr marL="0" indent="0" algn="ctr">
              <a:buNone/>
              <a:defRPr sz="2000" b="1">
                <a:solidFill>
                  <a:srgbClr val="C00000"/>
                </a:solidFill>
                <a:latin typeface="Merriweather"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79515" y="1631156"/>
            <a:ext cx="4317876" cy="2963466"/>
          </a:xfrm>
        </p:spPr>
        <p:txBody>
          <a:bodyPr>
            <a:normAutofit/>
          </a:bodyPr>
          <a:lstStyle>
            <a:lvl1pPr>
              <a:defRPr sz="2000">
                <a:latin typeface="Roboto" panose="02000000000000000000" pitchFamily="2" charset="0"/>
                <a:ea typeface="Roboto" panose="02000000000000000000" pitchFamily="2" charset="0"/>
              </a:defRPr>
            </a:lvl1pPr>
            <a:lvl2pPr>
              <a:defRPr sz="1800">
                <a:solidFill>
                  <a:srgbClr val="C00000"/>
                </a:solidFill>
                <a:latin typeface="Roboto" panose="02000000000000000000" pitchFamily="2" charset="0"/>
                <a:ea typeface="Roboto" panose="02000000000000000000" pitchFamily="2" charset="0"/>
              </a:defRPr>
            </a:lvl2pPr>
            <a:lvl3pPr>
              <a:defRPr sz="1600">
                <a:solidFill>
                  <a:srgbClr val="002060"/>
                </a:solidFill>
                <a:latin typeface="Roboto" panose="02000000000000000000" pitchFamily="2" charset="0"/>
                <a:ea typeface="Roboto" panose="02000000000000000000" pitchFamily="2" charset="0"/>
              </a:defRPr>
            </a:lvl3pPr>
            <a:lvl4pPr>
              <a:defRPr sz="1400">
                <a:latin typeface="Roboto" panose="02000000000000000000" pitchFamily="2" charset="0"/>
                <a:ea typeface="Roboto" panose="02000000000000000000" pitchFamily="2" charset="0"/>
              </a:defRPr>
            </a:lvl4pPr>
            <a:lvl5pPr>
              <a:defRPr sz="1400">
                <a:latin typeface="Roboto" panose="02000000000000000000" pitchFamily="2" charset="0"/>
                <a:ea typeface="Roboto" panose="02000000000000000000" pitchFamily="2"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8" y="1151335"/>
            <a:ext cx="4317876" cy="479822"/>
          </a:xfrm>
          <a:solidFill>
            <a:schemeClr val="bg1">
              <a:lumMod val="95000"/>
            </a:schemeClr>
          </a:solidFill>
        </p:spPr>
        <p:txBody>
          <a:bodyPr anchor="b">
            <a:normAutofit/>
          </a:bodyPr>
          <a:lstStyle>
            <a:lvl1pPr marL="0" indent="0" algn="ctr">
              <a:buNone/>
              <a:defRPr sz="2000" b="1">
                <a:solidFill>
                  <a:srgbClr val="C00000"/>
                </a:solidFill>
                <a:latin typeface="Merriweather"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8" y="1631156"/>
            <a:ext cx="4317876" cy="2963466"/>
          </a:xfrm>
        </p:spPr>
        <p:txBody>
          <a:bodyPr>
            <a:normAutofit/>
          </a:bodyPr>
          <a:lstStyle>
            <a:lvl1pPr>
              <a:defRPr sz="2000">
                <a:latin typeface="Roboto" panose="02000000000000000000" pitchFamily="2" charset="0"/>
                <a:ea typeface="Roboto" panose="02000000000000000000" pitchFamily="2" charset="0"/>
              </a:defRPr>
            </a:lvl1pPr>
            <a:lvl2pPr>
              <a:defRPr sz="1800">
                <a:solidFill>
                  <a:srgbClr val="C00000"/>
                </a:solidFill>
                <a:latin typeface="Roboto" panose="02000000000000000000" pitchFamily="2" charset="0"/>
                <a:ea typeface="Roboto" panose="02000000000000000000" pitchFamily="2" charset="0"/>
              </a:defRPr>
            </a:lvl2pPr>
            <a:lvl3pPr>
              <a:defRPr sz="1600">
                <a:solidFill>
                  <a:srgbClr val="002060"/>
                </a:solidFill>
                <a:latin typeface="Roboto" panose="02000000000000000000" pitchFamily="2" charset="0"/>
                <a:ea typeface="Roboto" panose="02000000000000000000" pitchFamily="2" charset="0"/>
              </a:defRPr>
            </a:lvl3pPr>
            <a:lvl4pPr>
              <a:defRPr sz="1400">
                <a:latin typeface="Roboto" panose="02000000000000000000" pitchFamily="2" charset="0"/>
                <a:ea typeface="Roboto" panose="02000000000000000000" pitchFamily="2" charset="0"/>
              </a:defRPr>
            </a:lvl4pPr>
            <a:lvl5pPr>
              <a:defRPr sz="1400">
                <a:latin typeface="Roboto" panose="02000000000000000000" pitchFamily="2" charset="0"/>
                <a:ea typeface="Roboto" panose="02000000000000000000" pitchFamily="2"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Title 1"/>
          <p:cNvSpPr>
            <a:spLocks noGrp="1"/>
          </p:cNvSpPr>
          <p:nvPr>
            <p:ph type="title"/>
          </p:nvPr>
        </p:nvSpPr>
        <p:spPr>
          <a:xfrm>
            <a:off x="516692" y="205979"/>
            <a:ext cx="8136905" cy="857250"/>
          </a:xfrm>
        </p:spPr>
        <p:txBody>
          <a:bodyPr>
            <a:normAutofit/>
          </a:bodyPr>
          <a:lstStyle>
            <a:lvl1pPr algn="ctr">
              <a:defRPr sz="3200" b="1">
                <a:solidFill>
                  <a:srgbClr val="460046"/>
                </a:solidFill>
                <a:latin typeface="Merriweather" panose="00000500000000000000" pitchFamily="2" charset="0"/>
              </a:defRPr>
            </a:lvl1pPr>
          </a:lstStyle>
          <a:p>
            <a:r>
              <a:rPr lang="en-US" dirty="0"/>
              <a:t>Click to edit Master title style</a:t>
            </a:r>
            <a:endParaRPr lang="en-GB" dirty="0"/>
          </a:p>
        </p:txBody>
      </p:sp>
      <p:cxnSp>
        <p:nvCxnSpPr>
          <p:cNvPr id="15" name="Straight Connector 14"/>
          <p:cNvCxnSpPr/>
          <p:nvPr userDrawn="1"/>
        </p:nvCxnSpPr>
        <p:spPr>
          <a:xfrm>
            <a:off x="4572000" y="1151336"/>
            <a:ext cx="0" cy="34432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310DB28-467B-42AB-AF30-926E64120C57}" type="slidenum">
              <a:rPr lang="en-GB" smtClean="0"/>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p:cNvSpPr>
            <a:spLocks noGrp="1"/>
          </p:cNvSpPr>
          <p:nvPr>
            <p:ph type="ftr" sz="quarter" idx="3"/>
          </p:nvPr>
        </p:nvSpPr>
        <p:spPr>
          <a:xfrm>
            <a:off x="3124202"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310DB28-467B-42AB-AF30-926E64120C57}" type="slidenum">
              <a:rPr lang="en-GB" smtClean="0"/>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14008" y="2787650"/>
            <a:ext cx="8581390" cy="1102360"/>
          </a:xfrm>
        </p:spPr>
        <p:txBody>
          <a:bodyPr>
            <a:noAutofit/>
          </a:bodyPr>
          <a:lstStyle/>
          <a:p>
            <a:r>
              <a:rPr lang="en-US" altLang="en-US" sz="2400" dirty="0" err="1" smtClean="0">
                <a:latin typeface="+mj-lt"/>
                <a:cs typeface="Bahnschrift SemiBold" panose="020B0502040204020203" charset="0"/>
                <a:sym typeface="+mn-ea"/>
              </a:rPr>
              <a:t>MindGuard</a:t>
            </a:r>
            <a:r>
              <a:rPr lang="en-US" altLang="en-US" sz="2400" dirty="0" smtClean="0">
                <a:latin typeface="+mj-lt"/>
                <a:cs typeface="Bahnschrift SemiBold" panose="020B0502040204020203" charset="0"/>
                <a:sym typeface="+mn-ea"/>
              </a:rPr>
              <a:t> : Development of a Browser Extension for Detecting Depressive Language in Adolescents in Online Communication Using a RAG-Driven LLM </a:t>
            </a:r>
            <a:endParaRPr lang="en-US" altLang="en-US" sz="2400" dirty="0">
              <a:latin typeface="+mj-lt"/>
              <a:cs typeface="Bahnschrift SemiBold" panose="020B0502040204020203" charset="0"/>
              <a:sym typeface="+mn-ea"/>
            </a:endParaRPr>
          </a:p>
        </p:txBody>
      </p:sp>
      <p:sp>
        <p:nvSpPr>
          <p:cNvPr id="7" name="Subtitle 6"/>
          <p:cNvSpPr>
            <a:spLocks noGrp="1"/>
          </p:cNvSpPr>
          <p:nvPr>
            <p:ph type="subTitle" idx="1"/>
          </p:nvPr>
        </p:nvSpPr>
        <p:spPr>
          <a:xfrm>
            <a:off x="336550" y="4083685"/>
            <a:ext cx="8536305" cy="615315"/>
          </a:xfrm>
        </p:spPr>
        <p:txBody>
          <a:bodyPr>
            <a:noAutofit/>
          </a:bodyPr>
          <a:lstStyle/>
          <a:p>
            <a:r>
              <a:rPr lang="en-US" altLang="en-US" sz="1800" dirty="0" err="1" smtClean="0">
                <a:latin typeface="+mj-lt"/>
                <a:cs typeface="Bahnschrift SemiBold" panose="020B0502040204020203" charset="0"/>
                <a:sym typeface="+mn-ea"/>
              </a:rPr>
              <a:t>Adelekan</a:t>
            </a:r>
            <a:r>
              <a:rPr lang="en-US" altLang="en-US" sz="1800" dirty="0" smtClean="0">
                <a:latin typeface="+mj-lt"/>
                <a:cs typeface="Bahnschrift SemiBold" panose="020B0502040204020203" charset="0"/>
                <a:sym typeface="+mn-ea"/>
              </a:rPr>
              <a:t> </a:t>
            </a:r>
            <a:r>
              <a:rPr lang="en-US" altLang="en-US" sz="1800" dirty="0" err="1" smtClean="0">
                <a:latin typeface="+mj-lt"/>
                <a:cs typeface="Bahnschrift SemiBold" panose="020B0502040204020203" charset="0"/>
                <a:sym typeface="+mn-ea"/>
              </a:rPr>
              <a:t>Igbagboyemi</a:t>
            </a:r>
            <a:r>
              <a:rPr lang="en-US" altLang="en-US" sz="1800" dirty="0" smtClean="0">
                <a:latin typeface="+mj-lt"/>
                <a:cs typeface="Bahnschrift SemiBold" panose="020B0502040204020203" charset="0"/>
                <a:sym typeface="+mn-ea"/>
              </a:rPr>
              <a:t> Mary . 22CC031793</a:t>
            </a:r>
            <a:endParaRPr lang="en-US" altLang="en-US" sz="1800" dirty="0">
              <a:latin typeface="+mj-lt"/>
              <a:cs typeface="Bahnschrift SemiBold" panose="020B0502040204020203" charset="0"/>
            </a:endParaRPr>
          </a:p>
        </p:txBody>
      </p:sp>
      <p:sp>
        <p:nvSpPr>
          <p:cNvPr id="5" name="Slide Number Placeholder 4"/>
          <p:cNvSpPr>
            <a:spLocks noGrp="1"/>
          </p:cNvSpPr>
          <p:nvPr>
            <p:ph type="sldNum" sz="quarter" idx="4294967295"/>
          </p:nvPr>
        </p:nvSpPr>
        <p:spPr>
          <a:xfrm>
            <a:off x="7010400" y="4767580"/>
            <a:ext cx="2133600" cy="273685"/>
          </a:xfrm>
        </p:spPr>
        <p:txBody>
          <a:bodyPr/>
          <a:lstStyle/>
          <a:p>
            <a:fld id="{B310DB28-467B-42AB-AF30-926E64120C57}" type="slidenum">
              <a:rPr lang="en-GB" smtClean="0"/>
              <a:t>1</a:t>
            </a:fld>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461665"/>
          </a:xfrm>
          <a:prstGeom prst="rect">
            <a:avLst/>
          </a:prstGeom>
          <a:noFill/>
        </p:spPr>
        <p:txBody>
          <a:bodyPr wrap="square" rtlCol="0">
            <a:spAutoFit/>
          </a:bodyPr>
          <a:lstStyle/>
          <a:p>
            <a:r>
              <a:rPr lang="en-US" altLang="en-US" sz="2400" b="1" dirty="0" smtClean="0">
                <a:latin typeface="+mj-lt"/>
                <a:ea typeface="Roboto" panose="02000000000000000000" pitchFamily="2" charset="0"/>
                <a:cs typeface="Bahnschrift SemiBold" panose="020B0502040204020203" charset="0"/>
              </a:rPr>
              <a:t>Presentation Outline</a:t>
            </a:r>
            <a:endParaRPr lang="en-US" altLang="en-US" sz="2400" b="1" dirty="0">
              <a:latin typeface="+mj-lt"/>
              <a:ea typeface="Roboto" panose="02000000000000000000" pitchFamily="2" charset="0"/>
              <a:cs typeface="Bahnschrift SemiBold" panose="020B0502040204020203" charset="0"/>
            </a:endParaRP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lnSpc>
                <a:spcPct val="140000"/>
              </a:lnSpc>
              <a:buFont typeface="Wingdings" panose="05000000000000000000" pitchFamily="2" charset="2"/>
              <a:buChar char="§"/>
            </a:pPr>
            <a:r>
              <a:rPr lang="en-US" altLang="en-US" sz="2400" dirty="0" smtClean="0">
                <a:sym typeface="+mn-ea"/>
              </a:rPr>
              <a:t>Introductio</a:t>
            </a:r>
            <a:r>
              <a:rPr lang="en-US" altLang="en-US" sz="2400" dirty="0" smtClean="0">
                <a:sym typeface="+mn-ea"/>
              </a:rPr>
              <a:t>n</a:t>
            </a:r>
          </a:p>
          <a:p>
            <a:pPr marL="342900" indent="-342900" algn="l">
              <a:lnSpc>
                <a:spcPct val="140000"/>
              </a:lnSpc>
              <a:buFont typeface="Wingdings" panose="05000000000000000000" pitchFamily="2" charset="2"/>
              <a:buChar char="§"/>
            </a:pPr>
            <a:r>
              <a:rPr lang="en-US" altLang="en-US" sz="2400" dirty="0" smtClean="0">
                <a:sym typeface="+mn-ea"/>
              </a:rPr>
              <a:t>Statement of the Problem</a:t>
            </a:r>
          </a:p>
          <a:p>
            <a:pPr marL="342900" indent="-342900" algn="l">
              <a:lnSpc>
                <a:spcPct val="140000"/>
              </a:lnSpc>
              <a:buFont typeface="Wingdings" panose="05000000000000000000" pitchFamily="2" charset="2"/>
              <a:buChar char="§"/>
            </a:pPr>
            <a:r>
              <a:rPr lang="en-US" altLang="en-US" sz="2400" dirty="0" smtClean="0">
                <a:sym typeface="+mn-ea"/>
              </a:rPr>
              <a:t>Literature Review</a:t>
            </a:r>
            <a:endParaRPr lang="en-US" altLang="en-US" sz="2400" dirty="0" smtClean="0">
              <a:sym typeface="+mn-ea"/>
            </a:endParaRPr>
          </a:p>
          <a:p>
            <a:pPr marL="342900" indent="-342900" algn="l">
              <a:lnSpc>
                <a:spcPct val="140000"/>
              </a:lnSpc>
              <a:buFont typeface="Wingdings" panose="05000000000000000000" pitchFamily="2" charset="2"/>
              <a:buChar char="§"/>
            </a:pPr>
            <a:r>
              <a:rPr lang="en-US" altLang="en-US" sz="2400" dirty="0" smtClean="0">
                <a:sym typeface="+mn-ea"/>
              </a:rPr>
              <a:t>Aim and Objectives</a:t>
            </a:r>
          </a:p>
          <a:p>
            <a:pPr marL="342900" indent="-342900" algn="l">
              <a:lnSpc>
                <a:spcPct val="140000"/>
              </a:lnSpc>
              <a:buFont typeface="Wingdings" panose="05000000000000000000" pitchFamily="2" charset="2"/>
              <a:buChar char="§"/>
            </a:pPr>
            <a:r>
              <a:rPr lang="en-US" altLang="en-US" sz="2400" dirty="0" smtClean="0">
                <a:sym typeface="+mn-ea"/>
              </a:rPr>
              <a:t>Methodology</a:t>
            </a:r>
          </a:p>
          <a:p>
            <a:pPr marL="342900" indent="-342900" algn="l">
              <a:lnSpc>
                <a:spcPct val="140000"/>
              </a:lnSpc>
              <a:buFont typeface="Wingdings" panose="05000000000000000000" pitchFamily="2" charset="2"/>
              <a:buChar char="§"/>
            </a:pPr>
            <a:r>
              <a:rPr lang="en-US" altLang="en-US" sz="2400" dirty="0" smtClean="0">
                <a:sym typeface="+mn-ea"/>
              </a:rPr>
              <a:t>Results</a:t>
            </a:r>
          </a:p>
          <a:p>
            <a:pPr marL="342900" indent="-342900" algn="l">
              <a:lnSpc>
                <a:spcPct val="140000"/>
              </a:lnSpc>
              <a:buFont typeface="Wingdings" panose="05000000000000000000" pitchFamily="2" charset="2"/>
              <a:buChar char="§"/>
            </a:pPr>
            <a:r>
              <a:rPr lang="en-US" altLang="en-US" sz="2400" dirty="0" smtClean="0">
                <a:sym typeface="+mn-ea"/>
              </a:rPr>
              <a:t>Significance</a:t>
            </a:r>
          </a:p>
          <a:p>
            <a:pPr marL="342900" indent="-342900" algn="l">
              <a:lnSpc>
                <a:spcPct val="140000"/>
              </a:lnSpc>
              <a:buFont typeface="Wingdings" panose="05000000000000000000" pitchFamily="2" charset="2"/>
              <a:buChar char="§"/>
            </a:pPr>
            <a:r>
              <a:rPr lang="en-US" altLang="en-US" sz="2400" dirty="0" smtClean="0">
                <a:sym typeface="+mn-ea"/>
              </a:rPr>
              <a:t>Conclusion</a:t>
            </a:r>
          </a:p>
          <a:p>
            <a:pPr marL="342900" indent="-342900" algn="l">
              <a:lnSpc>
                <a:spcPct val="140000"/>
              </a:lnSpc>
              <a:buFont typeface="Wingdings" panose="05000000000000000000" pitchFamily="2" charset="2"/>
              <a:buChar char="§"/>
            </a:pPr>
            <a:endParaRPr lang="en-US" altLang="en-US" sz="2400" dirty="0">
              <a:sym typeface="+mn-ea"/>
            </a:endParaRP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461665"/>
          </a:xfrm>
          <a:prstGeom prst="rect">
            <a:avLst/>
          </a:prstGeom>
          <a:noFill/>
        </p:spPr>
        <p:txBody>
          <a:bodyPr wrap="square" rtlCol="0">
            <a:spAutoFit/>
          </a:bodyPr>
          <a:lstStyle/>
          <a:p>
            <a:r>
              <a:rPr lang="en-US" altLang="en-US" sz="2400" b="1" dirty="0" err="1" smtClean="0">
                <a:latin typeface="+mj-lt"/>
                <a:ea typeface="Roboto" panose="02000000000000000000" pitchFamily="2" charset="0"/>
                <a:cs typeface="Bahnschrift SemiBold" panose="020B0502040204020203" charset="0"/>
              </a:rPr>
              <a:t>Scenairo</a:t>
            </a:r>
            <a:endParaRPr lang="en-US" altLang="en-US" sz="2400" b="1" dirty="0">
              <a:latin typeface="+mj-lt"/>
              <a:ea typeface="Roboto" panose="02000000000000000000" pitchFamily="2" charset="0"/>
              <a:cs typeface="Bahnschrift SemiBold" panose="020B0502040204020203" charset="0"/>
            </a:endParaRP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40000"/>
              </a:lnSpc>
            </a:pPr>
            <a:r>
              <a:rPr lang="en-US" sz="1800" dirty="0">
                <a:solidFill>
                  <a:srgbClr val="0F172A"/>
                </a:solidFill>
                <a:latin typeface="+mn-lt"/>
              </a:rPr>
              <a:t>Sarah is a 15-year-old high school </a:t>
            </a:r>
            <a:r>
              <a:rPr lang="en-US" sz="1800" dirty="0" smtClean="0">
                <a:solidFill>
                  <a:srgbClr val="0F172A"/>
                </a:solidFill>
                <a:latin typeface="+mn-lt"/>
              </a:rPr>
              <a:t>student</a:t>
            </a:r>
            <a:r>
              <a:rPr lang="en-US" sz="1800" dirty="0" smtClean="0">
                <a:solidFill>
                  <a:srgbClr val="0F172A"/>
                </a:solidFill>
              </a:rPr>
              <a:t>.</a:t>
            </a:r>
          </a:p>
          <a:p>
            <a:pPr algn="l">
              <a:lnSpc>
                <a:spcPct val="140000"/>
              </a:lnSpc>
            </a:pPr>
            <a:r>
              <a:rPr lang="en-US" sz="1400" dirty="0">
                <a:solidFill>
                  <a:srgbClr val="334155"/>
                </a:solidFill>
              </a:rPr>
              <a:t>She has been feeling increasingly isolated over the past few weeks. Instead of talking to her parents or teachers, she logs into her social media accounts late at night and writes:</a:t>
            </a:r>
          </a:p>
          <a:p>
            <a:pPr algn="l">
              <a:lnSpc>
                <a:spcPct val="140000"/>
              </a:lnSpc>
            </a:pPr>
            <a:endParaRPr lang="en-US" sz="2000" b="1" dirty="0">
              <a:solidFill>
                <a:srgbClr val="0F172A"/>
              </a:solidFill>
            </a:endParaRPr>
          </a:p>
          <a:p>
            <a:pPr marL="342900" indent="-342900" algn="l">
              <a:lnSpc>
                <a:spcPct val="140000"/>
              </a:lnSpc>
              <a:buFont typeface="Arial" panose="020B0604020202020204" pitchFamily="34" charset="0"/>
              <a:buChar char="•"/>
            </a:pPr>
            <a:endParaRPr lang="en-US" altLang="en-US" sz="2000" dirty="0">
              <a:sym typeface="+mn-ea"/>
            </a:endParaRP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3</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Who is a Digital Forensic Investigator?</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lnSpc>
                <a:spcPct val="140000"/>
              </a:lnSpc>
              <a:buFont typeface="Arial" panose="020B0604020202020204" pitchFamily="34" charset="0"/>
              <a:buAutoNum type="arabicPeriod"/>
            </a:pPr>
            <a:r>
              <a:rPr lang="en-US" altLang="en-US" sz="2400" b="1" dirty="0">
                <a:sym typeface="+mn-ea"/>
              </a:rPr>
              <a:t>Evidence Collection:</a:t>
            </a:r>
            <a:r>
              <a:rPr lang="en-US" altLang="en-US" sz="2400" dirty="0">
                <a:sym typeface="+mn-ea"/>
              </a:rPr>
              <a:t> Secure and photograph devices before touching. Isolate from networks immediately.</a:t>
            </a:r>
          </a:p>
          <a:p>
            <a:pPr marL="457200" indent="-457200" algn="l">
              <a:lnSpc>
                <a:spcPct val="140000"/>
              </a:lnSpc>
              <a:buFont typeface="Arial" panose="020B0604020202020204" pitchFamily="34" charset="0"/>
              <a:buAutoNum type="arabicPeriod"/>
            </a:pPr>
            <a:r>
              <a:rPr lang="en-US" altLang="en-US" sz="2400" b="1" dirty="0">
                <a:sym typeface="+mn-ea"/>
              </a:rPr>
              <a:t>Forensic Imaging:</a:t>
            </a:r>
            <a:r>
              <a:rPr lang="en-US" altLang="en-US" sz="2400" dirty="0">
                <a:sym typeface="+mn-ea"/>
              </a:rPr>
              <a:t> Create exact bit-for-bit copies. NEVER work on the original evidence.</a:t>
            </a:r>
          </a:p>
          <a:p>
            <a:pPr marL="457200" indent="-457200" algn="l">
              <a:lnSpc>
                <a:spcPct val="140000"/>
              </a:lnSpc>
              <a:buFont typeface="Arial" panose="020B0604020202020204" pitchFamily="34" charset="0"/>
              <a:buAutoNum type="arabicPeriod"/>
            </a:pPr>
            <a:r>
              <a:rPr lang="en-US" altLang="en-US" sz="2400" b="1" dirty="0">
                <a:sym typeface="+mn-ea"/>
              </a:rPr>
              <a:t>Analysis and Recovery:</a:t>
            </a:r>
            <a:r>
              <a:rPr lang="en-US" altLang="en-US" sz="2400" dirty="0">
                <a:sym typeface="+mn-ea"/>
              </a:rPr>
              <a:t> Use specialist software to find, recover, and interpret digital evidence.</a:t>
            </a:r>
          </a:p>
          <a:p>
            <a:pPr marL="457200" indent="-457200" algn="l">
              <a:lnSpc>
                <a:spcPct val="140000"/>
              </a:lnSpc>
              <a:buFont typeface="Arial" panose="020B0604020202020204" pitchFamily="34" charset="0"/>
              <a:buAutoNum type="arabicPeriod"/>
            </a:pPr>
            <a:r>
              <a:rPr lang="en-US" altLang="en-US" sz="2400" b="1" dirty="0">
                <a:sym typeface="+mn-ea"/>
              </a:rPr>
              <a:t>Report and Testify:</a:t>
            </a:r>
            <a:r>
              <a:rPr lang="en-US" altLang="en-US" sz="2400" dirty="0">
                <a:sym typeface="+mn-ea"/>
              </a:rPr>
              <a:t> Document every step. Write clear reports. Explain findings in court as expert witness.</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4</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What is Digital Evidence?</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lnSpc>
                <a:spcPct val="150000"/>
              </a:lnSpc>
              <a:buFont typeface="Arial" panose="020B0604020202020204" pitchFamily="34" charset="0"/>
              <a:buChar char="•"/>
            </a:pPr>
            <a:r>
              <a:rPr lang="en-US" altLang="en-US" sz="2400" dirty="0">
                <a:sym typeface="+mn-ea"/>
              </a:rPr>
              <a:t>Digital Evidence is any information stored or transmitted in digital form that can be used in court.</a:t>
            </a:r>
          </a:p>
          <a:p>
            <a:pPr marL="342900" indent="-342900" algn="l">
              <a:lnSpc>
                <a:spcPct val="150000"/>
              </a:lnSpc>
              <a:buFont typeface="Arial" panose="020B0604020202020204" pitchFamily="34" charset="0"/>
              <a:buChar char="•"/>
            </a:pPr>
            <a:endParaRPr lang="en-US" altLang="en-US" sz="2400" dirty="0">
              <a:sym typeface="+mn-ea"/>
            </a:endParaRPr>
          </a:p>
          <a:p>
            <a:pPr marL="342900" indent="-342900" algn="l">
              <a:lnSpc>
                <a:spcPct val="150000"/>
              </a:lnSpc>
              <a:buFont typeface="Arial" panose="020B0604020202020204" pitchFamily="34" charset="0"/>
              <a:buChar char="•"/>
            </a:pPr>
            <a:r>
              <a:rPr lang="en-US" altLang="en-US" sz="2400" dirty="0">
                <a:sym typeface="+mn-ea"/>
              </a:rPr>
              <a:t>The Golden Rule: "</a:t>
            </a:r>
            <a:r>
              <a:rPr lang="en-US" altLang="en-US" sz="2400" b="1" i="1" dirty="0">
                <a:sym typeface="+mn-ea"/>
              </a:rPr>
              <a:t>Never work on the original evidence</a:t>
            </a:r>
            <a:r>
              <a:rPr lang="en-US" altLang="en-US" sz="2400" dirty="0">
                <a:sym typeface="+mn-ea"/>
              </a:rPr>
              <a:t>."</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5</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The 5 Types of Digital Evidence</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lnSpc>
                <a:spcPct val="140000"/>
              </a:lnSpc>
              <a:buFont typeface="Arial" panose="020B0604020202020204" pitchFamily="34" charset="0"/>
              <a:buAutoNum type="arabicPeriod"/>
            </a:pPr>
            <a:r>
              <a:rPr lang="en-US" altLang="en-US" sz="2400" b="1" dirty="0">
                <a:sym typeface="+mn-ea"/>
              </a:rPr>
              <a:t>Active Data:</a:t>
            </a:r>
            <a:r>
              <a:rPr lang="en-US" altLang="en-US" sz="2400" dirty="0">
                <a:sym typeface="+mn-ea"/>
              </a:rPr>
              <a:t> Visible, accessible files such as documents, photos, emails you can see and open immediately</a:t>
            </a:r>
          </a:p>
          <a:p>
            <a:pPr marL="457200" indent="-457200" algn="l">
              <a:lnSpc>
                <a:spcPct val="140000"/>
              </a:lnSpc>
              <a:buFont typeface="Arial" panose="020B0604020202020204" pitchFamily="34" charset="0"/>
              <a:buAutoNum type="arabicPeriod"/>
            </a:pPr>
            <a:r>
              <a:rPr lang="en-US" altLang="en-US" sz="2400" b="1" dirty="0">
                <a:sym typeface="+mn-ea"/>
              </a:rPr>
              <a:t>Archival Data:</a:t>
            </a:r>
            <a:r>
              <a:rPr lang="en-US" altLang="en-US" sz="2400" dirty="0">
                <a:sym typeface="+mn-ea"/>
              </a:rPr>
              <a:t> Backup files, server archives, stored away but still accessible with the right tools</a:t>
            </a:r>
          </a:p>
          <a:p>
            <a:pPr marL="457200" indent="-457200" algn="l">
              <a:lnSpc>
                <a:spcPct val="140000"/>
              </a:lnSpc>
              <a:buFont typeface="Arial" panose="020B0604020202020204" pitchFamily="34" charset="0"/>
              <a:buAutoNum type="arabicPeriod"/>
            </a:pPr>
            <a:r>
              <a:rPr lang="en-US" altLang="en-US" sz="2400" b="1" dirty="0">
                <a:sym typeface="+mn-ea"/>
              </a:rPr>
              <a:t>Hidden Data:</a:t>
            </a:r>
            <a:r>
              <a:rPr lang="en-US" altLang="en-US" sz="2400" dirty="0">
                <a:sym typeface="+mn-ea"/>
              </a:rPr>
              <a:t> Encrypted files, steganography, deliberately concealed; needs specialist techniques to find.</a:t>
            </a:r>
          </a:p>
          <a:p>
            <a:pPr marL="457200" indent="-457200" algn="l">
              <a:lnSpc>
                <a:spcPct val="140000"/>
              </a:lnSpc>
              <a:buFont typeface="Arial" panose="020B0604020202020204" pitchFamily="34" charset="0"/>
              <a:buAutoNum type="arabicPeriod"/>
            </a:pPr>
            <a:r>
              <a:rPr lang="en-US" altLang="en-US" sz="2400" b="1" dirty="0">
                <a:sym typeface="+mn-ea"/>
              </a:rPr>
              <a:t>Metadata:</a:t>
            </a:r>
            <a:r>
              <a:rPr lang="en-US" altLang="en-US" sz="2400" dirty="0">
                <a:sym typeface="+mn-ea"/>
              </a:rPr>
              <a:t> Data about data, timestamps, GPS coordinates, author names embedded invisibly in every file.</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6</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The 5 Types of Digital Evidence</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lnSpc>
                <a:spcPct val="140000"/>
              </a:lnSpc>
              <a:buFont typeface="+mj-lt"/>
              <a:buAutoNum type="arabicPeriod" startAt="5"/>
            </a:pPr>
            <a:r>
              <a:rPr lang="en-US" altLang="en-US" sz="2400" b="1" dirty="0">
                <a:sym typeface="+mn-ea"/>
              </a:rPr>
              <a:t>Volatile Data:</a:t>
            </a:r>
            <a:r>
              <a:rPr lang="en-US" altLang="en-US" sz="2400" dirty="0">
                <a:sym typeface="+mn-ea"/>
              </a:rPr>
              <a:t> RAM contents, running processes, open connections. Disappears when power is cut. Capture FIRST!</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7</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Examples of Digital Evidence</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400" dirty="0">
                <a:sym typeface="+mn-ea"/>
              </a:rPr>
              <a:t>Digital evidence includes any data stored or transmitted digitally:</a:t>
            </a:r>
          </a:p>
          <a:p>
            <a:pPr indent="0" algn="l">
              <a:lnSpc>
                <a:spcPct val="150000"/>
              </a:lnSpc>
              <a:buFont typeface="Arial" panose="020B0604020202020204" pitchFamily="34" charset="0"/>
            </a:pPr>
            <a:endParaRPr lang="en-US" altLang="en-US" sz="2400" dirty="0">
              <a:sym typeface="+mn-ea"/>
            </a:endParaRPr>
          </a:p>
          <a:p>
            <a:pPr indent="0" algn="l">
              <a:lnSpc>
                <a:spcPct val="150000"/>
              </a:lnSpc>
              <a:buFont typeface="Arial" panose="020B0604020202020204" pitchFamily="34" charset="0"/>
            </a:pPr>
            <a:r>
              <a:rPr lang="en-US" altLang="en-US" sz="2400" dirty="0">
                <a:sym typeface="+mn-ea"/>
              </a:rPr>
              <a:t>1. Emails and messages</a:t>
            </a:r>
          </a:p>
          <a:p>
            <a:pPr indent="0" algn="l">
              <a:lnSpc>
                <a:spcPct val="150000"/>
              </a:lnSpc>
              <a:buFont typeface="Arial" panose="020B0604020202020204" pitchFamily="34" charset="0"/>
            </a:pPr>
            <a:r>
              <a:rPr lang="en-US" altLang="en-US" sz="2400" dirty="0">
                <a:sym typeface="+mn-ea"/>
              </a:rPr>
              <a:t>2. Documents and files</a:t>
            </a:r>
          </a:p>
          <a:p>
            <a:pPr indent="0" algn="l">
              <a:lnSpc>
                <a:spcPct val="150000"/>
              </a:lnSpc>
              <a:buFont typeface="Arial" panose="020B0604020202020204" pitchFamily="34" charset="0"/>
            </a:pPr>
            <a:r>
              <a:rPr lang="en-US" altLang="en-US" sz="2400" dirty="0">
                <a:sym typeface="+mn-ea"/>
              </a:rPr>
              <a:t>3. System logs</a:t>
            </a:r>
          </a:p>
          <a:p>
            <a:pPr indent="0" algn="l">
              <a:lnSpc>
                <a:spcPct val="150000"/>
              </a:lnSpc>
              <a:buFont typeface="Arial" panose="020B0604020202020204" pitchFamily="34" charset="0"/>
            </a:pPr>
            <a:r>
              <a:rPr lang="en-US" altLang="en-US" sz="2400" dirty="0">
                <a:sym typeface="+mn-ea"/>
              </a:rPr>
              <a:t>4. Images and videos</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8</a:t>
            </a:fld>
            <a:endParaRPr lang="en-GB"/>
          </a:p>
        </p:txBody>
      </p:sp>
      <p:sp>
        <p:nvSpPr>
          <p:cNvPr id="4" name="Title 2"/>
          <p:cNvSpPr>
            <a:spLocks noGrp="1"/>
          </p:cNvSpPr>
          <p:nvPr/>
        </p:nvSpPr>
        <p:spPr>
          <a:xfrm>
            <a:off x="4912360" y="2427605"/>
            <a:ext cx="4100830" cy="199834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400" dirty="0">
                <a:sym typeface="+mn-ea"/>
              </a:rPr>
              <a:t>5. Browser history</a:t>
            </a:r>
          </a:p>
          <a:p>
            <a:pPr indent="0" algn="l">
              <a:lnSpc>
                <a:spcPct val="150000"/>
              </a:lnSpc>
              <a:buFont typeface="Arial" panose="020B0604020202020204" pitchFamily="34" charset="0"/>
            </a:pPr>
            <a:r>
              <a:rPr lang="en-US" altLang="en-US" sz="2400" dirty="0">
                <a:sym typeface="+mn-ea"/>
              </a:rPr>
              <a:t>6. Mobile phone data</a:t>
            </a: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Volatility and Digital Evidence</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800" b="1" dirty="0">
                <a:sym typeface="+mn-ea"/>
              </a:rPr>
              <a:t>Concept of Volatility</a:t>
            </a:r>
          </a:p>
          <a:p>
            <a:pPr marL="342900" indent="-342900" algn="l">
              <a:lnSpc>
                <a:spcPct val="150000"/>
              </a:lnSpc>
              <a:buFont typeface="Arial" panose="020B0604020202020204" pitchFamily="34" charset="0"/>
              <a:buChar char="•"/>
            </a:pPr>
            <a:r>
              <a:rPr lang="en-US" altLang="en-US" sz="2400" dirty="0">
                <a:sym typeface="+mn-ea"/>
              </a:rPr>
              <a:t>Volatile data: Data that is lost quickly, often when the system is powered down or altered.</a:t>
            </a:r>
          </a:p>
          <a:p>
            <a:pPr marL="342900" indent="-342900" algn="l">
              <a:lnSpc>
                <a:spcPct val="150000"/>
              </a:lnSpc>
              <a:buFont typeface="Arial" panose="020B0604020202020204" pitchFamily="34" charset="0"/>
              <a:buChar char="•"/>
            </a:pPr>
            <a:r>
              <a:rPr lang="en-US" altLang="en-US" sz="2400" dirty="0">
                <a:sym typeface="+mn-ea"/>
              </a:rPr>
              <a:t>Non-volatile data: Data that persists after power loss, such as files on a hard drive or backups.</a:t>
            </a:r>
          </a:p>
          <a:p>
            <a:pPr marL="342900" indent="-342900" algn="l">
              <a:lnSpc>
                <a:spcPct val="150000"/>
              </a:lnSpc>
              <a:buFont typeface="Arial" panose="020B0604020202020204" pitchFamily="34" charset="0"/>
              <a:buChar char="•"/>
            </a:pPr>
            <a:r>
              <a:rPr lang="en-US" altLang="en-US" sz="2400" dirty="0">
                <a:sym typeface="+mn-ea"/>
              </a:rPr>
              <a:t>Volatility is crucial because forensic investigators must capture the most fleeting evidence first to avoid losing it.</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9</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Volatility and Digital Evidence - 2</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800" b="1" dirty="0">
                <a:sym typeface="+mn-ea"/>
              </a:rPr>
              <a:t>Why Volatility Matters</a:t>
            </a:r>
            <a:endParaRPr lang="en-US" altLang="en-US" sz="1000" dirty="0">
              <a:sym typeface="+mn-ea"/>
            </a:endParaRPr>
          </a:p>
          <a:p>
            <a:pPr marL="342900" indent="-342900" algn="l">
              <a:lnSpc>
                <a:spcPct val="150000"/>
              </a:lnSpc>
              <a:buFont typeface="Arial" panose="020B0604020202020204" pitchFamily="34" charset="0"/>
              <a:buChar char="•"/>
            </a:pPr>
            <a:r>
              <a:rPr lang="en-US" altLang="en-US" sz="2400" dirty="0">
                <a:sym typeface="+mn-ea"/>
              </a:rPr>
              <a:t>Determines order of evidence collection.</a:t>
            </a:r>
          </a:p>
          <a:p>
            <a:pPr marL="342900" indent="-342900" algn="l">
              <a:lnSpc>
                <a:spcPct val="150000"/>
              </a:lnSpc>
              <a:buFont typeface="Arial" panose="020B0604020202020204" pitchFamily="34" charset="0"/>
              <a:buChar char="•"/>
            </a:pPr>
            <a:r>
              <a:rPr lang="en-US" altLang="en-US" sz="2400" dirty="0">
                <a:sym typeface="+mn-ea"/>
              </a:rPr>
              <a:t>Guides use of tools and techniques (e.g., live memory acquisition vs. disk imaging).</a:t>
            </a:r>
          </a:p>
          <a:p>
            <a:pPr marL="342900" indent="-342900" algn="l">
              <a:lnSpc>
                <a:spcPct val="150000"/>
              </a:lnSpc>
              <a:buFont typeface="Arial" panose="020B0604020202020204" pitchFamily="34" charset="0"/>
              <a:buChar char="•"/>
            </a:pPr>
            <a:r>
              <a:rPr lang="en-US" altLang="en-US" sz="2400" dirty="0">
                <a:sym typeface="+mn-ea"/>
              </a:rPr>
              <a:t>Helps in courtroom explanations, showing why certain evidence was prioritized.</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10</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Scope of Digital Forensics</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400" dirty="0">
                <a:sym typeface="+mn-ea"/>
              </a:rPr>
              <a:t>Digital forensics is used in many areas, including:</a:t>
            </a:r>
          </a:p>
          <a:p>
            <a:pPr indent="0" algn="l">
              <a:lnSpc>
                <a:spcPct val="150000"/>
              </a:lnSpc>
              <a:buFont typeface="Arial" panose="020B0604020202020204" pitchFamily="34" charset="0"/>
            </a:pPr>
            <a:endParaRPr lang="en-US" altLang="en-US" sz="2400" dirty="0">
              <a:sym typeface="+mn-ea"/>
            </a:endParaRPr>
          </a:p>
          <a:p>
            <a:pPr marL="457200" indent="-457200" algn="l">
              <a:lnSpc>
                <a:spcPct val="150000"/>
              </a:lnSpc>
              <a:buFont typeface="Arial" panose="020B0604020202020204" pitchFamily="34" charset="0"/>
              <a:buAutoNum type="arabicPeriod"/>
            </a:pPr>
            <a:r>
              <a:rPr lang="en-US" altLang="en-US" sz="2400" dirty="0">
                <a:sym typeface="+mn-ea"/>
              </a:rPr>
              <a:t>Cybercrime investigations (e.g., hacking, fraud)</a:t>
            </a:r>
          </a:p>
          <a:p>
            <a:pPr marL="457200" indent="-457200" algn="l">
              <a:lnSpc>
                <a:spcPct val="150000"/>
              </a:lnSpc>
              <a:buFont typeface="Arial" panose="020B0604020202020204" pitchFamily="34" charset="0"/>
              <a:buAutoNum type="arabicPeriod"/>
            </a:pPr>
            <a:r>
              <a:rPr lang="en-US" altLang="en-US" sz="2400" dirty="0">
                <a:sym typeface="+mn-ea"/>
              </a:rPr>
              <a:t>Law enforcement</a:t>
            </a:r>
          </a:p>
          <a:p>
            <a:pPr marL="457200" indent="-457200" algn="l">
              <a:lnSpc>
                <a:spcPct val="150000"/>
              </a:lnSpc>
              <a:buFont typeface="Arial" panose="020B0604020202020204" pitchFamily="34" charset="0"/>
              <a:buAutoNum type="arabicPeriod"/>
            </a:pPr>
            <a:r>
              <a:rPr lang="en-US" altLang="en-US" sz="2400" dirty="0">
                <a:sym typeface="+mn-ea"/>
              </a:rPr>
              <a:t>Corporate investigations (e.g., insider threats)</a:t>
            </a:r>
          </a:p>
          <a:p>
            <a:pPr marL="457200" indent="-457200" algn="l">
              <a:lnSpc>
                <a:spcPct val="150000"/>
              </a:lnSpc>
              <a:buFont typeface="Arial" panose="020B0604020202020204" pitchFamily="34" charset="0"/>
              <a:buAutoNum type="arabicPeriod"/>
            </a:pPr>
            <a:r>
              <a:rPr lang="en-US" altLang="en-US" sz="2400" dirty="0">
                <a:sym typeface="+mn-ea"/>
              </a:rPr>
              <a:t>National security</a:t>
            </a:r>
          </a:p>
          <a:p>
            <a:pPr marL="457200" indent="-457200" algn="l">
              <a:lnSpc>
                <a:spcPct val="150000"/>
              </a:lnSpc>
              <a:buFont typeface="Arial" panose="020B0604020202020204" pitchFamily="34" charset="0"/>
              <a:buAutoNum type="arabicPeriod"/>
            </a:pPr>
            <a:r>
              <a:rPr lang="en-US" altLang="en-US" sz="2400" dirty="0">
                <a:sym typeface="+mn-ea"/>
              </a:rPr>
              <a:t>Incident response</a:t>
            </a:r>
            <a:endParaRPr lang="en-US" altLang="en-US" sz="2000" dirty="0">
              <a:sym typeface="+mn-ea"/>
            </a:endParaRP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11</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Importance of Digital Forensics</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400" dirty="0">
                <a:sym typeface="+mn-ea"/>
              </a:rPr>
              <a:t>Digital forensics is important because it:</a:t>
            </a:r>
          </a:p>
          <a:p>
            <a:pPr indent="0" algn="l">
              <a:lnSpc>
                <a:spcPct val="150000"/>
              </a:lnSpc>
              <a:buFont typeface="Arial" panose="020B0604020202020204" pitchFamily="34" charset="0"/>
            </a:pPr>
            <a:endParaRPr lang="en-US" altLang="en-US" sz="2400" dirty="0">
              <a:sym typeface="+mn-ea"/>
            </a:endParaRPr>
          </a:p>
          <a:p>
            <a:pPr marL="457200" indent="-457200" algn="l">
              <a:lnSpc>
                <a:spcPct val="150000"/>
              </a:lnSpc>
              <a:buFont typeface="Arial" panose="020B0604020202020204" pitchFamily="34" charset="0"/>
              <a:buAutoNum type="arabicPeriod"/>
            </a:pPr>
            <a:r>
              <a:rPr lang="en-US" altLang="en-US" sz="2400" dirty="0">
                <a:sym typeface="+mn-ea"/>
              </a:rPr>
              <a:t>Helps solve cybercrimes</a:t>
            </a:r>
          </a:p>
          <a:p>
            <a:pPr marL="457200" indent="-457200" algn="l">
              <a:lnSpc>
                <a:spcPct val="150000"/>
              </a:lnSpc>
              <a:buFont typeface="Arial" panose="020B0604020202020204" pitchFamily="34" charset="0"/>
              <a:buAutoNum type="arabicPeriod"/>
            </a:pPr>
            <a:r>
              <a:rPr lang="en-US" altLang="en-US" sz="2400" dirty="0">
                <a:sym typeface="+mn-ea"/>
              </a:rPr>
              <a:t>Provides legal evidence in court</a:t>
            </a:r>
          </a:p>
          <a:p>
            <a:pPr marL="457200" indent="-457200" algn="l">
              <a:lnSpc>
                <a:spcPct val="150000"/>
              </a:lnSpc>
              <a:buFont typeface="Arial" panose="020B0604020202020204" pitchFamily="34" charset="0"/>
              <a:buAutoNum type="arabicPeriod"/>
            </a:pPr>
            <a:r>
              <a:rPr lang="en-US" altLang="en-US" sz="2400" dirty="0">
                <a:sym typeface="+mn-ea"/>
              </a:rPr>
              <a:t>Assists organizations in preventing future attacks</a:t>
            </a:r>
          </a:p>
          <a:p>
            <a:pPr marL="457200" indent="-457200" algn="l">
              <a:lnSpc>
                <a:spcPct val="150000"/>
              </a:lnSpc>
              <a:buFont typeface="Arial" panose="020B0604020202020204" pitchFamily="34" charset="0"/>
              <a:buAutoNum type="arabicPeriod"/>
            </a:pPr>
            <a:r>
              <a:rPr lang="en-US" altLang="en-US" sz="2400" dirty="0">
                <a:sym typeface="+mn-ea"/>
              </a:rPr>
              <a:t>Helps recover lost or deleted data.</a:t>
            </a:r>
          </a:p>
          <a:p>
            <a:pPr marL="457200" indent="-457200" algn="l">
              <a:lnSpc>
                <a:spcPct val="150000"/>
              </a:lnSpc>
              <a:buFont typeface="Arial" panose="020B0604020202020204" pitchFamily="34" charset="0"/>
              <a:buAutoNum type="arabicPeriod"/>
            </a:pPr>
            <a:r>
              <a:rPr lang="en-US" altLang="en-US" sz="2400" dirty="0">
                <a:sym typeface="+mn-ea"/>
              </a:rPr>
              <a:t>Supports incident response and security improvement</a:t>
            </a:r>
            <a:endParaRPr lang="en-US" altLang="en-US" sz="2000" dirty="0">
              <a:sym typeface="+mn-ea"/>
            </a:endParaRP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12</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Key Terms</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lnSpc>
                <a:spcPct val="120000"/>
              </a:lnSpc>
              <a:buFont typeface="Arial" panose="020B0604020202020204" pitchFamily="34" charset="0"/>
              <a:buAutoNum type="arabicPeriod"/>
            </a:pPr>
            <a:r>
              <a:rPr lang="en-US" altLang="en-US" sz="2400" b="1" dirty="0">
                <a:sym typeface="+mn-ea"/>
              </a:rPr>
              <a:t>Digital Forensics:</a:t>
            </a:r>
            <a:r>
              <a:rPr lang="en-US" altLang="en-US" sz="2400" dirty="0">
                <a:sym typeface="+mn-ea"/>
              </a:rPr>
              <a:t> The science of finding, preserving, analysing, presenting digital evidence legally.</a:t>
            </a:r>
          </a:p>
          <a:p>
            <a:pPr marL="457200" indent="-457200" algn="l">
              <a:lnSpc>
                <a:spcPct val="120000"/>
              </a:lnSpc>
              <a:buFont typeface="Arial" panose="020B0604020202020204" pitchFamily="34" charset="0"/>
              <a:buAutoNum type="arabicPeriod"/>
            </a:pPr>
            <a:r>
              <a:rPr lang="en-US" altLang="en-US" sz="2400" b="1" dirty="0">
                <a:sym typeface="+mn-ea"/>
              </a:rPr>
              <a:t>Metadata:</a:t>
            </a:r>
            <a:r>
              <a:rPr lang="en-US" altLang="en-US" sz="2400" dirty="0">
                <a:sym typeface="+mn-ea"/>
              </a:rPr>
              <a:t> This is data about data. It is a hidden embedded data that tells you details about a file, message or activity. </a:t>
            </a:r>
          </a:p>
          <a:p>
            <a:pPr marL="457200" indent="-457200" algn="l">
              <a:lnSpc>
                <a:spcPct val="120000"/>
              </a:lnSpc>
              <a:buFont typeface="Arial" panose="020B0604020202020204" pitchFamily="34" charset="0"/>
              <a:buAutoNum type="arabicPeriod"/>
            </a:pPr>
            <a:r>
              <a:rPr lang="en-US" altLang="en-US" sz="2400" b="1" dirty="0">
                <a:sym typeface="+mn-ea"/>
              </a:rPr>
              <a:t>Volatile Data:</a:t>
            </a:r>
            <a:r>
              <a:rPr lang="en-US" altLang="en-US" sz="2400" dirty="0">
                <a:sym typeface="+mn-ea"/>
              </a:rPr>
              <a:t> A temporary data that exists only while a device is powered on, it disappears when the system is turned off or the battery dies. </a:t>
            </a:r>
            <a:r>
              <a:rPr lang="en-US" altLang="en-US" sz="2400" b="1" i="1" dirty="0">
                <a:sym typeface="+mn-ea"/>
              </a:rPr>
              <a:t>CAPTURE FIRST</a:t>
            </a:r>
            <a:r>
              <a:rPr lang="en-US" altLang="en-US" sz="2400" dirty="0">
                <a:sym typeface="+mn-ea"/>
              </a:rPr>
              <a:t>. Examples: Data stored in RAM (memory), currently running applications, clipboard contents (copied text), active network connections, etc.</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13</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Key Terms - 2</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lnSpc>
                <a:spcPct val="120000"/>
              </a:lnSpc>
              <a:buFont typeface="+mj-lt"/>
              <a:buAutoNum type="arabicPeriod" startAt="4"/>
            </a:pPr>
            <a:r>
              <a:rPr lang="en-US" altLang="en-US" sz="2400" b="1" dirty="0">
                <a:sym typeface="+mn-ea"/>
              </a:rPr>
              <a:t>Steganography:</a:t>
            </a:r>
            <a:r>
              <a:rPr lang="en-US" altLang="en-US" sz="2400" dirty="0">
                <a:sym typeface="+mn-ea"/>
              </a:rPr>
              <a:t> This is the practice of hiding secret information inside another normal-looking file or message so that no one suspects anything is hidden.</a:t>
            </a:r>
          </a:p>
          <a:p>
            <a:pPr marL="457200" indent="-457200" algn="l">
              <a:lnSpc>
                <a:spcPct val="120000"/>
              </a:lnSpc>
              <a:buFont typeface="Arial" panose="020B0604020202020204" pitchFamily="34" charset="0"/>
              <a:buAutoNum type="arabicPeriod" startAt="4"/>
            </a:pPr>
            <a:r>
              <a:rPr lang="en-US" altLang="en-US" sz="2400" b="1" dirty="0">
                <a:sym typeface="+mn-ea"/>
              </a:rPr>
              <a:t>Active Data:</a:t>
            </a:r>
            <a:r>
              <a:rPr lang="en-US" altLang="en-US" sz="2400" dirty="0">
                <a:sym typeface="+mn-ea"/>
              </a:rPr>
              <a:t> Data that is currently accessible and visible to the user during normal use of a device, no special tools or recovery techniques are needed to see it.</a:t>
            </a:r>
          </a:p>
          <a:p>
            <a:pPr marL="457200" indent="-457200" algn="l">
              <a:lnSpc>
                <a:spcPct val="120000"/>
              </a:lnSpc>
              <a:buFont typeface="Arial" panose="020B0604020202020204" pitchFamily="34" charset="0"/>
              <a:buAutoNum type="arabicPeriod" startAt="4"/>
            </a:pPr>
            <a:r>
              <a:rPr lang="en-US" altLang="en-US" sz="2400" b="1" dirty="0">
                <a:sym typeface="+mn-ea"/>
              </a:rPr>
              <a:t>Write-Blocker:</a:t>
            </a:r>
            <a:r>
              <a:rPr lang="en-US" altLang="en-US" sz="2400" dirty="0">
                <a:sym typeface="+mn-ea"/>
              </a:rPr>
              <a:t> A tool (software/device) used to prevent any data from being changed on a storage device while it is being examined. It allows read-only access to evidence.</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14</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Question 1</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400" dirty="0">
                <a:sym typeface="+mn-ea"/>
              </a:rPr>
              <a:t>If someone sends a threatening message via WhatsApp, what pieces of information can be used as digital evidence?</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15</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Solution 1</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lnSpc>
                <a:spcPct val="150000"/>
              </a:lnSpc>
              <a:buFont typeface="Arial" panose="020B0604020202020204" pitchFamily="34" charset="0"/>
              <a:buAutoNum type="arabicPeriod"/>
            </a:pPr>
            <a:r>
              <a:rPr lang="en-US" altLang="en-US" sz="2400" dirty="0">
                <a:sym typeface="+mn-ea"/>
              </a:rPr>
              <a:t>The message itself </a:t>
            </a:r>
          </a:p>
          <a:p>
            <a:pPr marL="457200" indent="-457200" algn="l">
              <a:lnSpc>
                <a:spcPct val="150000"/>
              </a:lnSpc>
              <a:buFont typeface="Arial" panose="020B0604020202020204" pitchFamily="34" charset="0"/>
              <a:buAutoNum type="arabicPeriod"/>
            </a:pPr>
            <a:r>
              <a:rPr lang="en-US" altLang="en-US" sz="2400" dirty="0">
                <a:sym typeface="+mn-ea"/>
              </a:rPr>
              <a:t>The timestamp </a:t>
            </a:r>
          </a:p>
          <a:p>
            <a:pPr marL="457200" indent="-457200" algn="l">
              <a:lnSpc>
                <a:spcPct val="150000"/>
              </a:lnSpc>
              <a:buFont typeface="Arial" panose="020B0604020202020204" pitchFamily="34" charset="0"/>
              <a:buAutoNum type="arabicPeriod"/>
            </a:pPr>
            <a:r>
              <a:rPr lang="en-US" altLang="en-US" sz="2400" dirty="0">
                <a:sym typeface="+mn-ea"/>
              </a:rPr>
              <a:t>The sender’s account</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16</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Question 2</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400" dirty="0">
                <a:sym typeface="+mn-ea"/>
              </a:rPr>
              <a:t>What is the difference between digital evidence and physical evidence?</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17</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Solution 2</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400" dirty="0">
                <a:sym typeface="+mn-ea"/>
              </a:rPr>
              <a:t>Digital evidence: Data stored electronically (e.g., files, emails, logs)</a:t>
            </a:r>
          </a:p>
          <a:p>
            <a:pPr indent="0" algn="l">
              <a:lnSpc>
                <a:spcPct val="150000"/>
              </a:lnSpc>
              <a:buFont typeface="Arial" panose="020B0604020202020204" pitchFamily="34" charset="0"/>
            </a:pPr>
            <a:r>
              <a:rPr lang="en-US" altLang="en-US" sz="2400" dirty="0">
                <a:sym typeface="+mn-ea"/>
              </a:rPr>
              <a:t>Physical evidence: Tangible items (e.g., fingerprints, weapons)</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18</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Question 3</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400" dirty="0">
                <a:sym typeface="+mn-ea"/>
              </a:rPr>
              <a:t>What is the difference between computer forensics and digital forensics?</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19</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Solution 3</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50000"/>
              </a:lnSpc>
              <a:buFont typeface="Arial" panose="020B0604020202020204" pitchFamily="34" charset="0"/>
            </a:pPr>
            <a:r>
              <a:rPr lang="en-US" altLang="en-US" sz="2400" dirty="0">
                <a:sym typeface="+mn-ea"/>
              </a:rPr>
              <a:t>Computer forensics: Focuses only on computers and storage devices</a:t>
            </a:r>
          </a:p>
          <a:p>
            <a:pPr indent="0" algn="l">
              <a:lnSpc>
                <a:spcPct val="150000"/>
              </a:lnSpc>
              <a:buFont typeface="Arial" panose="020B0604020202020204" pitchFamily="34" charset="0"/>
            </a:pPr>
            <a:r>
              <a:rPr lang="en-US" altLang="en-US" sz="2400" dirty="0">
                <a:sym typeface="+mn-ea"/>
              </a:rPr>
              <a:t>Digital forensics: Covers all digital devices (computers, phones, networks, cloud)</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20</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Question 4</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30000"/>
              </a:lnSpc>
              <a:buFont typeface="Arial" panose="020B0604020202020204" pitchFamily="34" charset="0"/>
            </a:pPr>
            <a:r>
              <a:rPr lang="en-US" altLang="en-US" sz="2400" dirty="0">
                <a:sym typeface="+mn-ea"/>
              </a:rPr>
              <a:t>Scenario: A student is accused of cheating via smartphone</a:t>
            </a:r>
          </a:p>
          <a:p>
            <a:pPr marL="457200" indent="-457200" algn="l">
              <a:lnSpc>
                <a:spcPct val="130000"/>
              </a:lnSpc>
              <a:buFont typeface="Arial" panose="020B0604020202020204" pitchFamily="34" charset="0"/>
              <a:buAutoNum type="arabicPeriod"/>
            </a:pPr>
            <a:r>
              <a:rPr lang="en-US" altLang="en-US" sz="2400" dirty="0">
                <a:sym typeface="+mn-ea"/>
              </a:rPr>
              <a:t>List 6+ pieces of digital evidence an investigator might find on the phone</a:t>
            </a:r>
          </a:p>
          <a:p>
            <a:pPr marL="457200" indent="-457200" algn="l">
              <a:lnSpc>
                <a:spcPct val="130000"/>
              </a:lnSpc>
              <a:buFont typeface="Arial" panose="020B0604020202020204" pitchFamily="34" charset="0"/>
              <a:buAutoNum type="arabicPeriod"/>
            </a:pPr>
            <a:r>
              <a:rPr lang="en-US" altLang="en-US" sz="2400" dirty="0">
                <a:sym typeface="+mn-ea"/>
              </a:rPr>
              <a:t>For each piece, identify its type: Active / Archival / Hidden / Metadata / Volatile</a:t>
            </a:r>
          </a:p>
          <a:p>
            <a:pPr marL="457200" indent="-457200" algn="l">
              <a:lnSpc>
                <a:spcPct val="130000"/>
              </a:lnSpc>
              <a:buFont typeface="Arial" panose="020B0604020202020204" pitchFamily="34" charset="0"/>
              <a:buAutoNum type="arabicPeriod"/>
            </a:pPr>
            <a:r>
              <a:rPr lang="en-US" altLang="en-US" sz="2400" dirty="0">
                <a:sym typeface="+mn-ea"/>
              </a:rPr>
              <a:t>Which evidence disappears if the phone's battery dies? What does this mean?</a:t>
            </a:r>
          </a:p>
          <a:p>
            <a:pPr marL="457200" indent="-457200" algn="l">
              <a:lnSpc>
                <a:spcPct val="130000"/>
              </a:lnSpc>
              <a:buFont typeface="Arial" panose="020B0604020202020204" pitchFamily="34" charset="0"/>
              <a:buAutoNum type="arabicPeriod"/>
            </a:pPr>
            <a:r>
              <a:rPr lang="en-US" altLang="en-US" sz="2400" dirty="0">
                <a:sym typeface="+mn-ea"/>
              </a:rPr>
              <a:t>Bonus: Where else BESIDES the phone might evidence exist?</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21</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Answer 4 (Part 1)</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lnSpc>
                <a:spcPct val="100000"/>
              </a:lnSpc>
              <a:buFont typeface="Arial" panose="020B0604020202020204" pitchFamily="34" charset="0"/>
              <a:buAutoNum type="arabicPeriod"/>
            </a:pPr>
            <a:r>
              <a:rPr lang="en-US" altLang="en-US" sz="2000" b="1" dirty="0">
                <a:sym typeface="+mn-ea"/>
              </a:rPr>
              <a:t>Chat messages (e.g., WhatsApp, Telegram, SMS)</a:t>
            </a:r>
          </a:p>
          <a:p>
            <a:pPr marL="914400" lvl="1" indent="-457200" algn="l">
              <a:lnSpc>
                <a:spcPct val="100000"/>
              </a:lnSpc>
              <a:buFont typeface="Arial" panose="020B0604020202020204" pitchFamily="34" charset="0"/>
              <a:buChar char="•"/>
            </a:pPr>
            <a:r>
              <a:rPr lang="en-US" altLang="en-US" sz="2000" dirty="0">
                <a:sym typeface="+mn-ea"/>
              </a:rPr>
              <a:t>Type: Active</a:t>
            </a:r>
          </a:p>
          <a:p>
            <a:pPr marL="914400" lvl="1" indent="-457200" algn="l">
              <a:lnSpc>
                <a:spcPct val="100000"/>
              </a:lnSpc>
              <a:buFont typeface="Arial" panose="020B0604020202020204" pitchFamily="34" charset="0"/>
              <a:buChar char="•"/>
            </a:pPr>
            <a:r>
              <a:rPr lang="en-US" altLang="en-US" sz="2000" dirty="0">
                <a:sym typeface="+mn-ea"/>
              </a:rPr>
              <a:t>Visible conversations that may show answers being shared during the exam.</a:t>
            </a:r>
          </a:p>
          <a:p>
            <a:pPr marL="457200" indent="-457200" algn="l">
              <a:lnSpc>
                <a:spcPct val="100000"/>
              </a:lnSpc>
              <a:buFont typeface="Arial" panose="020B0604020202020204" pitchFamily="34" charset="0"/>
              <a:buAutoNum type="arabicPeriod"/>
            </a:pPr>
            <a:r>
              <a:rPr lang="en-US" altLang="en-US" sz="2000" b="1" dirty="0">
                <a:sym typeface="+mn-ea"/>
              </a:rPr>
              <a:t>Browser history (search queries during exam time)</a:t>
            </a:r>
          </a:p>
          <a:p>
            <a:pPr marL="914400" lvl="1" indent="-457200" algn="l">
              <a:lnSpc>
                <a:spcPct val="100000"/>
              </a:lnSpc>
              <a:buFont typeface="Arial" panose="020B0604020202020204" pitchFamily="34" charset="0"/>
              <a:buChar char="•"/>
            </a:pPr>
            <a:r>
              <a:rPr lang="en-US" altLang="en-US" sz="2000" dirty="0">
                <a:sym typeface="+mn-ea"/>
              </a:rPr>
              <a:t>Type: Archival</a:t>
            </a:r>
          </a:p>
          <a:p>
            <a:pPr marL="914400" lvl="1" indent="-457200" algn="l">
              <a:lnSpc>
                <a:spcPct val="100000"/>
              </a:lnSpc>
              <a:buFont typeface="Arial" panose="020B0604020202020204" pitchFamily="34" charset="0"/>
              <a:buChar char="•"/>
            </a:pPr>
            <a:r>
              <a:rPr lang="en-US" altLang="en-US" sz="2000" dirty="0">
                <a:sym typeface="+mn-ea"/>
              </a:rPr>
              <a:t>Stored logs of visited websites or searches like “exam answers”.</a:t>
            </a:r>
          </a:p>
          <a:p>
            <a:pPr marL="457200" indent="-457200" algn="l">
              <a:lnSpc>
                <a:spcPct val="100000"/>
              </a:lnSpc>
              <a:buFont typeface="Arial" panose="020B0604020202020204" pitchFamily="34" charset="0"/>
              <a:buAutoNum type="arabicPeriod"/>
            </a:pPr>
            <a:r>
              <a:rPr lang="en-US" altLang="en-US" sz="2000" b="1" dirty="0">
                <a:sym typeface="+mn-ea"/>
              </a:rPr>
              <a:t>Recently used apps / app switcher data</a:t>
            </a:r>
            <a:endParaRPr lang="en-US" altLang="en-US" sz="2000" dirty="0">
              <a:sym typeface="+mn-ea"/>
            </a:endParaRPr>
          </a:p>
          <a:p>
            <a:pPr marL="914400" lvl="1" indent="-457200" algn="l">
              <a:lnSpc>
                <a:spcPct val="100000"/>
              </a:lnSpc>
              <a:buFont typeface="Arial" panose="020B0604020202020204" pitchFamily="34" charset="0"/>
              <a:buChar char="•"/>
            </a:pPr>
            <a:r>
              <a:rPr lang="en-US" altLang="en-US" sz="2000" dirty="0">
                <a:sym typeface="+mn-ea"/>
              </a:rPr>
              <a:t>Type: Volatile</a:t>
            </a:r>
          </a:p>
          <a:p>
            <a:pPr marL="914400" lvl="1" indent="-457200" algn="l">
              <a:lnSpc>
                <a:spcPct val="100000"/>
              </a:lnSpc>
              <a:buFont typeface="Arial" panose="020B0604020202020204" pitchFamily="34" charset="0"/>
              <a:buChar char="•"/>
            </a:pPr>
            <a:r>
              <a:rPr lang="en-US" altLang="en-US" sz="2000" dirty="0">
                <a:sym typeface="+mn-ea"/>
              </a:rPr>
              <a:t>Shows which apps were open during the exam session.</a:t>
            </a:r>
          </a:p>
          <a:p>
            <a:pPr marL="457200" indent="-457200" algn="l">
              <a:lnSpc>
                <a:spcPct val="100000"/>
              </a:lnSpc>
              <a:buFont typeface="Arial" panose="020B0604020202020204" pitchFamily="34" charset="0"/>
              <a:buAutoNum type="arabicPeriod"/>
            </a:pPr>
            <a:r>
              <a:rPr lang="en-US" altLang="en-US" sz="2000" b="1" dirty="0">
                <a:sym typeface="+mn-ea"/>
              </a:rPr>
              <a:t>Deleted messages or files</a:t>
            </a:r>
            <a:endParaRPr lang="en-US" altLang="en-US" sz="2000" dirty="0">
              <a:sym typeface="+mn-ea"/>
            </a:endParaRPr>
          </a:p>
          <a:p>
            <a:pPr marL="914400" lvl="1" indent="-457200" algn="l">
              <a:lnSpc>
                <a:spcPct val="100000"/>
              </a:lnSpc>
              <a:buFont typeface="Arial" panose="020B0604020202020204" pitchFamily="34" charset="0"/>
              <a:buChar char="•"/>
            </a:pPr>
            <a:r>
              <a:rPr lang="en-US" altLang="en-US" sz="2000" dirty="0">
                <a:sym typeface="+mn-ea"/>
              </a:rPr>
              <a:t>Type: Hidden</a:t>
            </a:r>
          </a:p>
          <a:p>
            <a:pPr marL="914400" lvl="1" indent="-457200" algn="l">
              <a:lnSpc>
                <a:spcPct val="100000"/>
              </a:lnSpc>
              <a:buFont typeface="Arial" panose="020B0604020202020204" pitchFamily="34" charset="0"/>
              <a:buChar char="•"/>
            </a:pPr>
            <a:r>
              <a:rPr lang="en-US" altLang="en-US" sz="2000" dirty="0">
                <a:sym typeface="+mn-ea"/>
              </a:rPr>
              <a:t>Recoverable artifacts even after the student tries to erase evidence.</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22</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Answer 4 (Part 2)</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lnSpc>
                <a:spcPct val="100000"/>
              </a:lnSpc>
              <a:buFont typeface="+mj-lt"/>
              <a:buAutoNum type="arabicPeriod" startAt="5"/>
            </a:pPr>
            <a:r>
              <a:rPr lang="en-US" altLang="en-US" sz="2000" b="1" dirty="0">
                <a:sym typeface="+mn-ea"/>
              </a:rPr>
              <a:t>File metadata (documents, images, screenshots)</a:t>
            </a:r>
          </a:p>
          <a:p>
            <a:pPr marL="914400" lvl="1" indent="-457200" algn="l">
              <a:lnSpc>
                <a:spcPct val="100000"/>
              </a:lnSpc>
              <a:buFont typeface="Arial" panose="020B0604020202020204" pitchFamily="34" charset="0"/>
              <a:buChar char="•"/>
            </a:pPr>
            <a:r>
              <a:rPr lang="en-US" altLang="en-US" sz="2000" dirty="0">
                <a:sym typeface="+mn-ea"/>
              </a:rPr>
              <a:t>Type: Metadata</a:t>
            </a:r>
          </a:p>
          <a:p>
            <a:pPr marL="914400" lvl="1" indent="-457200" algn="l">
              <a:lnSpc>
                <a:spcPct val="100000"/>
              </a:lnSpc>
              <a:buFont typeface="Arial" panose="020B0604020202020204" pitchFamily="34" charset="0"/>
              <a:buChar char="•"/>
            </a:pPr>
            <a:r>
              <a:rPr lang="en-US" altLang="en-US" sz="2000" dirty="0">
                <a:sym typeface="+mn-ea"/>
              </a:rPr>
              <a:t>Includes timestamps, creation dates, device info, and possibly geolocation.</a:t>
            </a:r>
          </a:p>
          <a:p>
            <a:pPr marL="457200" indent="-457200" algn="l">
              <a:lnSpc>
                <a:spcPct val="100000"/>
              </a:lnSpc>
              <a:buFont typeface="Arial" panose="020B0604020202020204" pitchFamily="34" charset="0"/>
              <a:buAutoNum type="arabicPeriod" startAt="5"/>
            </a:pPr>
            <a:r>
              <a:rPr lang="en-US" altLang="en-US" sz="2000" b="1" dirty="0">
                <a:sym typeface="+mn-ea"/>
              </a:rPr>
              <a:t>Screenshots of exam questions or answers</a:t>
            </a:r>
            <a:endParaRPr lang="en-US" altLang="en-US" sz="2000" dirty="0">
              <a:sym typeface="+mn-ea"/>
            </a:endParaRPr>
          </a:p>
          <a:p>
            <a:pPr marL="914400" lvl="1" indent="-457200" algn="l">
              <a:lnSpc>
                <a:spcPct val="100000"/>
              </a:lnSpc>
              <a:buFont typeface="Arial" panose="020B0604020202020204" pitchFamily="34" charset="0"/>
              <a:buChar char="•"/>
            </a:pPr>
            <a:r>
              <a:rPr lang="en-US" altLang="en-US" sz="2000" dirty="0">
                <a:sym typeface="+mn-ea"/>
              </a:rPr>
              <a:t>Type: Active</a:t>
            </a:r>
          </a:p>
          <a:p>
            <a:pPr marL="914400" lvl="1" indent="-457200" algn="l">
              <a:lnSpc>
                <a:spcPct val="100000"/>
              </a:lnSpc>
              <a:buFont typeface="Arial" panose="020B0604020202020204" pitchFamily="34" charset="0"/>
              <a:buChar char="•"/>
            </a:pPr>
            <a:r>
              <a:rPr lang="en-US" altLang="en-US" sz="2000" dirty="0">
                <a:sym typeface="+mn-ea"/>
              </a:rPr>
              <a:t>Images stored in the gallery that directly show misconduct.</a:t>
            </a:r>
          </a:p>
          <a:p>
            <a:pPr marL="457200" indent="-457200" algn="l">
              <a:lnSpc>
                <a:spcPct val="100000"/>
              </a:lnSpc>
              <a:buFont typeface="Arial" panose="020B0604020202020204" pitchFamily="34" charset="0"/>
              <a:buAutoNum type="arabicPeriod" startAt="5"/>
            </a:pPr>
            <a:r>
              <a:rPr lang="en-US" altLang="en-US" sz="2000" b="1" dirty="0">
                <a:sym typeface="+mn-ea"/>
              </a:rPr>
              <a:t>Keyboard cache / predictive text history</a:t>
            </a:r>
            <a:endParaRPr lang="en-US" altLang="en-US" sz="2000" dirty="0">
              <a:sym typeface="+mn-ea"/>
            </a:endParaRPr>
          </a:p>
          <a:p>
            <a:pPr marL="914400" lvl="1" indent="-457200" algn="l">
              <a:lnSpc>
                <a:spcPct val="100000"/>
              </a:lnSpc>
              <a:buFont typeface="Arial" panose="020B0604020202020204" pitchFamily="34" charset="0"/>
              <a:buChar char="•"/>
            </a:pPr>
            <a:r>
              <a:rPr lang="en-US" altLang="en-US" sz="2000" dirty="0">
                <a:sym typeface="+mn-ea"/>
              </a:rPr>
              <a:t>Type: Hidden</a:t>
            </a:r>
          </a:p>
          <a:p>
            <a:pPr marL="914400" lvl="1" indent="-457200" algn="l">
              <a:lnSpc>
                <a:spcPct val="100000"/>
              </a:lnSpc>
              <a:buFont typeface="Arial" panose="020B0604020202020204" pitchFamily="34" charset="0"/>
              <a:buChar char="•"/>
            </a:pPr>
            <a:r>
              <a:rPr lang="en-US" altLang="en-US" sz="2000" dirty="0">
                <a:sym typeface="+mn-ea"/>
              </a:rPr>
              <a:t>May reveal previously typed words or phrases related to answers.</a:t>
            </a:r>
          </a:p>
          <a:p>
            <a:pPr marL="457200" indent="-457200" algn="l">
              <a:lnSpc>
                <a:spcPct val="100000"/>
              </a:lnSpc>
              <a:buFont typeface="Arial" panose="020B0604020202020204" pitchFamily="34" charset="0"/>
              <a:buAutoNum type="arabicPeriod" startAt="5"/>
            </a:pPr>
            <a:r>
              <a:rPr lang="en-US" altLang="en-US" sz="2000" b="1" dirty="0">
                <a:sym typeface="+mn-ea"/>
              </a:rPr>
              <a:t>App usage logs / screen time records</a:t>
            </a:r>
            <a:endParaRPr lang="en-US" altLang="en-US" sz="2000" dirty="0">
              <a:sym typeface="+mn-ea"/>
            </a:endParaRPr>
          </a:p>
          <a:p>
            <a:pPr marL="914400" lvl="1" indent="-457200" algn="l">
              <a:lnSpc>
                <a:spcPct val="100000"/>
              </a:lnSpc>
              <a:buFont typeface="Arial" panose="020B0604020202020204" pitchFamily="34" charset="0"/>
              <a:buChar char="•"/>
            </a:pPr>
            <a:r>
              <a:rPr lang="en-US" altLang="en-US" sz="2000" dirty="0">
                <a:sym typeface="+mn-ea"/>
              </a:rPr>
              <a:t>Type: Archival</a:t>
            </a:r>
          </a:p>
          <a:p>
            <a:pPr marL="914400" lvl="1" indent="-457200" algn="l">
              <a:lnSpc>
                <a:spcPct val="100000"/>
              </a:lnSpc>
              <a:buFont typeface="Arial" panose="020B0604020202020204" pitchFamily="34" charset="0"/>
              <a:buChar char="•"/>
            </a:pPr>
            <a:r>
              <a:rPr lang="en-US" altLang="en-US" sz="2000" dirty="0">
                <a:sym typeface="+mn-ea"/>
              </a:rPr>
              <a:t>Shows which apps were used and for how long during the exam.</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23</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Answer 4 (Part 3)</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20000"/>
              </a:lnSpc>
              <a:buFont typeface="Arial" panose="020B0604020202020204" pitchFamily="34" charset="0"/>
            </a:pPr>
            <a:r>
              <a:rPr lang="en-US" altLang="en-US" sz="2000" b="1" dirty="0">
                <a:sym typeface="+mn-ea"/>
              </a:rPr>
              <a:t>Evidence Lost if the Battery Dies</a:t>
            </a:r>
          </a:p>
          <a:p>
            <a:pPr marL="342900" indent="-342900" algn="l">
              <a:lnSpc>
                <a:spcPct val="120000"/>
              </a:lnSpc>
              <a:buFont typeface="Arial" panose="020B0604020202020204" pitchFamily="34" charset="0"/>
              <a:buChar char="•"/>
            </a:pPr>
            <a:r>
              <a:rPr lang="en-US" altLang="en-US" sz="2000" dirty="0">
                <a:sym typeface="+mn-ea"/>
              </a:rPr>
              <a:t>Recently used apps / app switcher state</a:t>
            </a:r>
          </a:p>
          <a:p>
            <a:pPr marL="342900" indent="-342900" algn="l">
              <a:lnSpc>
                <a:spcPct val="120000"/>
              </a:lnSpc>
              <a:buFont typeface="Arial" panose="020B0604020202020204" pitchFamily="34" charset="0"/>
              <a:buChar char="•"/>
            </a:pPr>
            <a:r>
              <a:rPr lang="en-US" altLang="en-US" sz="2000" dirty="0">
                <a:sym typeface="+mn-ea"/>
              </a:rPr>
              <a:t>RAM contents (temporary data, unsaved activity)</a:t>
            </a:r>
          </a:p>
          <a:p>
            <a:pPr marL="342900" indent="-342900" algn="l">
              <a:lnSpc>
                <a:spcPct val="120000"/>
              </a:lnSpc>
              <a:buFont typeface="Arial" panose="020B0604020202020204" pitchFamily="34" charset="0"/>
              <a:buChar char="•"/>
            </a:pPr>
            <a:r>
              <a:rPr lang="en-US" altLang="en-US" sz="2000" dirty="0">
                <a:sym typeface="+mn-ea"/>
              </a:rPr>
              <a:t>Live sessions (e.g., unsaved chats, open browser tabs in memory)</a:t>
            </a:r>
          </a:p>
          <a:p>
            <a:pPr indent="0" algn="l">
              <a:lnSpc>
                <a:spcPct val="120000"/>
              </a:lnSpc>
              <a:buFont typeface="Arial" panose="020B0604020202020204" pitchFamily="34" charset="0"/>
            </a:pPr>
            <a:r>
              <a:rPr lang="en-US" altLang="en-US" sz="2000" b="1" dirty="0">
                <a:sym typeface="+mn-ea"/>
              </a:rPr>
              <a:t>Type: </a:t>
            </a:r>
            <a:r>
              <a:rPr lang="en-US" altLang="en-US" sz="2000" dirty="0">
                <a:sym typeface="+mn-ea"/>
              </a:rPr>
              <a:t>Volatile evidence</a:t>
            </a:r>
          </a:p>
          <a:p>
            <a:pPr indent="0" algn="l">
              <a:lnSpc>
                <a:spcPct val="120000"/>
              </a:lnSpc>
              <a:buFont typeface="Arial" panose="020B0604020202020204" pitchFamily="34" charset="0"/>
            </a:pPr>
            <a:endParaRPr lang="en-US" altLang="en-US" sz="2000" dirty="0">
              <a:sym typeface="+mn-ea"/>
            </a:endParaRPr>
          </a:p>
          <a:p>
            <a:pPr indent="0" algn="l">
              <a:lnSpc>
                <a:spcPct val="120000"/>
              </a:lnSpc>
              <a:buFont typeface="Arial" panose="020B0604020202020204" pitchFamily="34" charset="0"/>
            </a:pPr>
            <a:r>
              <a:rPr lang="en-US" altLang="en-US" sz="2000" b="1" dirty="0">
                <a:sym typeface="+mn-ea"/>
              </a:rPr>
              <a:t>What this means:</a:t>
            </a:r>
            <a:endParaRPr lang="en-US" altLang="en-US" sz="2000" dirty="0">
              <a:sym typeface="+mn-ea"/>
            </a:endParaRPr>
          </a:p>
          <a:p>
            <a:pPr marL="342900" indent="-342900" algn="l">
              <a:lnSpc>
                <a:spcPct val="120000"/>
              </a:lnSpc>
              <a:buFont typeface="Arial" panose="020B0604020202020204" pitchFamily="34" charset="0"/>
              <a:buChar char="•"/>
            </a:pPr>
            <a:r>
              <a:rPr lang="en-US" altLang="en-US" sz="2000" dirty="0">
                <a:sym typeface="+mn-ea"/>
              </a:rPr>
              <a:t>Volatile evidence exists only while the device is powered on.</a:t>
            </a:r>
          </a:p>
          <a:p>
            <a:pPr marL="342900" indent="-342900" algn="l">
              <a:lnSpc>
                <a:spcPct val="120000"/>
              </a:lnSpc>
              <a:buFont typeface="Arial" panose="020B0604020202020204" pitchFamily="34" charset="0"/>
              <a:buChar char="•"/>
            </a:pPr>
            <a:r>
              <a:rPr lang="en-US" altLang="en-US" sz="2000" dirty="0">
                <a:sym typeface="+mn-ea"/>
              </a:rPr>
              <a:t>If the battery dies (or the phone is turned off), this data is permanently lost.</a:t>
            </a:r>
          </a:p>
          <a:p>
            <a:pPr marL="342900" indent="-342900" algn="l">
              <a:lnSpc>
                <a:spcPct val="120000"/>
              </a:lnSpc>
              <a:buFont typeface="Arial" panose="020B0604020202020204" pitchFamily="34" charset="0"/>
              <a:buChar char="•"/>
            </a:pPr>
            <a:r>
              <a:rPr lang="en-US" altLang="en-US" sz="2000" dirty="0">
                <a:sym typeface="+mn-ea"/>
              </a:rPr>
              <a:t>Investigators must act quickly to preserve it (e.g., keeping the phone powered, using live forensics tools).</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24</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Class Activity - Answer 4 (Part 4)</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0" algn="l">
              <a:lnSpc>
                <a:spcPct val="120000"/>
              </a:lnSpc>
              <a:buFont typeface="Arial" panose="020B0604020202020204" pitchFamily="34" charset="0"/>
            </a:pPr>
            <a:r>
              <a:rPr lang="en-US" altLang="en-US" sz="2000" b="1" dirty="0">
                <a:sym typeface="+mn-ea"/>
              </a:rPr>
              <a:t>Bonus: Other Places Evidence Might Exist</a:t>
            </a:r>
          </a:p>
          <a:p>
            <a:pPr marL="457200" indent="-457200" algn="l">
              <a:lnSpc>
                <a:spcPct val="120000"/>
              </a:lnSpc>
              <a:buFont typeface="Arial" panose="020B0604020202020204" pitchFamily="34" charset="0"/>
              <a:buAutoNum type="arabicPeriod"/>
            </a:pPr>
            <a:r>
              <a:rPr lang="en-US" altLang="en-US" sz="2000" dirty="0">
                <a:sym typeface="+mn-ea"/>
              </a:rPr>
              <a:t>Cloud backups (e.g., Google Drive, iCloud)</a:t>
            </a:r>
          </a:p>
          <a:p>
            <a:pPr marL="457200" indent="-457200" algn="l">
              <a:lnSpc>
                <a:spcPct val="120000"/>
              </a:lnSpc>
              <a:buFont typeface="Arial" panose="020B0604020202020204" pitchFamily="34" charset="0"/>
              <a:buAutoNum type="arabicPeriod"/>
            </a:pPr>
            <a:r>
              <a:rPr lang="en-US" altLang="en-US" sz="2000" dirty="0">
                <a:sym typeface="+mn-ea"/>
              </a:rPr>
              <a:t>Messaging service servers</a:t>
            </a:r>
          </a:p>
          <a:p>
            <a:pPr marL="457200" indent="-457200" algn="l">
              <a:lnSpc>
                <a:spcPct val="120000"/>
              </a:lnSpc>
              <a:buFont typeface="Arial" panose="020B0604020202020204" pitchFamily="34" charset="0"/>
              <a:buAutoNum type="arabicPeriod"/>
            </a:pPr>
            <a:r>
              <a:rPr lang="en-US" altLang="en-US" sz="2000" dirty="0">
                <a:sym typeface="+mn-ea"/>
              </a:rPr>
              <a:t>School Wi-Fi/network logs</a:t>
            </a:r>
          </a:p>
          <a:p>
            <a:pPr marL="457200" indent="-457200" algn="l">
              <a:lnSpc>
                <a:spcPct val="120000"/>
              </a:lnSpc>
              <a:buFont typeface="Arial" panose="020B0604020202020204" pitchFamily="34" charset="0"/>
              <a:buAutoNum type="arabicPeriod"/>
            </a:pPr>
            <a:r>
              <a:rPr lang="en-US" altLang="en-US" sz="2000" dirty="0">
                <a:sym typeface="+mn-ea"/>
              </a:rPr>
              <a:t>Other students’ devices</a:t>
            </a:r>
          </a:p>
          <a:p>
            <a:pPr marL="457200" indent="-457200" algn="l">
              <a:lnSpc>
                <a:spcPct val="120000"/>
              </a:lnSpc>
              <a:buFont typeface="Arial" panose="020B0604020202020204" pitchFamily="34" charset="0"/>
              <a:buAutoNum type="arabicPeriod"/>
            </a:pPr>
            <a:r>
              <a:rPr lang="en-US" altLang="en-US" sz="2000" dirty="0">
                <a:sym typeface="+mn-ea"/>
              </a:rPr>
              <a:t>Exam hall CCTV cameras</a:t>
            </a:r>
          </a:p>
          <a:p>
            <a:pPr marL="457200" indent="-457200" algn="l">
              <a:lnSpc>
                <a:spcPct val="120000"/>
              </a:lnSpc>
              <a:buFont typeface="Arial" panose="020B0604020202020204" pitchFamily="34" charset="0"/>
              <a:buAutoNum type="arabicPeriod"/>
            </a:pPr>
            <a:r>
              <a:rPr lang="en-US" altLang="en-US" sz="2000" dirty="0">
                <a:sym typeface="+mn-ea"/>
              </a:rPr>
              <a:t>Email accounts</a:t>
            </a:r>
          </a:p>
          <a:p>
            <a:pPr marL="457200" indent="-457200" algn="l">
              <a:lnSpc>
                <a:spcPct val="120000"/>
              </a:lnSpc>
              <a:buFont typeface="Arial" panose="020B0604020202020204" pitchFamily="34" charset="0"/>
              <a:buAutoNum type="arabicPeriod"/>
            </a:pPr>
            <a:r>
              <a:rPr lang="en-US" altLang="en-US" sz="2000" dirty="0">
                <a:sym typeface="+mn-ea"/>
              </a:rPr>
              <a:t>Learning platforms or exam portals</a:t>
            </a:r>
          </a:p>
          <a:p>
            <a:pPr indent="0" algn="l">
              <a:lnSpc>
                <a:spcPct val="120000"/>
              </a:lnSpc>
              <a:buFont typeface="Arial" panose="020B0604020202020204" pitchFamily="34" charset="0"/>
            </a:pPr>
            <a:endParaRPr lang="en-US" altLang="en-US" sz="2000" dirty="0">
              <a:sym typeface="+mn-ea"/>
            </a:endParaRP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25</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 y="123190"/>
            <a:ext cx="8628380" cy="583565"/>
          </a:xfrm>
          <a:prstGeom prst="rect">
            <a:avLst/>
          </a:prstGeom>
          <a:noFill/>
        </p:spPr>
        <p:txBody>
          <a:bodyPr wrap="square" rtlCol="0">
            <a:spAutoFit/>
          </a:bodyPr>
          <a:lstStyle/>
          <a:p>
            <a:r>
              <a:rPr lang="en-US" altLang="en-US" sz="3200" b="1" dirty="0" err="1">
                <a:latin typeface="Bahnschrift SemiBold" panose="020B0502040204020203" charset="0"/>
                <a:ea typeface="Roboto" panose="02000000000000000000" pitchFamily="2" charset="0"/>
                <a:cs typeface="Bahnschrift SemiBold" panose="020B0502040204020203" charset="0"/>
              </a:rPr>
              <a:t>Self-Check</a:t>
            </a:r>
          </a:p>
        </p:txBody>
      </p:sp>
      <p:sp>
        <p:nvSpPr>
          <p:cNvPr id="5" name="Title 2"/>
          <p:cNvSpPr>
            <a:spLocks noGrp="1"/>
          </p:cNvSpPr>
          <p:nvPr/>
        </p:nvSpPr>
        <p:spPr>
          <a:xfrm>
            <a:off x="251460" y="771525"/>
            <a:ext cx="8623935" cy="4186555"/>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lnSpc>
                <a:spcPct val="130000"/>
              </a:lnSpc>
              <a:buFont typeface="Arial" panose="020B0604020202020204" pitchFamily="34" charset="0"/>
              <a:buAutoNum type="arabicPeriod"/>
            </a:pPr>
            <a:r>
              <a:rPr lang="en-US" altLang="en-US" sz="2400" dirty="0">
                <a:sym typeface="+mn-ea"/>
              </a:rPr>
              <a:t>Explain digital forensics in ONE sentence to a friend who has never heard of it.</a:t>
            </a:r>
          </a:p>
          <a:p>
            <a:pPr marL="457200" indent="-457200" algn="l">
              <a:lnSpc>
                <a:spcPct val="130000"/>
              </a:lnSpc>
              <a:buFont typeface="Arial" panose="020B0604020202020204" pitchFamily="34" charset="0"/>
              <a:buAutoNum type="arabicPeriod"/>
            </a:pPr>
            <a:r>
              <a:rPr lang="en-US" altLang="en-US" sz="2400" dirty="0">
                <a:sym typeface="+mn-ea"/>
              </a:rPr>
              <a:t>A computer is still ON at the crime scene. What should the investigator do FIRST, and why?</a:t>
            </a:r>
          </a:p>
          <a:p>
            <a:pPr marL="457200" indent="-457200" algn="l">
              <a:lnSpc>
                <a:spcPct val="130000"/>
              </a:lnSpc>
              <a:buFont typeface="Arial" panose="020B0604020202020204" pitchFamily="34" charset="0"/>
              <a:buAutoNum type="arabicPeriod"/>
            </a:pPr>
            <a:r>
              <a:rPr lang="en-US" altLang="en-US" sz="2400" dirty="0">
                <a:sym typeface="+mn-ea"/>
              </a:rPr>
              <a:t>Which type of evidence would tell you WHERE and WHEN a photo was taken?</a:t>
            </a:r>
          </a:p>
          <a:p>
            <a:pPr marL="457200" indent="-457200" algn="l">
              <a:lnSpc>
                <a:spcPct val="130000"/>
              </a:lnSpc>
              <a:buFont typeface="Arial" panose="020B0604020202020204" pitchFamily="34" charset="0"/>
              <a:buAutoNum type="arabicPeriod"/>
            </a:pPr>
            <a:r>
              <a:rPr lang="en-US" altLang="en-US" sz="2400" dirty="0">
                <a:sym typeface="+mn-ea"/>
              </a:rPr>
              <a:t>Why is it important that a forensic investigator stays objective and unbiased?</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26</a:t>
            </a:fld>
            <a:endParaRPr lang="en-GB"/>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874515"/>
            <a:ext cx="8640960" cy="3394473"/>
          </a:xfrm>
        </p:spPr>
        <p:txBody>
          <a:bodyPr>
            <a:normAutofit/>
          </a:bodyPr>
          <a:lstStyle/>
          <a:p>
            <a:pPr marL="0" indent="0" algn="ctr">
              <a:buNone/>
            </a:pPr>
            <a:r>
              <a:rPr lang="en-US" sz="6600" dirty="0">
                <a:latin typeface="+mj-lt"/>
                <a:cs typeface="+mj-lt"/>
              </a:rPr>
              <a:t>Thank you for listening</a:t>
            </a:r>
          </a:p>
          <a:p>
            <a:pPr marL="0" indent="0" algn="ctr">
              <a:buNone/>
            </a:pPr>
            <a:r>
              <a:rPr lang="en-US" sz="6600" dirty="0">
                <a:latin typeface="+mj-lt"/>
                <a:cs typeface="+mj-lt"/>
                <a:sym typeface="Wingdings" panose="05000000000000000000" pitchFamily="2" charset="2"/>
              </a:rPr>
              <a:t></a:t>
            </a:r>
          </a:p>
        </p:txBody>
      </p:sp>
      <p:sp>
        <p:nvSpPr>
          <p:cNvPr id="2" name="Slide Number Placeholder 1"/>
          <p:cNvSpPr>
            <a:spLocks noGrp="1"/>
          </p:cNvSpPr>
          <p:nvPr>
            <p:ph type="sldNum" sz="quarter" idx="12"/>
          </p:nvPr>
        </p:nvSpPr>
        <p:spPr/>
        <p:txBody>
          <a:bodyPr/>
          <a:lstStyle/>
          <a:p>
            <a:fld id="{B310DB28-467B-42AB-AF30-926E64120C57}" type="slidenum">
              <a:rPr lang="en-GB" smtClean="0"/>
              <a:t>27</a:t>
            </a:fld>
            <a:endParaRPr lang="en-GB"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1389</Words>
  <Application>Microsoft Office PowerPoint</Application>
  <PresentationFormat>On-screen Show (16:9)</PresentationFormat>
  <Paragraphs>201</Paragraphs>
  <Slides>27</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Bahnschrift SemiBold</vt:lpstr>
      <vt:lpstr>Calibri</vt:lpstr>
      <vt:lpstr>Merriweather</vt:lpstr>
      <vt:lpstr>Roboto</vt:lpstr>
      <vt:lpstr>Symbol</vt:lpstr>
      <vt:lpstr>Wingdings</vt:lpstr>
      <vt:lpstr>Office Theme</vt:lpstr>
      <vt:lpstr>MindGuard : Development of a Browser Extension for Detecting Depressive Language in Adolescents in Online Communication Using a RAG-Driven LLM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AZUBUIKE EZENWOKE</dc:creator>
  <cp:lastModifiedBy>AdeNike</cp:lastModifiedBy>
  <cp:revision>2555</cp:revision>
  <cp:lastPrinted>2026-03-26T10:07:00Z</cp:lastPrinted>
  <dcterms:created xsi:type="dcterms:W3CDTF">2026-03-26T10:07:00Z</dcterms:created>
  <dcterms:modified xsi:type="dcterms:W3CDTF">2026-06-15T11:00:32Z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25B78F6B7E6844AE9816BB1D44F3732A_13</vt:lpwstr>
  </property>
  <property fmtid="{D5CDD505-2E9C-101B-9397-08002B2CF9AE}" pid="3" name="KSOProductBuildVer">
    <vt:lpwstr>1033-12.2.0.23196</vt:lpwstr>
  </property>
</Properties>
</file>