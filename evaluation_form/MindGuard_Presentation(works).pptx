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22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-914400"/>
            <a:ext cx="3657600" cy="3657600"/>
          </a:xfrm>
          <a:prstGeom prst="rect">
            <a:avLst/>
          </a:prstGeom>
          <a:solidFill>
            <a:srgbClr val="151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0" y="1097280"/>
            <a:ext cx="3931920" cy="274320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11155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alibri"/>
              </a:rPr>
              <a:t>FINAL YEAR BSc PROJECT DEFENCE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4813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🧠🛡️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MindGuard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Development of a Browser Extension for Detecting Depressive Language
in Adolescents in Online Communication Using a RAG-Driven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4005072"/>
            <a:ext cx="1371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Adelekan Igbagboyemi 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35424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Computer Science  ·  Final Year  ·  2025/2026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83559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Background to the </a:t>
            </a:r>
            <a:r>
              <a:rPr sz="2200" b="1">
                <a:solidFill>
                  <a:srgbClr val="6C63FF"/>
                </a:solidFill>
                <a:latin typeface="Calibri"/>
              </a:rPr>
              <a:t>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3611880" cy="219456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52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59754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Global Mental Health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92808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94A3B8"/>
                </a:solidFill>
                <a:latin typeface="Calibri"/>
              </a:rPr>
              <a:t>Depression affects 280 million people worldwide. Adolescents are disproportionately impacted — 1 in 7 aged 10–19 experience a mental disorder, yet less than 20% receive adequate care.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143000"/>
            <a:ext cx="3611880" cy="219456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1252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6184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Adolescents &amp; Online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892808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94A3B8"/>
                </a:solidFill>
                <a:latin typeface="Calibri"/>
              </a:rPr>
              <a:t>Adolescents spend 7+ hours/day online. They frequently express emotional distress through written online text — often their primary and most candid outlet for self-expression.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1143000"/>
            <a:ext cx="3611880" cy="219456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8743" y="1252728"/>
            <a:ext cx="457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 smtClean="0">
                <a:solidFill>
                  <a:srgbClr val="FFFFFF"/>
                </a:solidFill>
                <a:latin typeface="Calibri"/>
              </a:rPr>
              <a:t>⚠</a:t>
            </a:r>
            <a:endParaRPr sz="2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3445" y="1622840"/>
            <a:ext cx="32814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The Intervention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3" y="1892808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94A3B8"/>
                </a:solidFill>
                <a:latin typeface="Calibri"/>
              </a:rPr>
              <a:t>Existing tools rely on active user engagement — journaling apps, chatbots — but at-risk adolescents disengage when most distressed. Early detection requires passive, non-intrusive monitoring.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93008"/>
            <a:ext cx="11247120" cy="77724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493008"/>
            <a:ext cx="50800" cy="7772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3566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E2E8F0"/>
                </a:solidFill>
                <a:latin typeface="Calibri"/>
              </a:rPr>
              <a:t>"The digital footprint left by adolescents during online communication represents an untapped early-warning signal for identifying depressive risk before it escalates to crisis."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07408"/>
            <a:ext cx="1444752" cy="4114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4622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👤 Writes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12848" y="4407408"/>
            <a:ext cx="1444752" cy="4114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12848" y="44622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🔍 Passive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8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8496" y="4407408"/>
            <a:ext cx="1444752" cy="4114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68496" y="44622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🤖 AI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24144" y="4407408"/>
            <a:ext cx="1444752" cy="4114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24144" y="44622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🔔 Guardian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7184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9792" y="4407408"/>
            <a:ext cx="1444752" cy="4114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79792" y="4462272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Calibri"/>
              </a:rPr>
              <a:t>💚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Key Works </a:t>
            </a:r>
            <a:r>
              <a:rPr sz="2200" b="1">
                <a:solidFill>
                  <a:srgbClr val="6C63FF"/>
                </a:solidFill>
                <a:latin typeface="Calibri"/>
              </a:rPr>
              <a:t>Reviewed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0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170432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Author(s) &amp;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115568"/>
            <a:ext cx="2377440" cy="365760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40864" y="117043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Problem Considered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15568"/>
            <a:ext cx="2377440" cy="365760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8304" y="117043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Method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115568"/>
            <a:ext cx="2377440" cy="365760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95744" y="117043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Gap Identified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115568"/>
            <a:ext cx="2286000" cy="365760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73184" y="1170432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Addressed by MindGuard?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18288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" y="1536192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Q. Guo et al. (2024)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48132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50008" y="153619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Suicidal ideation detection in social media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48132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27448" y="153619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BERT-based classification on Reddit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148132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4888" y="153619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Not age-targeted; no guardian alerts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481328"/>
            <a:ext cx="22860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1536192"/>
            <a:ext cx="21579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Age-targeted + Alerts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50008"/>
            <a:ext cx="182880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8" y="2404872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Ilapaka &amp; Ghosh (2025)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35000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50008" y="240487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AI chatbot for depression 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35000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27448" y="240487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FAISS + RAG + active dialogue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35000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04888" y="240487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Requires active user initiation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2350008"/>
            <a:ext cx="228600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82328" y="2404872"/>
            <a:ext cx="21579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Passive monitoring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18688"/>
            <a:ext cx="18288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1208" y="3273552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Zhang et al. — SouLLMate (2023)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21868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50008" y="327355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LLM emotional support for mental health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21868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27448" y="327355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Fine-tuned LLM; overall F1 = 0.68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321868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04888" y="327355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No guardian escalation; low F1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218688"/>
            <a:ext cx="22860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82328" y="3273552"/>
            <a:ext cx="21579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Guardian dashboard + 94.1% High-Risk F1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87368"/>
            <a:ext cx="182880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" y="4142232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Fitzpatrick et al. — Woebot (2022)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408736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50008" y="414223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Automated CBT chatbot for depression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408736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27448" y="414223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Rule-based NLP; brief daily conversations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4087368"/>
            <a:ext cx="237744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04888" y="414223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Requires active engagement; no passive mode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4087368"/>
            <a:ext cx="2286000" cy="868680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82328" y="4142232"/>
            <a:ext cx="21579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Zero user effort required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956048"/>
            <a:ext cx="18288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1208" y="5010912"/>
            <a:ext cx="17007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Hollis et al. (2021)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495604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350008" y="501091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Digital mental health for young people: review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495604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27448" y="501091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Systematic review; evidence synthesis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40880" y="4956048"/>
            <a:ext cx="237744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04888" y="5010912"/>
            <a:ext cx="22494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Gap in passive real-time browser tools for teens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4956048"/>
            <a:ext cx="2286000" cy="868680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82328" y="5010912"/>
            <a:ext cx="21579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Browser extension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STATEMENT OF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The </a:t>
            </a:r>
            <a:r>
              <a:rPr sz="2200" b="1">
                <a:solidFill>
                  <a:srgbClr val="6C63FF"/>
                </a:solidFill>
                <a:latin typeface="Calibri"/>
              </a:rPr>
              <a:t>Problem </a:t>
            </a:r>
            <a:r>
              <a:rPr sz="2200" b="1">
                <a:solidFill>
                  <a:srgbClr val="FFFFFF"/>
                </a:solidFill>
                <a:latin typeface="Calibri"/>
              </a:rPr>
              <a:t>We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17043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0800" cy="1170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320040" cy="320040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28016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Active-Engagement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57276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Existing digital mental health tools work only if the user chooses to engage. Adolescents experiencing depressive episodes are the least likely to do so — the very moment help is needed most.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57400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63FF"/>
                </a:solidFill>
                <a:latin typeface="Calibri"/>
              </a:rPr>
              <a:t>(Q. Guo et al., 2024; Hollis et al., 2021)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14016"/>
            <a:ext cx="11247120" cy="117043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414016"/>
            <a:ext cx="50800" cy="1170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761488"/>
            <a:ext cx="320040" cy="320040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61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05456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Passive Expression Goes Undetected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798064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Adolescents express distress passively through everyday online writing. No browser-based tool exists to passively capture and analyse this real-time signal without user effort.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282696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63FF"/>
                </a:solidFill>
                <a:latin typeface="Calibri"/>
              </a:rPr>
              <a:t>(O'Reilly et al., 2023; Torous et al., 2021)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39312"/>
            <a:ext cx="11247120" cy="117043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639312"/>
            <a:ext cx="50800" cy="1170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986784"/>
            <a:ext cx="320040" cy="320040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98678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3075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Guardian Escalation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2336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State-of-the-art detection models lack an integrated guardian notification system. Detection alone does not bridge the gap between identifying risk and real-world intervention.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507992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63FF"/>
                </a:solidFill>
                <a:latin typeface="Calibri"/>
              </a:rPr>
              <a:t>(Zhang et al., 2023)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64608"/>
            <a:ext cx="11247120" cy="117043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864608"/>
            <a:ext cx="50800" cy="1170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" y="5212080"/>
            <a:ext cx="320040" cy="320040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5212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95604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 Designed for Adolescents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248656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Current tools ignore the informal, colloquial, and coded language unique to teenage online communication, reducing detection reliability for the most vulnerable demographic.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733288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63FF"/>
                </a:solidFill>
                <a:latin typeface="Calibri"/>
              </a:rPr>
              <a:t>(Thabrew et al., 2022)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What We Set Out to </a:t>
            </a:r>
            <a:r>
              <a:rPr sz="2200" b="1">
                <a:solidFill>
                  <a:srgbClr val="6C63FF"/>
                </a:solidFill>
                <a:latin typeface="Calibri"/>
              </a:rPr>
              <a:t>Achieve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2926080"/>
          </a:xfrm>
          <a:prstGeom prst="rect">
            <a:avLst/>
          </a:prstGeom>
          <a:solidFill>
            <a:srgbClr val="1A1A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4028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0">
                <a:solidFill>
                  <a:srgbClr val="E2E8F0"/>
                </a:solidFill>
                <a:latin typeface="Calibri"/>
              </a:rPr>
              <a:t>To design, develop, and evaluate a browser extension that passively monitors online text for depressive language patterns in adolescents, using a RAG-driven Large Language Model, and automatically notifies designated guardians when high-risk indicators are detected.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2476" y="4498848"/>
            <a:ext cx="2377440" cy="384048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2476" y="45262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🔍  Passive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82796" y="4498848"/>
            <a:ext cx="2377440" cy="384048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2796" y="45262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🤖  RAG +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3116" y="4498848"/>
            <a:ext cx="2377440" cy="384048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43116" y="45262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🛡️  Risk 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03436" y="4498848"/>
            <a:ext cx="2377440" cy="384048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03436" y="45262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🔔  Guardian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Steps Taken to </a:t>
            </a:r>
            <a:r>
              <a:rPr sz="2200" b="1">
                <a:solidFill>
                  <a:srgbClr val="6C63FF"/>
                </a:solidFill>
                <a:latin typeface="Calibri"/>
              </a:rPr>
              <a:t>Achieve the 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90472"/>
            <a:ext cx="384048" cy="384048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904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28016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Collect &amp; Pre-process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554480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Collect and pre-process a suitable dataset of depressive and non-depressive text samples representative of adolescent online communication (Dreaddit dataset — 2,838 samples).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14016"/>
            <a:ext cx="112471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414016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734056"/>
            <a:ext cx="384048" cy="384048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7340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523744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Design &amp; Develop Risk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798064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Design and develop a trained risk classification model and evaluate the accuracy and reliability of the model's risk predictions using a hybrid NLP + RAG pipeline.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12471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977640"/>
            <a:ext cx="384048" cy="384048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977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III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76732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Implement System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041648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Implement the model within a browser extension architecture, incorporating a secure guardian notification framework and consent management system.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01184"/>
            <a:ext cx="112471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901184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5221224"/>
            <a:ext cx="384048" cy="384048"/>
          </a:xfrm>
          <a:prstGeom prst="rect">
            <a:avLst/>
          </a:prstGeom>
          <a:solidFill>
            <a:srgbClr val="1E1E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52212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C63FF"/>
                </a:solidFill>
                <a:latin typeface="Calibri"/>
              </a:rPr>
              <a:t>IV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01091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Evaluate Usability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285232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Evaluate the usability of the system interface using the System Usability Scale (SUS) with 24 participants from the target demographic.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How Each Objective Was </a:t>
            </a:r>
            <a:r>
              <a:rPr sz="2200" b="1">
                <a:solidFill>
                  <a:srgbClr val="34D399"/>
                </a:solidFill>
                <a:latin typeface="Calibri"/>
              </a:rPr>
              <a:t>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5303520" cy="274320"/>
          </a:xfrm>
          <a:prstGeom prst="rect">
            <a:avLst/>
          </a:prstGeom>
          <a:solidFill>
            <a:srgbClr val="1A14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3FF"/>
                </a:solidFill>
                <a:latin typeface="Calibri"/>
              </a:rPr>
              <a:t>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15568"/>
            <a:ext cx="5760720" cy="274320"/>
          </a:xfrm>
          <a:prstGeom prst="rect">
            <a:avLst/>
          </a:prstGeom>
          <a:solidFill>
            <a:srgbClr val="0D251A"/>
          </a:solidFill>
          <a:ln w="38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133856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  <a:latin typeface="Calibri"/>
              </a:rPr>
              <a:t>METHOD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5303520" cy="1097280"/>
          </a:xfrm>
          <a:prstGeom prst="rect">
            <a:avLst/>
          </a:prstGeom>
          <a:solidFill>
            <a:srgbClr val="141435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  <a:latin typeface="Calibri"/>
              </a:rPr>
              <a:t>Obj I —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9222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Dreaddit Reddit dataset · 2,838 samples · Colloquial adolescent-style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86537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81328"/>
            <a:ext cx="5760720" cy="1097280"/>
          </a:xfrm>
          <a:prstGeom prst="rect">
            <a:avLst/>
          </a:prstGeom>
          <a:solidFill>
            <a:srgbClr val="0D2018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1572768"/>
            <a:ext cx="5486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Text cleaning, stopword removal, lemmatisation. FAISS embedding index built using sentence-transformer embeddings (all-MiniLM-L6-v2).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24328"/>
            <a:ext cx="5303520" cy="1097280"/>
          </a:xfrm>
          <a:prstGeom prst="rect">
            <a:avLst/>
          </a:prstGeom>
          <a:solidFill>
            <a:srgbClr val="141435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697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  <a:latin typeface="Calibri"/>
              </a:rPr>
              <a:t>Obj II — Risk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3522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3-class Risk Engine: Low / Moderate / High. Hybrid NLP scoring + RAG retrieval.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00837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624328"/>
            <a:ext cx="5760720" cy="1097280"/>
          </a:xfrm>
          <a:prstGeom prst="rect">
            <a:avLst/>
          </a:prstGeom>
          <a:solidFill>
            <a:srgbClr val="0D2018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2715768"/>
            <a:ext cx="5486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RAG Pipeline: FAISS vector search retrieves semantically similar cases → Gemini 1.5 Flash reasons over context → produces risk level + explanation. 14-day temporal window (DSM-5 aligned).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67328"/>
            <a:ext cx="5303520" cy="1097280"/>
          </a:xfrm>
          <a:prstGeom prst="rect">
            <a:avLst/>
          </a:prstGeom>
          <a:solidFill>
            <a:srgbClr val="141435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840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  <a:latin typeface="Calibri"/>
              </a:rPr>
              <a:t>Obj III —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07822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Browser extension (JS), FastAPI backend, Guardian dashboard (HTML/JS).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15137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767328"/>
            <a:ext cx="5760720" cy="1097280"/>
          </a:xfrm>
          <a:prstGeom prst="rect">
            <a:avLst/>
          </a:prstGeom>
          <a:solidFill>
            <a:srgbClr val="0D2018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3858768"/>
            <a:ext cx="5486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Design Science Research (DSR). Passive text interception → encrypted API call → risk classification → conditional guardian email alert with consent verification.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10328"/>
            <a:ext cx="5303520" cy="1097280"/>
          </a:xfrm>
          <a:prstGeom prst="rect">
            <a:avLst/>
          </a:prstGeom>
          <a:solidFill>
            <a:srgbClr val="141435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9834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3FF"/>
                </a:solidFill>
                <a:latin typeface="Calibri"/>
              </a:rPr>
              <a:t>Obj IV —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2122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SUS questionnaire + model benchmarking on 42-sample held-out test set.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529437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910328"/>
            <a:ext cx="5760720" cy="1097280"/>
          </a:xfrm>
          <a:prstGeom prst="rect">
            <a:avLst/>
          </a:prstGeom>
          <a:solidFill>
            <a:srgbClr val="0D2018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5001768"/>
            <a:ext cx="54864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Quantitative: Accuracy, Precision, Recall, F1, Confusion Matrix. Qualitative: 10-item SUS with 24 participants on live extension + guardian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Objective I &amp; II — </a:t>
            </a:r>
            <a:r>
              <a:rPr sz="2200" b="1">
                <a:solidFill>
                  <a:srgbClr val="34D399"/>
                </a:solidFill>
                <a:latin typeface="Calibri"/>
              </a:rPr>
              <a:t>Model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2606040" cy="868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88.1%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Calibri"/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115568"/>
            <a:ext cx="2606040" cy="868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12801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87.4%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8013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Calibri"/>
              </a:rP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115568"/>
            <a:ext cx="2606040" cy="868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12801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88.1%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8013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Calibri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1115568"/>
            <a:ext cx="2606040" cy="868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12801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87.5%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013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  <a:latin typeface="Calibri"/>
              </a:rPr>
              <a:t>F1-SCORE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21408"/>
            <a:ext cx="1645920" cy="347472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21762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121408"/>
            <a:ext cx="1645920" cy="347472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21762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Precision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2121408"/>
            <a:ext cx="1645920" cy="347472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03904" y="21762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Recall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121408"/>
            <a:ext cx="1645920" cy="347472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49824" y="21762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F1-Score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121408"/>
            <a:ext cx="4663440" cy="347472"/>
          </a:xfrm>
          <a:prstGeom prst="rect">
            <a:avLst/>
          </a:prstGeom>
          <a:solidFill>
            <a:srgbClr val="1A1A45"/>
          </a:solidFill>
          <a:ln w="381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95744" y="2176272"/>
            <a:ext cx="4553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Clinical Significance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68880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250545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Low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468880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57984" y="250545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73.3%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2468880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03904" y="250545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84.6%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2468880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49824" y="2505456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78.5%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2468880"/>
            <a:ext cx="466344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95744" y="2505456"/>
            <a:ext cx="455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26.7% false-positive rate — identified target for future improvement to reduce guardian fatigue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816352"/>
            <a:ext cx="1645920" cy="347472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2064" y="285292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Moderate Risk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2816352"/>
            <a:ext cx="1645920" cy="347472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157984" y="285292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90.0%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40" y="2816352"/>
            <a:ext cx="1645920" cy="347472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03904" y="285292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82.6%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2816352"/>
            <a:ext cx="1645920" cy="347472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49824" y="2852928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86.1%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2816352"/>
            <a:ext cx="4663440" cy="347472"/>
          </a:xfrm>
          <a:prstGeom prst="rect">
            <a:avLst/>
          </a:prstGeom>
          <a:solidFill>
            <a:srgbClr val="1818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95744" y="2852928"/>
            <a:ext cx="455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Strong identification of borderline cases — supports preventative intervention before escalation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163824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2064" y="320040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  <a:latin typeface="Calibri"/>
              </a:rPr>
              <a:t>High Risk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3163824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57984" y="320040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94.4%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0" y="3163824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03904" y="320040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94.1%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94960" y="3163824"/>
            <a:ext cx="164592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49824" y="3200400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94.1%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3163824"/>
            <a:ext cx="4663440" cy="347472"/>
          </a:xfrm>
          <a:prstGeom prst="rect">
            <a:avLst/>
          </a:prstGeom>
          <a:solidFill>
            <a:srgbClr val="1A1A3A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095744" y="3200400"/>
            <a:ext cx="455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✔ MEETS ≥90% clinical safety target. High Recall is paramount: missing a high-risk user has severe consequences.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0749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📊 Test samples: 42 hand-curated high-variance instances   ·   🔬 Dataset: Dreaddit (2,838 total samples)   ·   ⏱ 14-day temporal window (DSM-5 aligned)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Objective III &amp; IV — </a:t>
            </a:r>
            <a:r>
              <a:rPr sz="2200" b="1">
                <a:solidFill>
                  <a:srgbClr val="34D399"/>
                </a:solidFill>
                <a:latin typeface="Calibri"/>
              </a:rPr>
              <a:t>System &amp; Usability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  <a:latin typeface="Calibri"/>
              </a:rPr>
              <a:t>OBJECTIVE III — SYSTEM DELIVERED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2704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Browser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819656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Passively captures typed text. Encrypts &amp; transmits to API. Supports Chrome.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53035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807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8072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RAG Risk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099816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FAISS retrieval + Gemini LLM classifies text into Low / Moderate / High risk using a 3-stage mathematical formula.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77640"/>
            <a:ext cx="53035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97764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087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08736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Guardian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379976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Real-time risk alerts. Consent management. Timeline of risk events per adolescent.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5303520" cy="118872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367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36752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Privacy-First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660136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Explicit opt-in consent. Encrypted transmission (TLS). No password or sensitive field capture.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11556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Calibri"/>
              </a:rPr>
              <a:t>OBJECTIVE IV — SUS USABILITY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417320"/>
            <a:ext cx="5669280" cy="3154680"/>
          </a:xfrm>
          <a:prstGeom prst="rect">
            <a:avLst/>
          </a:prstGeom>
          <a:solidFill>
            <a:srgbClr val="1A1A3A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15544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Average SUS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828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4D399"/>
                </a:solidFill>
                <a:latin typeface="Calibri"/>
              </a:rPr>
              <a:t>69.1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18288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24 Participants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121408"/>
            <a:ext cx="2377440" cy="292608"/>
          </a:xfrm>
          <a:prstGeom prst="rect">
            <a:avLst/>
          </a:prstGeom>
          <a:solidFill>
            <a:srgbClr val="0D251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21488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Calibri"/>
              </a:rPr>
              <a:t>✔ ABOVE AVERAGE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606040"/>
            <a:ext cx="5303520" cy="201168"/>
          </a:xfrm>
          <a:prstGeom prst="rect">
            <a:avLst/>
          </a:prstGeom>
          <a:solidFill>
            <a:srgbClr val="202040"/>
          </a:solidFill>
          <a:ln w="25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2606040"/>
            <a:ext cx="3664732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5040" y="28529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1433" y="28529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68 Avg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28529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127248"/>
            <a:ext cx="5303520" cy="1261872"/>
          </a:xfrm>
          <a:prstGeom prst="rect">
            <a:avLst/>
          </a:prstGeom>
          <a:solidFill>
            <a:srgbClr val="141435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3200400"/>
            <a:ext cx="5029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💬 User Feedback:
"Users want to see WHY a risk was assigned — not just the severity level."
→ Identified as top recommendation for future work:
   Explainable AI (XAI) Insights Panel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Contribution &amp; </a:t>
            </a:r>
            <a:r>
              <a:rPr sz="2200" b="1">
                <a:solidFill>
                  <a:srgbClr val="6C63FF"/>
                </a:solidFill>
                <a:latin typeface="Calibri"/>
              </a:rPr>
              <a:t>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C63FF"/>
                </a:solidFill>
                <a:latin typeface="Calibri"/>
              </a:rPr>
              <a:t>FOR THE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155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Calibri"/>
              </a:rPr>
              <a:t>FOR THE 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910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910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Zero-Effort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836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Adolescents receive protection without any active engagement or self-reporting — removing the biggest barrier to mental health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815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1912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👨‍👩‍👧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912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Empowered Guardians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838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Parents and carers receive timely, actionable alerts enabling earlier conversations and professional referrals before crises escalate.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817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7914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914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Privacy-First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0840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Explicit consent architecture ensures users retain full control over their data, building trust that existing monitoring tools lack.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813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5910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5910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Novel RAG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8836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First application of FAISS-backed RAG retrieval to passive browser telemetry for adolescent mental health — a new Digital Phenotyping paradigm.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0815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1912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1912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Clinical Safety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4838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Explicit ≥90% High-Risk Recall target aligned with clinical triage standards — bridging AI detection and clinical safety benchmarks.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681728"/>
            <a:ext cx="5486400" cy="1554480"/>
          </a:xfrm>
          <a:prstGeom prst="rect">
            <a:avLst/>
          </a:prstGeom>
          <a:solidFill>
            <a:srgbClr val="1A1A3A"/>
          </a:solidFill>
          <a:ln w="50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47914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7914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Explainability 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08406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User-driven recommendation for an XAI Insights Panel transforms the dashboard from an alerting tool to an educational clinical instrument.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What Was </a:t>
            </a:r>
            <a:r>
              <a:rPr sz="2200" b="1">
                <a:solidFill>
                  <a:srgbClr val="34D399"/>
                </a:solidFill>
                <a:latin typeface="Calibri"/>
              </a:rPr>
              <a:t>Accomplished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80467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98448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Developed a fully functional browser extension that passively detects depressive language with 88.1% overall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29968"/>
            <a:ext cx="11247120" cy="80467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21284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57984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Implemented a novel RAG-driven LLM pipeline (FAISS + Gemini), achieving a clinically critical High-Risk Recall of 94.1% — surpassing the ≥90% safety target.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9504"/>
            <a:ext cx="11247120" cy="80467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072384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Built a complete guardian escalation framework with a real-time dashboard, consent management, and automated alert notifications.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11247120" cy="80467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77056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Validated usability with 24 participants achieving a SUS score of 69.1 (Above Average) — confirming accessibility for non-technical users.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08576"/>
            <a:ext cx="11247120" cy="804672"/>
          </a:xfrm>
          <a:prstGeom prst="rect">
            <a:avLst/>
          </a:prstGeom>
          <a:solidFill>
            <a:srgbClr val="1A1A3A"/>
          </a:solidFill>
          <a:ln w="508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79145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36592"/>
            <a:ext cx="10515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Identified key future work: an Explainable AI (XAI) Insights Panel to surface linguistic triggers — driven directly by user feedback.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21808"/>
            <a:ext cx="11247120" cy="457200"/>
          </a:xfrm>
          <a:prstGeom prst="rect">
            <a:avLst/>
          </a:prstGeom>
          <a:solidFill>
            <a:srgbClr val="0D251A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🎯 MindGuard successfully addresses the critical gap in passive adolescent mental health monitoring — bridging AI detection and real-world guardian intervention.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Works </a:t>
            </a:r>
            <a:r>
              <a:rPr sz="2200" b="1">
                <a:solidFill>
                  <a:srgbClr val="6C63FF"/>
                </a:solidFill>
                <a:latin typeface="Calibri"/>
              </a:rPr>
              <a:t>Cited</a:t>
            </a:r>
            <a:r>
              <a:rPr sz="2200" b="1">
                <a:solidFill>
                  <a:srgbClr val="FFFFFF"/>
                </a:solidFill>
                <a:latin typeface="Calibri"/>
              </a:rPr>
              <a:t> in This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97864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Q. Guo et al. (2024). Detection of suicidal ideation in social media text using BERT-based classification. Journal of Biomedical Informatics.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19656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Ilapaka, A., &amp; Ghosh, S. (2025). RAG-enhanced conversational agents for mental health support using FAISS vector retrieval. Applied Intelligence.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96312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5117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Zhang, Y. et al. (2023). SouLLMate: An LLM-based emotional support system for mental health applications. arXiv.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72968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Fitzpatrick, K. K. et al. (2022). Delivering cognitive behaviour therapy to young adults via a conversational agent, Woebot. JMIR Mental Health.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9624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9044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Hollis, C. et al. (2021). Annual research review: Digital health interventions for children and young people with mental health problems. J. Child Psychology &amp; Psychiatry, 62(4).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81144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Torous, J. et al. (2021). The growing field of digital psychiatry: apps, social media, chatbots, and virtual reality. World Psychiatry, 20(3), 318–335.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02936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O'Reilly, M. et al. (2023). Examining the risk and protective associations of social media use and adolescent mental health. npj Mental Health Research.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79592"/>
            <a:ext cx="63500" cy="6583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93445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Thabrew, H. et al. (2022). Digital health interventions for adolescent mental health. Child and Adolescent Mental Health, 27(2), 98–109.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480"/>
            <a:ext cx="1371600" cy="2560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ACKNOWLEDGEMENT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747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With Sincere </a:t>
            </a:r>
            <a:r>
              <a:rPr sz="2200" b="1">
                <a:solidFill>
                  <a:srgbClr val="6C63FF"/>
                </a:solidFill>
                <a:latin typeface="Calibri"/>
              </a:rPr>
              <a:t>Gratitude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Almighty God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wisdom, strength, and the grace to complete this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88720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👨‍🏫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9385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My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677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patient guidance, technical mentorship, and invaluable feedback throughout this research journey.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9385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Head of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2677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providing the academic structure and resources that enabled this project.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64992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47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Faculty of Sciences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4398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the academic foundation and institutional support across four years of study.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364992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3547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1148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Colleagues &amp; Friends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44398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the collaboration, encouragement, and moral support throughout the academic year.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364992"/>
            <a:ext cx="3566160" cy="2011680"/>
          </a:xfrm>
          <a:prstGeom prst="rect">
            <a:avLst/>
          </a:prstGeom>
          <a:solidFill>
            <a:srgbClr val="1A1A3A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3547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❤️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1148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44398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For unwavering support, belief, and sacrifice that made this academic journey possible.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0" y="1371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457200"/>
            <a:ext cx="4572000" cy="4572000"/>
          </a:xfrm>
          <a:prstGeom prst="rect">
            <a:avLst/>
          </a:prstGeom>
          <a:solidFill>
            <a:srgbClr val="10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0" y="1097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🧠🛡️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Calibri"/>
              </a:rPr>
              <a:t>for your time and attention.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3493008"/>
            <a:ext cx="1371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This research was conducted in partial fulfilment of the requirements
for the award of BSc Computer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2556" y="4315968"/>
            <a:ext cx="2743200" cy="347472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62556" y="43525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Adelekan Igbagboyemi 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80076" y="4315968"/>
            <a:ext cx="2743200" cy="347472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80076" y="43525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BSc Computer Science ·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7596" y="4315968"/>
            <a:ext cx="2743200" cy="347472"/>
          </a:xfrm>
          <a:prstGeom prst="rect">
            <a:avLst/>
          </a:prstGeom>
          <a:solidFill>
            <a:srgbClr val="1A1445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7596" y="43525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🛡️ MindGuard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1873</Words>
  <Application>Microsoft Office PowerPoint</Application>
  <PresentationFormat>Custom</PresentationFormat>
  <Paragraphs>260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AdeNike</dc:creator>
  <cp:keywords/>
  <dc:description>generated using python-pptx</dc:description>
  <cp:lastModifiedBy>AdeNike</cp:lastModifiedBy>
  <cp:revision>3</cp:revision>
  <dcterms:created xsi:type="dcterms:W3CDTF">2013-01-27T09:14:16Z</dcterms:created>
  <dcterms:modified xsi:type="dcterms:W3CDTF">2026-06-09T08:55:02Z</dcterms:modified>
  <cp:category/>
</cp:coreProperties>
</file>